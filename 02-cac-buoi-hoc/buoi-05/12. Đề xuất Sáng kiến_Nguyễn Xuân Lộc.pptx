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20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EBEEF8"/>
          </a:solidFill>
          <a:ln w="12700">
            <a:solidFill>
              <a:srgbClr val="EB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EAF8EE"/>
          </a:solidFill>
          <a:ln w="12700">
            <a:solidFill>
              <a:srgbClr val="EAF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1280160" cy="13075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4736592"/>
            <a:ext cx="548640" cy="54864"/>
          </a:xfrm>
          <a:prstGeom prst="rect">
            <a:avLst/>
          </a:prstGeom>
          <a:solidFill>
            <a:srgbClr val="2CB04A"/>
          </a:solidFill>
          <a:ln w="12700">
            <a:solidFill>
              <a:srgbClr val="2C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ĐỘNG HÓA CÔNG TÁC THỐNG KÊ,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VÀ QUẢN LÝ HOẠT ĐỘNG KHCN-ĐMST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qua Hệ thống Báo cáo Số trên nền tảng Power BI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9194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Công nghệ - Chuyển đổi số (CN-CĐS) | PVEP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109728"/>
            <a:ext cx="685800" cy="704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128" y="25603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&amp; GIẢI PHÁP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57200" y="8412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trạng hiện tại và giải pháp tự động hóa đề xuất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457200" y="1353312"/>
            <a:ext cx="5394960" cy="5212080"/>
          </a:xfrm>
          <a:prstGeom prst="roundRect">
            <a:avLst>
              <a:gd name="adj" fmla="val 1404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85800" y="15361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TRẠNG HIỆN TẠI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85800" y="2048256"/>
            <a:ext cx="292608" cy="292608"/>
          </a:xfrm>
          <a:prstGeom prst="ellipse">
            <a:avLst/>
          </a:prstGeom>
          <a:solidFill>
            <a:srgbClr val="2D3A89"/>
          </a:solidFill>
          <a:ln w="12700">
            <a:solidFill>
              <a:srgbClr val="2D3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8580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phân tán, thiếu tập trung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231343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SK/GPHI, ý tưởng, đề tài KHCN, Chương trình hành động KHCN-ĐMST-CĐS, khen thưởng…… lưu rải rác trên file Excel, Word— không có CSDL tập trung.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3099816"/>
            <a:ext cx="292608" cy="292608"/>
          </a:xfrm>
          <a:prstGeom prst="ellipse">
            <a:avLst/>
          </a:prstGeom>
          <a:solidFill>
            <a:srgbClr val="2D3A89"/>
          </a:solidFill>
          <a:ln w="12700">
            <a:solidFill>
              <a:srgbClr val="2D3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8580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97280" y="3063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thủ công, tiềm ẩn sai sót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97280" y="336499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định kỳ mất nhiều ngày; không theo dõi tự động tiến độ triển khai.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4151376"/>
            <a:ext cx="292608" cy="292608"/>
          </a:xfrm>
          <a:prstGeom prst="ellipse">
            <a:avLst/>
          </a:prstGeom>
          <a:solidFill>
            <a:srgbClr val="2D3A89"/>
          </a:solidFill>
          <a:ln w="12700">
            <a:solidFill>
              <a:srgbClr val="2D3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8580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97280" y="4114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tĩnh, không đa chiều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097280" y="441655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báo cáo Lãnh đạo, BCĐ, các hội đồng (HĐKHCN, HĐSK, HĐNT) không cập nhật thời gian thực; thiếu phân tích tổng thể, đa chiều.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85800" y="5202936"/>
            <a:ext cx="292608" cy="292608"/>
          </a:xfrm>
          <a:prstGeom prst="ellipse">
            <a:avLst/>
          </a:prstGeom>
          <a:solidFill>
            <a:srgbClr val="2D3A89"/>
          </a:solidFill>
          <a:ln w="12700">
            <a:solidFill>
              <a:srgbClr val="2D3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5800" y="5202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97280" y="51663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cảnh báo sớm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097280" y="546811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phát hiện được tồn đọng, hồ sơ chậm xử lý hoặc đề tài sắp đến hạn/chậm hạn nghiệm thu.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09360" y="1353312"/>
            <a:ext cx="5422392" cy="5212080"/>
          </a:xfrm>
          <a:prstGeom prst="rect">
            <a:avLst/>
          </a:prstGeom>
          <a:solidFill>
            <a:srgbClr val="2D3A89"/>
          </a:solidFill>
          <a:ln w="12700">
            <a:solidFill>
              <a:srgbClr val="2D3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537960" y="15361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ĐỀ XUẤT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537960" y="2048256"/>
            <a:ext cx="292608" cy="292608"/>
          </a:xfrm>
          <a:prstGeom prst="ellipse">
            <a:avLst/>
          </a:prstGeom>
          <a:solidFill>
            <a:srgbClr val="2CB04A"/>
          </a:solidFill>
          <a:ln w="12700">
            <a:solidFill>
              <a:srgbClr val="2C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53796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94944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tập trung trên SharePoint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949440" y="231343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&amp; số hóa toàn bộ dữ liệu KHCN (</a:t>
            </a:r>
            <a:r>
              <a:rPr lang="vi-VN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SK/GPHI, ý tưởng, đề tài KHCN, Chương trình hành động KHCN-ĐMST-CĐS, khen thưởng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theo mô hình thống nhất.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537960" y="3099816"/>
            <a:ext cx="292608" cy="292608"/>
          </a:xfrm>
          <a:prstGeom prst="ellipse">
            <a:avLst/>
          </a:prstGeom>
          <a:solidFill>
            <a:srgbClr val="2CB04A"/>
          </a:solidFill>
          <a:ln w="12700">
            <a:solidFill>
              <a:srgbClr val="2C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53796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949440" y="3063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tự động hóa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6949440" y="336499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SharePoint → Power BI; Scheduled Refresh hàng ngày — không cần thao tác thủ công.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537960" y="4151376"/>
            <a:ext cx="292608" cy="292608"/>
          </a:xfrm>
          <a:prstGeom prst="ellipse">
            <a:avLst/>
          </a:prstGeom>
          <a:solidFill>
            <a:srgbClr val="2CB04A"/>
          </a:solidFill>
          <a:ln w="12700">
            <a:solidFill>
              <a:srgbClr val="2C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653796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949440" y="4114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đa chiều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6949440" y="441655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động, bảng được lọc linh hoạt theo đơn vị, lĩnh vực, năm, cấp công nhận….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6537960" y="5202936"/>
            <a:ext cx="292608" cy="292608"/>
          </a:xfrm>
          <a:prstGeom prst="ellipse">
            <a:avLst/>
          </a:prstGeom>
          <a:solidFill>
            <a:srgbClr val="2CB04A"/>
          </a:solidFill>
          <a:ln w="12700">
            <a:solidFill>
              <a:srgbClr val="2C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537960" y="5202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6949440" y="51663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&amp; Kiến nghị tự động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6949440" y="546811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phát hiện hồ sơ tồn đọng, nhiệm vụ chậm tiến độ, các phát sinh….. cảnh báo theo ngày báo cáo.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109728"/>
            <a:ext cx="685800" cy="704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128" y="25603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DIỆN HỆ THỐNG DASHBOARD KHCN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57200" y="8412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Tiến độ Kế hoạch KHCN &amp; Chuyển đổi số PVEP · Năm 2026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365760" y="1353312"/>
            <a:ext cx="5669280" cy="2487168"/>
          </a:xfrm>
          <a:prstGeom prst="roundRect">
            <a:avLst>
              <a:gd name="adj" fmla="val 2941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1472184"/>
            <a:ext cx="5486400" cy="2057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35295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— KPI + S-curve + Cơ cấu tình trạng đầu việc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6400800" y="1353312"/>
            <a:ext cx="5669280" cy="2487168"/>
          </a:xfrm>
          <a:prstGeom prst="roundRect">
            <a:avLst>
              <a:gd name="adj" fmla="val 2941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92240" y="1444752"/>
            <a:ext cx="5486400" cy="2057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92240" y="352958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theo 9 nhóm nhiệm vụ (NV1–NV9)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365760" y="3749040"/>
            <a:ext cx="5669280" cy="2487168"/>
          </a:xfrm>
          <a:prstGeom prst="roundRect">
            <a:avLst>
              <a:gd name="adj" fmla="val 2941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840480"/>
            <a:ext cx="5486400" cy="20574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59253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theo dõi chi tiết — RAG status từng đầu việc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6400800" y="3749040"/>
            <a:ext cx="5669280" cy="2487168"/>
          </a:xfrm>
          <a:prstGeom prst="roundRect">
            <a:avLst>
              <a:gd name="adj" fmla="val 2941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92240" y="3840480"/>
            <a:ext cx="5486400" cy="2057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92240" y="59253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&amp; Kiến nghị giám sát tự động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109728"/>
            <a:ext cx="685800" cy="704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128" y="25603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QUẢ &amp; KẾT QUẢ DỰ KIẾN ĐẠT ĐƯỢC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57200" y="8412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kỹ thuật, kinh tế và xã hội từ việc áp dụng sáng kiến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12064" y="1353312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481328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3504" y="19019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70–80%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603504" y="2395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thời gian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báo cáo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3364992" y="1353312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1481328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56432" y="19019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3456432" y="2395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quản lý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thời gian thực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217920" y="1353312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81328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09360" y="19019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 ngày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6309360" y="2395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cập nhật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Scheduled Refresh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9070848" y="1353312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3728" y="1481328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62288" y="19019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3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đồng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9162288" y="2395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phần mềm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(dùng M365)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48056" y="315468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585216" y="33192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KỸ THUẬT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585216" y="3721608"/>
            <a:ext cx="3337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ngắn thời gian lập báo cáo quản trị từ 3–5 ngày xuống còn 1 ngày.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sai sót số liệu nhờ CSDL tập trung và kiểm soát tự động.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độ triển khai NV KHCN, Chương trình hành động, xét duyệt SK/GPHI… qua từng khâu.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Phát hiện và cảnh báo tự động </a:t>
            </a:r>
            <a:r>
              <a:rPr lang="vi-VN" sz="14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hồ sơ tồn đọng, nhiệm vụ chậm tiến độ, các phát sinh….. cảnh báo theo ngày báo cáo.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4288536" y="315468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AF8EE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4425696" y="33192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KINH TẾ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4425696" y="3721608"/>
            <a:ext cx="3337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chi phí nhân công gián tiếp cho tổng hợp báo cáo định kỳ.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phát sinh chi phí phần mềm — tận dụng Microsoft 365 sẵn có.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rủi ro báo cáo trễ hạn và sai sót số liệu.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8129016" y="315468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8266176" y="33192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XÃ HỘI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8266176" y="3721608"/>
            <a:ext cx="3337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hóa hoạt động KHCN -ĐMST; nâng cao văn hóa ĐMST tại PVEP.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định hướng chuyển đổi số của Tập đoàn, PVEP.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474720" cy="3474720"/>
          </a:xfrm>
          <a:prstGeom prst="ellipse">
            <a:avLst/>
          </a:prstGeom>
          <a:solidFill>
            <a:srgbClr val="EBEEF8"/>
          </a:solidFill>
          <a:ln w="12700">
            <a:solidFill>
              <a:srgbClr val="EB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EAF8EE"/>
          </a:solidFill>
          <a:ln w="12700">
            <a:solidFill>
              <a:srgbClr val="EAF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"/>
            <a:ext cx="1280160" cy="1307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702552" y="2926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3 mảng dữ liệu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822960" y="6309360"/>
            <a:ext cx="548640" cy="54864"/>
          </a:xfrm>
          <a:prstGeom prst="rect">
            <a:avLst/>
          </a:prstGeom>
          <a:solidFill>
            <a:srgbClr val="2CB04A"/>
          </a:solidFill>
          <a:ln w="12700">
            <a:solidFill>
              <a:srgbClr val="2C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8229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Công nghệ - Chuyển đổi số (CN-CĐS) | PVEP</a:t>
            </a:r>
            <a:endParaRPr lang="en-US" sz="15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26AC2B22-C4A9-9C39-9914-D52460D93FFC}"/>
              </a:ext>
            </a:extLst>
          </p:cNvPr>
          <p:cNvSpPr/>
          <p:nvPr/>
        </p:nvSpPr>
        <p:spPr>
          <a:xfrm>
            <a:off x="2438400" y="29829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2D3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Trân trọng cảm ơn!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678</Words>
  <Application>Microsoft Office PowerPoint</Application>
  <PresentationFormat>Widescreen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Xuan Loc</cp:lastModifiedBy>
  <cp:revision>4</cp:revision>
  <dcterms:created xsi:type="dcterms:W3CDTF">2026-06-18T08:32:39Z</dcterms:created>
  <dcterms:modified xsi:type="dcterms:W3CDTF">2026-06-18T09:10:44Z</dcterms:modified>
</cp:coreProperties>
</file>