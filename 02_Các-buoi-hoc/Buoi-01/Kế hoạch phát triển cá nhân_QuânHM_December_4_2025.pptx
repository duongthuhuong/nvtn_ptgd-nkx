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64" r:id="rId5"/>
    <p:sldId id="265" r:id="rId6"/>
    <p:sldId id="262" r:id="rId7"/>
    <p:sldId id="263" r:id="rId8"/>
    <p:sldId id="266" r:id="rId9"/>
  </p:sldIdLst>
  <p:sldSz cx="14630400" cy="8229600"/>
  <p:notesSz cx="8229600" cy="14630400"/>
  <p:embeddedFontLst>
    <p:embeddedFont>
      <p:font typeface="Inter" panose="02000503000000020004" pitchFamily="2" charset="0"/>
      <p:regular r:id="rId11"/>
      <p:bold r:id="rId12"/>
      <p:italic r:id="rId13"/>
      <p:boldItalic r:id="rId14"/>
    </p:embeddedFont>
    <p:embeddedFont>
      <p:font typeface="Inter Bold"/>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638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E260-D411-D770-8276-E33B6AC2A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EEB56-EDA9-C93C-5AEB-FB02A54CD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94A42-D29E-0D4D-57FE-64CBBC2F0B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139BF7-FDEF-3091-CCBC-4D49DED1F7F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515212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ECA0B25-310B-0D9C-1B74-2769DDAE7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37"/>
            <a:ext cx="14630400" cy="8240874"/>
          </a:xfrm>
          <a:prstGeom prst="rect">
            <a:avLst/>
          </a:prstGeom>
        </p:spPr>
      </p:pic>
      <p:sp>
        <p:nvSpPr>
          <p:cNvPr id="3" name="Text 0"/>
          <p:cNvSpPr/>
          <p:nvPr/>
        </p:nvSpPr>
        <p:spPr>
          <a:xfrm>
            <a:off x="2227776" y="1490530"/>
            <a:ext cx="8913466" cy="708779"/>
          </a:xfrm>
          <a:prstGeom prst="rect">
            <a:avLst/>
          </a:prstGeom>
          <a:noFill/>
          <a:ln/>
        </p:spPr>
        <p:txBody>
          <a:bodyPr wrap="none" lIns="0" tIns="0" rIns="0" bIns="0" rtlCol="0" anchor="t"/>
          <a:lstStyle/>
          <a:p>
            <a:pPr marL="0" indent="0" algn="l">
              <a:lnSpc>
                <a:spcPts val="5550"/>
              </a:lnSpc>
              <a:buNone/>
            </a:pPr>
            <a:r>
              <a:rPr lang="vi-VN" sz="4450" b="1" dirty="0">
                <a:solidFill>
                  <a:schemeClr val="bg1"/>
                </a:solidFill>
                <a:latin typeface="Inter Bold" pitchFamily="34" charset="0"/>
                <a:ea typeface="Inter Bold"/>
                <a:cs typeface="Times New Roman" panose="02020603050405020304" pitchFamily="18" charset="0"/>
              </a:rPr>
              <a:t>Bản kế hoạch phát triển cá nhân</a:t>
            </a:r>
            <a:endParaRPr lang="en-US" sz="4450" dirty="0">
              <a:solidFill>
                <a:schemeClr val="bg1"/>
              </a:solidFill>
              <a:ea typeface="Inter Bold"/>
            </a:endParaRPr>
          </a:p>
        </p:txBody>
      </p:sp>
      <p:sp>
        <p:nvSpPr>
          <p:cNvPr id="4" name="Text 1"/>
          <p:cNvSpPr/>
          <p:nvPr/>
        </p:nvSpPr>
        <p:spPr>
          <a:xfrm>
            <a:off x="2227776" y="2539469"/>
            <a:ext cx="7556421" cy="2414367"/>
          </a:xfrm>
          <a:prstGeom prst="rect">
            <a:avLst/>
          </a:prstGeom>
          <a:noFill/>
          <a:ln/>
        </p:spPr>
        <p:txBody>
          <a:bodyPr wrap="none" lIns="0" tIns="0" rIns="0" bIns="0" rtlCol="0" anchor="t"/>
          <a:lstStyle/>
          <a:p>
            <a:pPr marL="0" indent="0" algn="l">
              <a:buNone/>
            </a:pPr>
            <a:r>
              <a:rPr lang="en-US" sz="2000" b="1" dirty="0">
                <a:solidFill>
                  <a:schemeClr val="bg1"/>
                </a:solidFill>
                <a:latin typeface="Inter" pitchFamily="34" charset="0"/>
                <a:ea typeface="Inter" pitchFamily="34" charset="-122"/>
                <a:cs typeface="Times New Roman" panose="02020603050405020304" pitchFamily="18" charset="0"/>
              </a:rPr>
              <a:t>Họ và Tên:</a:t>
            </a:r>
            <a:r>
              <a:rPr lang="en-US" sz="2000" dirty="0">
                <a:solidFill>
                  <a:schemeClr val="bg1"/>
                </a:solidFill>
                <a:latin typeface="Inter" pitchFamily="34" charset="0"/>
                <a:ea typeface="Inter" pitchFamily="34" charset="-122"/>
                <a:cs typeface="Times New Roman" panose="02020603050405020304" pitchFamily="18" charset="0"/>
              </a:rPr>
              <a:t> Hoàng Minh Quân</a:t>
            </a:r>
            <a:endParaRPr lang="vi-VN" sz="2000" dirty="0">
              <a:solidFill>
                <a:schemeClr val="bg1"/>
              </a:solidFill>
              <a:latin typeface="Inter" pitchFamily="34" charset="0"/>
              <a:ea typeface="Inter" pitchFamily="34" charset="-122"/>
              <a:cs typeface="Times New Roman" panose="02020603050405020304" pitchFamily="18" charset="0"/>
            </a:endParaRPr>
          </a:p>
          <a:p>
            <a:pPr marL="0" indent="0" algn="l">
              <a:buNone/>
            </a:pPr>
            <a:endParaRPr lang="vi-VN" sz="2000" dirty="0">
              <a:solidFill>
                <a:schemeClr val="bg1"/>
              </a:solidFill>
              <a:latin typeface="Inter" pitchFamily="34" charset="0"/>
              <a:ea typeface="Inter" pitchFamily="34" charset="-122"/>
              <a:cs typeface="Times New Roman" panose="02020603050405020304" pitchFamily="18" charset="0"/>
            </a:endParaRPr>
          </a:p>
          <a:p>
            <a:r>
              <a:rPr lang="en-US" sz="2000" b="1" dirty="0" err="1">
                <a:solidFill>
                  <a:schemeClr val="bg1"/>
                </a:solidFill>
                <a:latin typeface="Inter" pitchFamily="34" charset="0"/>
                <a:ea typeface="Inter" pitchFamily="34" charset="-122"/>
                <a:cs typeface="Times New Roman" panose="02020603050405020304" pitchFamily="18" charset="0"/>
              </a:rPr>
              <a:t>Đơn</a:t>
            </a:r>
            <a:r>
              <a:rPr lang="en-US" sz="2000" b="1" dirty="0">
                <a:solidFill>
                  <a:schemeClr val="bg1"/>
                </a:solidFill>
                <a:latin typeface="Inter" pitchFamily="34" charset="0"/>
                <a:ea typeface="Inter" pitchFamily="34" charset="-122"/>
                <a:cs typeface="Times New Roman" panose="02020603050405020304" pitchFamily="18" charset="0"/>
              </a:rPr>
              <a:t> </a:t>
            </a:r>
            <a:r>
              <a:rPr lang="en-US" sz="2000" b="1" dirty="0" err="1">
                <a:solidFill>
                  <a:schemeClr val="bg1"/>
                </a:solidFill>
                <a:latin typeface="Inter" pitchFamily="34" charset="0"/>
                <a:ea typeface="Inter" pitchFamily="34" charset="-122"/>
                <a:cs typeface="Times New Roman" panose="02020603050405020304" pitchFamily="18" charset="0"/>
              </a:rPr>
              <a:t>vị</a:t>
            </a:r>
            <a:r>
              <a:rPr lang="en-US" sz="2000" b="1" dirty="0">
                <a:solidFill>
                  <a:schemeClr val="bg1"/>
                </a:solidFill>
                <a:latin typeface="Inter" pitchFamily="34" charset="0"/>
                <a:ea typeface="Inter" pitchFamily="34" charset="-122"/>
                <a:cs typeface="Times New Roman" panose="02020603050405020304" pitchFamily="18" charset="0"/>
              </a:rPr>
              <a:t>:</a:t>
            </a:r>
            <a:r>
              <a:rPr lang="en-US" sz="2000" dirty="0">
                <a:solidFill>
                  <a:schemeClr val="bg1"/>
                </a:solidFill>
                <a:latin typeface="Inter" pitchFamily="34" charset="0"/>
                <a:ea typeface="Inter" pitchFamily="34" charset="-122"/>
                <a:cs typeface="Times New Roman" panose="02020603050405020304" pitchFamily="18" charset="0"/>
              </a:rPr>
              <a:t> Trung Tâm </a:t>
            </a:r>
            <a:r>
              <a:rPr lang="en-US" sz="2000" dirty="0" err="1">
                <a:solidFill>
                  <a:schemeClr val="bg1"/>
                </a:solidFill>
                <a:latin typeface="Inter" pitchFamily="34" charset="0"/>
                <a:ea typeface="Inter" pitchFamily="34" charset="-122"/>
                <a:cs typeface="Times New Roman" panose="02020603050405020304" pitchFamily="18" charset="0"/>
              </a:rPr>
              <a:t>Kỹ</a:t>
            </a:r>
            <a:r>
              <a:rPr lang="en-US" sz="2000" dirty="0">
                <a:solidFill>
                  <a:schemeClr val="bg1"/>
                </a:solidFill>
                <a:latin typeface="Inter" pitchFamily="34" charset="0"/>
                <a:ea typeface="Inter" pitchFamily="34" charset="-122"/>
                <a:cs typeface="Times New Roman" panose="02020603050405020304" pitchFamily="18" charset="0"/>
              </a:rPr>
              <a:t> </a:t>
            </a:r>
            <a:r>
              <a:rPr lang="en-US" sz="2000" dirty="0" err="1">
                <a:solidFill>
                  <a:schemeClr val="bg1"/>
                </a:solidFill>
                <a:latin typeface="Inter" pitchFamily="34" charset="0"/>
                <a:ea typeface="Inter" pitchFamily="34" charset="-122"/>
                <a:cs typeface="Times New Roman" panose="02020603050405020304" pitchFamily="18" charset="0"/>
              </a:rPr>
              <a:t>Thuật</a:t>
            </a:r>
            <a:endParaRPr lang="vi-VN" sz="2000" dirty="0">
              <a:solidFill>
                <a:schemeClr val="bg1"/>
              </a:solidFill>
              <a:latin typeface="Inter" pitchFamily="34" charset="0"/>
              <a:ea typeface="Inter" pitchFamily="34" charset="-122"/>
              <a:cs typeface="Times New Roman" panose="02020603050405020304" pitchFamily="18" charset="0"/>
            </a:endParaRPr>
          </a:p>
          <a:p>
            <a:endParaRPr lang="vi-VN" sz="2000" dirty="0">
              <a:solidFill>
                <a:schemeClr val="bg1"/>
              </a:solidFill>
              <a:latin typeface="Inter" pitchFamily="34" charset="0"/>
              <a:ea typeface="Inter" pitchFamily="34" charset="-122"/>
              <a:cs typeface="Times New Roman" panose="02020603050405020304" pitchFamily="18" charset="0"/>
            </a:endParaRPr>
          </a:p>
          <a:p>
            <a:r>
              <a:rPr lang="en-US" sz="2000" b="1" dirty="0" err="1">
                <a:solidFill>
                  <a:schemeClr val="bg1"/>
                </a:solidFill>
                <a:latin typeface="Inter" pitchFamily="34" charset="0"/>
                <a:ea typeface="Inter" pitchFamily="34" charset="-122"/>
                <a:cs typeface="Times New Roman" panose="02020603050405020304" pitchFamily="18" charset="0"/>
              </a:rPr>
              <a:t>Chức</a:t>
            </a:r>
            <a:r>
              <a:rPr lang="en-US" sz="2000" b="1" dirty="0">
                <a:solidFill>
                  <a:schemeClr val="bg1"/>
                </a:solidFill>
                <a:latin typeface="Inter" pitchFamily="34" charset="0"/>
                <a:ea typeface="Inter" pitchFamily="34" charset="-122"/>
                <a:cs typeface="Times New Roman" panose="02020603050405020304" pitchFamily="18" charset="0"/>
              </a:rPr>
              <a:t> </a:t>
            </a:r>
            <a:r>
              <a:rPr lang="en-US" sz="2000" b="1" dirty="0" err="1">
                <a:solidFill>
                  <a:schemeClr val="bg1"/>
                </a:solidFill>
                <a:latin typeface="Inter" pitchFamily="34" charset="0"/>
                <a:ea typeface="Inter" pitchFamily="34" charset="-122"/>
                <a:cs typeface="Times New Roman" panose="02020603050405020304" pitchFamily="18" charset="0"/>
              </a:rPr>
              <a:t>danh</a:t>
            </a:r>
            <a:r>
              <a:rPr lang="en-US" sz="2000" b="1" dirty="0">
                <a:solidFill>
                  <a:schemeClr val="bg1"/>
                </a:solidFill>
                <a:latin typeface="Inter" pitchFamily="34" charset="0"/>
                <a:ea typeface="Inter" pitchFamily="34" charset="-122"/>
                <a:cs typeface="Times New Roman" panose="02020603050405020304" pitchFamily="18" charset="0"/>
              </a:rPr>
              <a:t>:</a:t>
            </a:r>
            <a:r>
              <a:rPr lang="en-US" sz="2000" dirty="0">
                <a:solidFill>
                  <a:schemeClr val="bg1"/>
                </a:solidFill>
                <a:latin typeface="Inter" pitchFamily="34" charset="0"/>
                <a:ea typeface="Inter" pitchFamily="34" charset="-122"/>
                <a:cs typeface="Times New Roman" panose="02020603050405020304" pitchFamily="18" charset="0"/>
              </a:rPr>
              <a:t> </a:t>
            </a:r>
            <a:r>
              <a:rPr lang="en-US" sz="2000" dirty="0" err="1">
                <a:solidFill>
                  <a:schemeClr val="bg1"/>
                </a:solidFill>
                <a:latin typeface="Inter" pitchFamily="34" charset="0"/>
                <a:ea typeface="Inter" pitchFamily="34" charset="-122"/>
                <a:cs typeface="Times New Roman" panose="02020603050405020304" pitchFamily="18" charset="0"/>
              </a:rPr>
              <a:t>Kỹ</a:t>
            </a:r>
            <a:r>
              <a:rPr lang="en-US" sz="2000" dirty="0">
                <a:solidFill>
                  <a:schemeClr val="bg1"/>
                </a:solidFill>
                <a:latin typeface="Inter" pitchFamily="34" charset="0"/>
                <a:ea typeface="Inter" pitchFamily="34" charset="-122"/>
                <a:cs typeface="Times New Roman" panose="02020603050405020304" pitchFamily="18" charset="0"/>
              </a:rPr>
              <a:t> </a:t>
            </a:r>
            <a:r>
              <a:rPr lang="en-US" sz="2000" dirty="0" err="1">
                <a:solidFill>
                  <a:schemeClr val="bg1"/>
                </a:solidFill>
                <a:latin typeface="Inter" pitchFamily="34" charset="0"/>
                <a:ea typeface="Inter" pitchFamily="34" charset="-122"/>
                <a:cs typeface="Times New Roman" panose="02020603050405020304" pitchFamily="18" charset="0"/>
              </a:rPr>
              <a:t>sư</a:t>
            </a:r>
            <a:r>
              <a:rPr lang="en-US" sz="2000" dirty="0">
                <a:solidFill>
                  <a:schemeClr val="bg1"/>
                </a:solidFill>
                <a:latin typeface="Inter" pitchFamily="34" charset="0"/>
                <a:ea typeface="Inter" pitchFamily="34" charset="-122"/>
                <a:cs typeface="Times New Roman" panose="02020603050405020304" pitchFamily="18" charset="0"/>
              </a:rPr>
              <a:t> </a:t>
            </a:r>
            <a:r>
              <a:rPr lang="en-US" sz="2000" dirty="0" err="1">
                <a:solidFill>
                  <a:schemeClr val="bg1"/>
                </a:solidFill>
                <a:latin typeface="Inter" pitchFamily="34" charset="0"/>
                <a:ea typeface="Inter" pitchFamily="34" charset="-122"/>
                <a:cs typeface="Times New Roman" panose="02020603050405020304" pitchFamily="18" charset="0"/>
              </a:rPr>
              <a:t>Địa</a:t>
            </a:r>
            <a:r>
              <a:rPr lang="en-US" sz="2000" dirty="0">
                <a:solidFill>
                  <a:schemeClr val="bg1"/>
                </a:solidFill>
                <a:latin typeface="Inter" pitchFamily="34" charset="0"/>
                <a:ea typeface="Inter" pitchFamily="34" charset="-122"/>
                <a:cs typeface="Times New Roman" panose="02020603050405020304" pitchFamily="18" charset="0"/>
              </a:rPr>
              <a:t> </a:t>
            </a:r>
            <a:r>
              <a:rPr lang="en-US" sz="2000" dirty="0" err="1">
                <a:solidFill>
                  <a:schemeClr val="bg1"/>
                </a:solidFill>
                <a:latin typeface="Inter" pitchFamily="34" charset="0"/>
                <a:ea typeface="Inter" pitchFamily="34" charset="-122"/>
                <a:cs typeface="Times New Roman" panose="02020603050405020304" pitchFamily="18" charset="0"/>
              </a:rPr>
              <a:t>Vật</a:t>
            </a:r>
            <a:r>
              <a:rPr lang="en-US" sz="2000" dirty="0">
                <a:solidFill>
                  <a:schemeClr val="bg1"/>
                </a:solidFill>
                <a:latin typeface="Inter" pitchFamily="34" charset="0"/>
                <a:ea typeface="Inter" pitchFamily="34" charset="-122"/>
                <a:cs typeface="Times New Roman" panose="02020603050405020304" pitchFamily="18" charset="0"/>
              </a:rPr>
              <a:t> </a:t>
            </a:r>
            <a:r>
              <a:rPr lang="en-US" sz="2000" dirty="0" err="1">
                <a:solidFill>
                  <a:schemeClr val="bg1"/>
                </a:solidFill>
                <a:latin typeface="Inter" pitchFamily="34" charset="0"/>
                <a:ea typeface="Inter" pitchFamily="34" charset="-122"/>
                <a:cs typeface="Times New Roman" panose="02020603050405020304" pitchFamily="18" charset="0"/>
              </a:rPr>
              <a:t>lý</a:t>
            </a:r>
            <a:endParaRPr lang="vi-VN" sz="2000" dirty="0">
              <a:solidFill>
                <a:schemeClr val="bg1"/>
              </a:solidFill>
              <a:latin typeface="Inter" pitchFamily="34" charset="0"/>
              <a:ea typeface="Inter" pitchFamily="34" charset="-122"/>
              <a:cs typeface="Times New Roman" panose="02020603050405020304" pitchFamily="18" charset="0"/>
            </a:endParaRPr>
          </a:p>
          <a:p>
            <a:endParaRPr lang="vi-VN" sz="2000" dirty="0">
              <a:solidFill>
                <a:schemeClr val="bg1"/>
              </a:solidFill>
              <a:latin typeface="Inter" pitchFamily="34" charset="0"/>
              <a:ea typeface="Inter" pitchFamily="34" charset="-122"/>
              <a:cs typeface="Times New Roman" panose="02020603050405020304" pitchFamily="18" charset="0"/>
            </a:endParaRPr>
          </a:p>
          <a:p>
            <a:r>
              <a:rPr lang="en-US" sz="2000" b="1" dirty="0" err="1">
                <a:solidFill>
                  <a:schemeClr val="bg1"/>
                </a:solidFill>
                <a:latin typeface="Inter" pitchFamily="34" charset="0"/>
                <a:ea typeface="Inter" pitchFamily="34" charset="-122"/>
                <a:cs typeface="Times New Roman" panose="02020603050405020304" pitchFamily="18" charset="0"/>
              </a:rPr>
              <a:t>Bậc</a:t>
            </a:r>
            <a:r>
              <a:rPr lang="en-US" sz="2000" b="1" dirty="0">
                <a:solidFill>
                  <a:schemeClr val="bg1"/>
                </a:solidFill>
                <a:latin typeface="Inter" pitchFamily="34" charset="0"/>
                <a:ea typeface="Inter" pitchFamily="34" charset="-122"/>
                <a:cs typeface="Times New Roman" panose="02020603050405020304" pitchFamily="18" charset="0"/>
              </a:rPr>
              <a:t> </a:t>
            </a:r>
            <a:r>
              <a:rPr lang="en-US" sz="2000" b="1" dirty="0" err="1">
                <a:solidFill>
                  <a:schemeClr val="bg1"/>
                </a:solidFill>
                <a:latin typeface="Inter" pitchFamily="34" charset="0"/>
                <a:ea typeface="Inter" pitchFamily="34" charset="-122"/>
                <a:cs typeface="Times New Roman" panose="02020603050405020304" pitchFamily="18" charset="0"/>
              </a:rPr>
              <a:t>chức</a:t>
            </a:r>
            <a:r>
              <a:rPr lang="en-US" sz="2000" b="1" dirty="0">
                <a:solidFill>
                  <a:schemeClr val="bg1"/>
                </a:solidFill>
                <a:latin typeface="Inter" pitchFamily="34" charset="0"/>
                <a:ea typeface="Inter" pitchFamily="34" charset="-122"/>
                <a:cs typeface="Times New Roman" panose="02020603050405020304" pitchFamily="18" charset="0"/>
              </a:rPr>
              <a:t> </a:t>
            </a:r>
            <a:r>
              <a:rPr lang="en-US" sz="2000" b="1" dirty="0" err="1">
                <a:solidFill>
                  <a:schemeClr val="bg1"/>
                </a:solidFill>
                <a:latin typeface="Inter" pitchFamily="34" charset="0"/>
                <a:ea typeface="Inter" pitchFamily="34" charset="-122"/>
                <a:cs typeface="Times New Roman" panose="02020603050405020304" pitchFamily="18" charset="0"/>
              </a:rPr>
              <a:t>danh</a:t>
            </a:r>
            <a:r>
              <a:rPr lang="en-US" sz="2000" b="1" dirty="0">
                <a:solidFill>
                  <a:schemeClr val="bg1"/>
                </a:solidFill>
                <a:latin typeface="Inter" pitchFamily="34" charset="0"/>
                <a:ea typeface="Inter" pitchFamily="34" charset="-122"/>
                <a:cs typeface="Times New Roman" panose="02020603050405020304" pitchFamily="18" charset="0"/>
              </a:rPr>
              <a:t>:</a:t>
            </a:r>
            <a:r>
              <a:rPr lang="en-US" sz="2000" dirty="0">
                <a:solidFill>
                  <a:schemeClr val="bg1"/>
                </a:solidFill>
                <a:latin typeface="Inter" pitchFamily="34" charset="0"/>
                <a:ea typeface="Inter" pitchFamily="34" charset="-122"/>
                <a:cs typeface="Times New Roman" panose="02020603050405020304" pitchFamily="18" charset="0"/>
              </a:rPr>
              <a:t> </a:t>
            </a:r>
            <a:r>
              <a:rPr lang="en-US" sz="2000" dirty="0">
                <a:solidFill>
                  <a:schemeClr val="bg1"/>
                </a:solidFill>
                <a:latin typeface="Inter" panose="020B0604020202020204" charset="0"/>
                <a:ea typeface="Inter" panose="020B0604020202020204" charset="0"/>
                <a:cs typeface="Times New Roman" panose="02020603050405020304" pitchFamily="18" charset="0"/>
              </a:rPr>
              <a:t>10/20</a:t>
            </a:r>
            <a:endParaRPr lang="en-US" sz="2000" dirty="0">
              <a:solidFill>
                <a:schemeClr val="bg1"/>
              </a:solidFill>
              <a:latin typeface="Inter" panose="020B0604020202020204" charset="0"/>
              <a:ea typeface="Inter" panose="020B0604020202020204" charset="0"/>
            </a:endParaRPr>
          </a:p>
          <a:p>
            <a:endParaRPr lang="en-US" sz="2000" dirty="0">
              <a:solidFill>
                <a:schemeClr val="bg1"/>
              </a:solidFill>
            </a:endParaRPr>
          </a:p>
          <a:p>
            <a:endParaRPr lang="en-US" sz="2000" dirty="0">
              <a:solidFill>
                <a:schemeClr val="bg1"/>
              </a:solidFill>
            </a:endParaRPr>
          </a:p>
          <a:p>
            <a:pPr marL="0" indent="0" algn="l">
              <a:lnSpc>
                <a:spcPts val="2850"/>
              </a:lnSpc>
              <a:buNone/>
            </a:pPr>
            <a:endParaRPr lang="en-US" sz="2000" dirty="0">
              <a:solidFill>
                <a:schemeClr val="bg1"/>
              </a:solidFill>
            </a:endParaRPr>
          </a:p>
        </p:txBody>
      </p:sp>
      <p:pic>
        <p:nvPicPr>
          <p:cNvPr id="8" name="Picture 7" descr="A green and blue logo&#10;&#10;AI-generated content may be incorrect.">
            <a:extLst>
              <a:ext uri="{FF2B5EF4-FFF2-40B4-BE49-F238E27FC236}">
                <a16:creationId xmlns:a16="http://schemas.microsoft.com/office/drawing/2014/main" id="{5FC11218-0138-6E4B-B835-A4ECD214F1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200" y="107955"/>
            <a:ext cx="988853" cy="10119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3" name="AutoShape 1">
            <a:extLst>
              <a:ext uri="{FF2B5EF4-FFF2-40B4-BE49-F238E27FC236}">
                <a16:creationId xmlns:a16="http://schemas.microsoft.com/office/drawing/2014/main" id="{D24C5FF0-6B43-1368-5BB6-8330D02D9664}"/>
              </a:ext>
            </a:extLst>
          </p:cNvPr>
          <p:cNvSpPr>
            <a:spLocks/>
          </p:cNvSpPr>
          <p:nvPr/>
        </p:nvSpPr>
        <p:spPr bwMode="auto">
          <a:xfrm>
            <a:off x="1499533" y="174763"/>
            <a:ext cx="12943667" cy="945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endParaRPr kumimoji="0" lang="vi-VN" sz="2800" b="1" i="0" u="none" strike="noStrike" kern="1200" cap="all"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2" name="Text 0"/>
          <p:cNvSpPr/>
          <p:nvPr/>
        </p:nvSpPr>
        <p:spPr>
          <a:xfrm>
            <a:off x="3707559" y="292960"/>
            <a:ext cx="8527613" cy="708779"/>
          </a:xfrm>
          <a:prstGeom prst="rect">
            <a:avLst/>
          </a:prstGeom>
          <a:noFill/>
          <a:ln/>
        </p:spPr>
        <p:txBody>
          <a:bodyPr wrap="none" lIns="0" tIns="0" rIns="0" bIns="0" rtlCol="0" anchor="t"/>
          <a:lstStyle/>
          <a:p>
            <a:pPr marL="0" indent="0" algn="l">
              <a:lnSpc>
                <a:spcPts val="5550"/>
              </a:lnSpc>
              <a:buNone/>
            </a:pPr>
            <a:r>
              <a:rPr lang="en-US" sz="4450" b="1" dirty="0">
                <a:solidFill>
                  <a:schemeClr val="bg1"/>
                </a:solidFill>
                <a:latin typeface="Inter Bold" pitchFamily="34" charset="0"/>
                <a:ea typeface="Inter Bold" pitchFamily="34" charset="-122"/>
                <a:cs typeface="Inter Bold" pitchFamily="34" charset="-120"/>
              </a:rPr>
              <a:t>Xác định mục tiêu nghề nghiệp</a:t>
            </a:r>
            <a:endParaRPr lang="en-US" sz="4450" dirty="0">
              <a:solidFill>
                <a:schemeClr val="bg1"/>
              </a:solidFill>
            </a:endParaRPr>
          </a:p>
        </p:txBody>
      </p:sp>
      <p:sp>
        <p:nvSpPr>
          <p:cNvPr id="3" name="Shape 1"/>
          <p:cNvSpPr/>
          <p:nvPr/>
        </p:nvSpPr>
        <p:spPr>
          <a:xfrm>
            <a:off x="793790" y="2307431"/>
            <a:ext cx="6407944" cy="2456617"/>
          </a:xfrm>
          <a:prstGeom prst="roundRect">
            <a:avLst>
              <a:gd name="adj" fmla="val 5956"/>
            </a:avLst>
          </a:prstGeom>
          <a:solidFill>
            <a:srgbClr val="FFFFFF"/>
          </a:solidFill>
          <a:ln w="30480">
            <a:solidFill>
              <a:srgbClr val="BCDBC3"/>
            </a:solidFill>
            <a:prstDash val="solid"/>
          </a:ln>
        </p:spPr>
        <p:txBody>
          <a:bodyPr/>
          <a:lstStyle/>
          <a:p>
            <a:endParaRPr lang="en-US"/>
          </a:p>
        </p:txBody>
      </p:sp>
      <p:sp>
        <p:nvSpPr>
          <p:cNvPr id="4" name="Shape 2"/>
          <p:cNvSpPr/>
          <p:nvPr/>
        </p:nvSpPr>
        <p:spPr>
          <a:xfrm>
            <a:off x="763310" y="2307431"/>
            <a:ext cx="121920" cy="2456617"/>
          </a:xfrm>
          <a:prstGeom prst="roundRect">
            <a:avLst>
              <a:gd name="adj" fmla="val 78139"/>
            </a:avLst>
          </a:prstGeom>
          <a:solidFill>
            <a:srgbClr val="2BB04A"/>
          </a:solidFill>
          <a:ln/>
        </p:spPr>
        <p:txBody>
          <a:bodyPr/>
          <a:lstStyle/>
          <a:p>
            <a:endParaRPr lang="en-US"/>
          </a:p>
        </p:txBody>
      </p:sp>
      <p:sp>
        <p:nvSpPr>
          <p:cNvPr id="5" name="Text 3"/>
          <p:cNvSpPr/>
          <p:nvPr/>
        </p:nvSpPr>
        <p:spPr>
          <a:xfrm>
            <a:off x="1142524" y="2564725"/>
            <a:ext cx="2991088" cy="354330"/>
          </a:xfrm>
          <a:prstGeom prst="rect">
            <a:avLst/>
          </a:prstGeom>
          <a:noFill/>
          <a:ln/>
        </p:spPr>
        <p:txBody>
          <a:bodyPr wrap="none" lIns="0" tIns="0" rIns="0" bIns="0" rtlCol="0" anchor="t"/>
          <a:lstStyle/>
          <a:p>
            <a:pPr marL="0" indent="0" algn="l">
              <a:lnSpc>
                <a:spcPts val="2750"/>
              </a:lnSpc>
              <a:buNone/>
            </a:pPr>
            <a:r>
              <a:rPr lang="en-US" sz="2200" b="1" dirty="0">
                <a:solidFill>
                  <a:srgbClr val="020202"/>
                </a:solidFill>
                <a:latin typeface="Inter Bold" pitchFamily="34" charset="0"/>
                <a:ea typeface="Inter Bold" pitchFamily="34" charset="-122"/>
                <a:cs typeface="Inter Bold" pitchFamily="34" charset="-120"/>
              </a:rPr>
              <a:t>Mục tiêu nghề nghiệp</a:t>
            </a:r>
            <a:endParaRPr lang="en-US" sz="2200" dirty="0"/>
          </a:p>
        </p:txBody>
      </p:sp>
      <p:sp>
        <p:nvSpPr>
          <p:cNvPr id="6" name="Text 4"/>
          <p:cNvSpPr/>
          <p:nvPr/>
        </p:nvSpPr>
        <p:spPr>
          <a:xfrm>
            <a:off x="1142524" y="3055144"/>
            <a:ext cx="5801916" cy="1451610"/>
          </a:xfrm>
          <a:prstGeom prst="rect">
            <a:avLst/>
          </a:prstGeom>
          <a:noFill/>
          <a:ln/>
        </p:spPr>
        <p:txBody>
          <a:bodyPr wrap="square" lIns="0" tIns="0" rIns="0" bIns="0" rtlCol="0" anchor="t"/>
          <a:lstStyle/>
          <a:p>
            <a:pPr marL="0" indent="0" algn="l">
              <a:lnSpc>
                <a:spcPts val="2850"/>
              </a:lnSpc>
              <a:buNone/>
            </a:pPr>
            <a:r>
              <a:rPr lang="en-US" sz="1750" dirty="0">
                <a:solidFill>
                  <a:srgbClr val="020202"/>
                </a:solidFill>
                <a:latin typeface="Inter" pitchFamily="34" charset="0"/>
                <a:ea typeface="Inter" pitchFamily="34" charset="-122"/>
                <a:cs typeface="Inter" pitchFamily="34" charset="-120"/>
              </a:rPr>
              <a:t>Trở thành kỹ sư địa chấn </a:t>
            </a:r>
            <a:r>
              <a:rPr lang="en-US" sz="1750" dirty="0" err="1">
                <a:solidFill>
                  <a:srgbClr val="020202"/>
                </a:solidFill>
                <a:latin typeface="Inter" pitchFamily="34" charset="0"/>
                <a:ea typeface="Inter" pitchFamily="34" charset="-122"/>
                <a:cs typeface="Inter" pitchFamily="34" charset="-120"/>
              </a:rPr>
              <a:t>bậc</a:t>
            </a:r>
            <a:r>
              <a:rPr lang="en-US" sz="1750" dirty="0">
                <a:solidFill>
                  <a:srgbClr val="020202"/>
                </a:solidFill>
                <a:latin typeface="Inter" pitchFamily="34" charset="0"/>
                <a:ea typeface="Inter" pitchFamily="34" charset="-122"/>
                <a:cs typeface="Inter" pitchFamily="34" charset="-120"/>
              </a:rPr>
              <a:t> </a:t>
            </a:r>
            <a:r>
              <a:rPr lang="en-US" sz="1750" dirty="0" err="1">
                <a:solidFill>
                  <a:srgbClr val="020202"/>
                </a:solidFill>
                <a:latin typeface="Inter" pitchFamily="34" charset="0"/>
                <a:ea typeface="Inter" pitchFamily="34" charset="-122"/>
                <a:cs typeface="Inter" pitchFamily="34" charset="-120"/>
              </a:rPr>
              <a:t>cao</a:t>
            </a:r>
            <a:r>
              <a:rPr lang="vi-VN" sz="1750" dirty="0">
                <a:solidFill>
                  <a:srgbClr val="020202"/>
                </a:solidFill>
                <a:latin typeface="Inter" pitchFamily="34" charset="0"/>
                <a:ea typeface="Inter" pitchFamily="34" charset="-122"/>
                <a:cs typeface="Inter" pitchFamily="34" charset="-120"/>
              </a:rPr>
              <a:t> hơn từ 1 đến 2 bậc trong 1 đến 3 năm tới,</a:t>
            </a:r>
            <a:r>
              <a:rPr lang="en-US" sz="1750" dirty="0">
                <a:solidFill>
                  <a:srgbClr val="020202"/>
                </a:solidFill>
                <a:latin typeface="Inter" pitchFamily="34" charset="0"/>
                <a:ea typeface="Inter" pitchFamily="34" charset="-122"/>
                <a:cs typeface="Inter" pitchFamily="34" charset="-120"/>
              </a:rPr>
              <a:t> chuyên sâu trong các lĩnh vực nghiên cứu đá móng và minh giải đứt gãy trong đá </a:t>
            </a:r>
            <a:r>
              <a:rPr lang="en-US" dirty="0">
                <a:solidFill>
                  <a:srgbClr val="020202"/>
                </a:solidFill>
                <a:latin typeface="Inter" pitchFamily="34" charset="0"/>
                <a:ea typeface="Inter" pitchFamily="34" charset="-122"/>
                <a:cs typeface="Inter" pitchFamily="34" charset="-120"/>
              </a:rPr>
              <a:t>móng</a:t>
            </a:r>
            <a:r>
              <a:rPr lang="en-US" sz="1750" dirty="0">
                <a:solidFill>
                  <a:srgbClr val="020202"/>
                </a:solidFill>
                <a:latin typeface="Inter" pitchFamily="34" charset="0"/>
                <a:ea typeface="Inter" pitchFamily="34" charset="-122"/>
                <a:cs typeface="Inter" pitchFamily="34" charset="-120"/>
              </a:rPr>
              <a:t> nứt nẻ.</a:t>
            </a:r>
            <a:endParaRPr lang="en-US" sz="1750" dirty="0"/>
          </a:p>
        </p:txBody>
      </p:sp>
      <p:sp>
        <p:nvSpPr>
          <p:cNvPr id="7" name="Shape 5"/>
          <p:cNvSpPr/>
          <p:nvPr/>
        </p:nvSpPr>
        <p:spPr>
          <a:xfrm>
            <a:off x="7428548" y="2307431"/>
            <a:ext cx="6408063" cy="2456617"/>
          </a:xfrm>
          <a:prstGeom prst="roundRect">
            <a:avLst>
              <a:gd name="adj" fmla="val 5956"/>
            </a:avLst>
          </a:prstGeom>
          <a:solidFill>
            <a:srgbClr val="FFFFFF"/>
          </a:solidFill>
          <a:ln w="30480">
            <a:solidFill>
              <a:srgbClr val="BCDBC3"/>
            </a:solidFill>
            <a:prstDash val="solid"/>
          </a:ln>
        </p:spPr>
        <p:txBody>
          <a:bodyPr/>
          <a:lstStyle/>
          <a:p>
            <a:endParaRPr lang="en-US"/>
          </a:p>
        </p:txBody>
      </p:sp>
      <p:sp>
        <p:nvSpPr>
          <p:cNvPr id="8" name="Shape 6"/>
          <p:cNvSpPr/>
          <p:nvPr/>
        </p:nvSpPr>
        <p:spPr>
          <a:xfrm>
            <a:off x="7398067" y="2307431"/>
            <a:ext cx="121920" cy="2456617"/>
          </a:xfrm>
          <a:prstGeom prst="roundRect">
            <a:avLst>
              <a:gd name="adj" fmla="val 78139"/>
            </a:avLst>
          </a:prstGeom>
          <a:solidFill>
            <a:srgbClr val="2BB04A"/>
          </a:solidFill>
          <a:ln/>
        </p:spPr>
        <p:txBody>
          <a:bodyPr/>
          <a:lstStyle/>
          <a:p>
            <a:endParaRPr lang="en-US"/>
          </a:p>
        </p:txBody>
      </p:sp>
      <p:sp>
        <p:nvSpPr>
          <p:cNvPr id="9" name="Text 7"/>
          <p:cNvSpPr/>
          <p:nvPr/>
        </p:nvSpPr>
        <p:spPr>
          <a:xfrm>
            <a:off x="7777282" y="2564725"/>
            <a:ext cx="3667125" cy="354330"/>
          </a:xfrm>
          <a:prstGeom prst="rect">
            <a:avLst/>
          </a:prstGeom>
          <a:noFill/>
          <a:ln/>
        </p:spPr>
        <p:txBody>
          <a:bodyPr wrap="none" lIns="0" tIns="0" rIns="0" bIns="0" rtlCol="0" anchor="t"/>
          <a:lstStyle/>
          <a:p>
            <a:pPr marL="0" indent="0" algn="l">
              <a:lnSpc>
                <a:spcPts val="2750"/>
              </a:lnSpc>
              <a:buNone/>
            </a:pPr>
            <a:r>
              <a:rPr lang="en-US" sz="2200" b="1" dirty="0">
                <a:solidFill>
                  <a:srgbClr val="020202"/>
                </a:solidFill>
                <a:latin typeface="Inter Bold" pitchFamily="34" charset="0"/>
                <a:ea typeface="Inter Bold" pitchFamily="34" charset="-122"/>
                <a:cs typeface="Inter Bold" pitchFamily="34" charset="-120"/>
              </a:rPr>
              <a:t>Mục tiêu ngắn hạn 6 tháng</a:t>
            </a:r>
            <a:endParaRPr lang="en-US" sz="2200" dirty="0"/>
          </a:p>
        </p:txBody>
      </p:sp>
      <p:sp>
        <p:nvSpPr>
          <p:cNvPr id="10" name="Text 8"/>
          <p:cNvSpPr/>
          <p:nvPr/>
        </p:nvSpPr>
        <p:spPr>
          <a:xfrm>
            <a:off x="7777282" y="3055144"/>
            <a:ext cx="5802035" cy="1451610"/>
          </a:xfrm>
          <a:prstGeom prst="rect">
            <a:avLst/>
          </a:prstGeom>
          <a:noFill/>
          <a:ln/>
        </p:spPr>
        <p:txBody>
          <a:bodyPr wrap="square" lIns="0" tIns="0" rIns="0" bIns="0" rtlCol="0" anchor="t"/>
          <a:lstStyle/>
          <a:p>
            <a:pPr marL="0" indent="0" algn="l">
              <a:lnSpc>
                <a:spcPts val="2850"/>
              </a:lnSpc>
              <a:buNone/>
            </a:pPr>
            <a:r>
              <a:rPr lang="en-US" dirty="0">
                <a:solidFill>
                  <a:srgbClr val="020202"/>
                </a:solidFill>
                <a:latin typeface="Inter" pitchFamily="34" charset="0"/>
                <a:ea typeface="Inter" pitchFamily="34" charset="-122"/>
                <a:cs typeface="Inter" pitchFamily="34" charset="-120"/>
              </a:rPr>
              <a:t>Nắm vững quy trình đánh giá tài liệu địa chấn cho nghiên cứu móng; thành thạo các bước chạy thuộc tính phục vụ xác định mức độ nứt nẻ; </a:t>
            </a:r>
            <a:r>
              <a:rPr lang="vi-VN" dirty="0">
                <a:solidFill>
                  <a:srgbClr val="020202"/>
                </a:solidFill>
                <a:latin typeface="Inter" pitchFamily="34" charset="0"/>
                <a:ea typeface="Inter" pitchFamily="34" charset="-122"/>
                <a:cs typeface="Inter" pitchFamily="34" charset="-120"/>
              </a:rPr>
              <a:t>liên kết kết quả minh giải nứt nẻ với mô hình địa chất</a:t>
            </a:r>
            <a:r>
              <a:rPr lang="en-US" dirty="0">
                <a:solidFill>
                  <a:srgbClr val="020202"/>
                </a:solidFill>
                <a:latin typeface="Inter" pitchFamily="34" charset="0"/>
                <a:ea typeface="Inter" pitchFamily="34" charset="-122"/>
                <a:cs typeface="Inter" pitchFamily="34" charset="-120"/>
              </a:rPr>
              <a:t>.</a:t>
            </a:r>
            <a:endParaRPr lang="en-US" dirty="0"/>
          </a:p>
        </p:txBody>
      </p:sp>
      <p:sp>
        <p:nvSpPr>
          <p:cNvPr id="11" name="Shape 9"/>
          <p:cNvSpPr/>
          <p:nvPr/>
        </p:nvSpPr>
        <p:spPr>
          <a:xfrm>
            <a:off x="793790" y="4990862"/>
            <a:ext cx="6407944" cy="2093714"/>
          </a:xfrm>
          <a:prstGeom prst="roundRect">
            <a:avLst>
              <a:gd name="adj" fmla="val 6988"/>
            </a:avLst>
          </a:prstGeom>
          <a:solidFill>
            <a:srgbClr val="FFFFFF"/>
          </a:solidFill>
          <a:ln w="30480">
            <a:solidFill>
              <a:srgbClr val="BCDBC3"/>
            </a:solidFill>
            <a:prstDash val="solid"/>
          </a:ln>
        </p:spPr>
        <p:txBody>
          <a:bodyPr/>
          <a:lstStyle/>
          <a:p>
            <a:endParaRPr lang="en-US"/>
          </a:p>
        </p:txBody>
      </p:sp>
      <p:sp>
        <p:nvSpPr>
          <p:cNvPr id="12" name="Shape 10"/>
          <p:cNvSpPr/>
          <p:nvPr/>
        </p:nvSpPr>
        <p:spPr>
          <a:xfrm>
            <a:off x="763310" y="4990862"/>
            <a:ext cx="121920" cy="2093714"/>
          </a:xfrm>
          <a:prstGeom prst="roundRect">
            <a:avLst>
              <a:gd name="adj" fmla="val 78139"/>
            </a:avLst>
          </a:prstGeom>
          <a:solidFill>
            <a:srgbClr val="2BB04A"/>
          </a:solidFill>
          <a:ln/>
        </p:spPr>
        <p:txBody>
          <a:bodyPr/>
          <a:lstStyle/>
          <a:p>
            <a:endParaRPr lang="en-US"/>
          </a:p>
        </p:txBody>
      </p:sp>
      <p:sp>
        <p:nvSpPr>
          <p:cNvPr id="13" name="Text 11"/>
          <p:cNvSpPr/>
          <p:nvPr/>
        </p:nvSpPr>
        <p:spPr>
          <a:xfrm>
            <a:off x="1142524" y="524815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20202"/>
                </a:solidFill>
                <a:latin typeface="Inter Bold" pitchFamily="34" charset="0"/>
                <a:ea typeface="Inter Bold" pitchFamily="34" charset="-122"/>
                <a:cs typeface="Inter Bold" pitchFamily="34" charset="-120"/>
              </a:rPr>
              <a:t>Mục tiêu 1 năm</a:t>
            </a:r>
            <a:endParaRPr lang="en-US" sz="2200" dirty="0"/>
          </a:p>
        </p:txBody>
      </p:sp>
      <p:sp>
        <p:nvSpPr>
          <p:cNvPr id="14" name="Text 12"/>
          <p:cNvSpPr/>
          <p:nvPr/>
        </p:nvSpPr>
        <p:spPr>
          <a:xfrm>
            <a:off x="1142524" y="5738574"/>
            <a:ext cx="5801916" cy="1088708"/>
          </a:xfrm>
          <a:prstGeom prst="rect">
            <a:avLst/>
          </a:prstGeom>
          <a:noFill/>
          <a:ln/>
        </p:spPr>
        <p:txBody>
          <a:bodyPr wrap="square" lIns="0" tIns="0" rIns="0" bIns="0" rtlCol="0" anchor="t"/>
          <a:lstStyle/>
          <a:p>
            <a:pPr marL="0" indent="0" algn="l">
              <a:lnSpc>
                <a:spcPts val="2850"/>
              </a:lnSpc>
              <a:buNone/>
            </a:pPr>
            <a:r>
              <a:rPr lang="en-US" dirty="0">
                <a:solidFill>
                  <a:srgbClr val="020202"/>
                </a:solidFill>
                <a:latin typeface="Inter" pitchFamily="34" charset="0"/>
                <a:ea typeface="Inter" pitchFamily="34" charset="-122"/>
                <a:cs typeface="Inter" pitchFamily="34" charset="-120"/>
              </a:rPr>
              <a:t>Tự chủ kỹ thuật trong toàn bộ quy trình đánh giá – chạy thuộc tính – minh giải đứt gãy trong móng; đề xuất kết quả đạt yêu cầu kỹ thuật.</a:t>
            </a:r>
            <a:endParaRPr lang="en-US" dirty="0"/>
          </a:p>
        </p:txBody>
      </p:sp>
      <p:sp>
        <p:nvSpPr>
          <p:cNvPr id="15" name="Shape 13"/>
          <p:cNvSpPr/>
          <p:nvPr/>
        </p:nvSpPr>
        <p:spPr>
          <a:xfrm>
            <a:off x="7428548" y="4990862"/>
            <a:ext cx="6408063" cy="2093714"/>
          </a:xfrm>
          <a:prstGeom prst="roundRect">
            <a:avLst>
              <a:gd name="adj" fmla="val 6988"/>
            </a:avLst>
          </a:prstGeom>
          <a:solidFill>
            <a:srgbClr val="FFFFFF"/>
          </a:solidFill>
          <a:ln w="30480">
            <a:solidFill>
              <a:srgbClr val="BCDBC3"/>
            </a:solidFill>
            <a:prstDash val="solid"/>
          </a:ln>
        </p:spPr>
        <p:txBody>
          <a:bodyPr/>
          <a:lstStyle/>
          <a:p>
            <a:endParaRPr lang="en-US"/>
          </a:p>
        </p:txBody>
      </p:sp>
      <p:sp>
        <p:nvSpPr>
          <p:cNvPr id="16" name="Shape 14"/>
          <p:cNvSpPr/>
          <p:nvPr/>
        </p:nvSpPr>
        <p:spPr>
          <a:xfrm>
            <a:off x="7398067" y="4990862"/>
            <a:ext cx="121920" cy="2093714"/>
          </a:xfrm>
          <a:prstGeom prst="roundRect">
            <a:avLst>
              <a:gd name="adj" fmla="val 78139"/>
            </a:avLst>
          </a:prstGeom>
          <a:solidFill>
            <a:srgbClr val="2BB04A"/>
          </a:solidFill>
          <a:ln/>
        </p:spPr>
        <p:txBody>
          <a:bodyPr/>
          <a:lstStyle/>
          <a:p>
            <a:endParaRPr lang="en-US"/>
          </a:p>
        </p:txBody>
      </p:sp>
      <p:sp>
        <p:nvSpPr>
          <p:cNvPr id="17" name="Text 15"/>
          <p:cNvSpPr/>
          <p:nvPr/>
        </p:nvSpPr>
        <p:spPr>
          <a:xfrm>
            <a:off x="7777282" y="524815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20202"/>
                </a:solidFill>
                <a:latin typeface="Inter Bold" pitchFamily="34" charset="0"/>
                <a:ea typeface="Inter Bold" pitchFamily="34" charset="-122"/>
                <a:cs typeface="Inter Bold" pitchFamily="34" charset="-120"/>
              </a:rPr>
              <a:t>Mục tiêu 3 năm</a:t>
            </a:r>
            <a:endParaRPr lang="en-US" sz="2200" dirty="0"/>
          </a:p>
        </p:txBody>
      </p:sp>
      <p:sp>
        <p:nvSpPr>
          <p:cNvPr id="18" name="Text 16"/>
          <p:cNvSpPr/>
          <p:nvPr/>
        </p:nvSpPr>
        <p:spPr>
          <a:xfrm>
            <a:off x="7777282" y="5738574"/>
            <a:ext cx="5802035" cy="1088708"/>
          </a:xfrm>
          <a:prstGeom prst="rect">
            <a:avLst/>
          </a:prstGeom>
          <a:noFill/>
          <a:ln/>
        </p:spPr>
        <p:txBody>
          <a:bodyPr wrap="square" lIns="0" tIns="0" rIns="0" bIns="0" rtlCol="0" anchor="t"/>
          <a:lstStyle/>
          <a:p>
            <a:pPr marL="0" indent="0" algn="l">
              <a:lnSpc>
                <a:spcPts val="2850"/>
              </a:lnSpc>
              <a:buNone/>
            </a:pPr>
            <a:r>
              <a:rPr lang="en-US" dirty="0">
                <a:solidFill>
                  <a:srgbClr val="020202"/>
                </a:solidFill>
                <a:latin typeface="Inter" pitchFamily="34" charset="0"/>
                <a:ea typeface="Inter" pitchFamily="34" charset="-122"/>
                <a:cs typeface="Inter" pitchFamily="34" charset="-120"/>
              </a:rPr>
              <a:t>Ứng dụng AI/ML để tối ưu phân tích thuộc tính, tăng tính khách quan và độ tin cậy cho kết quả minh gải móng nứt nẻ.</a:t>
            </a:r>
            <a:endParaRPr lang="en-US" dirty="0"/>
          </a:p>
        </p:txBody>
      </p:sp>
      <p:pic>
        <p:nvPicPr>
          <p:cNvPr id="22" name="Picture 21" descr="A green and blue logo&#10;&#10;AI-generated content may be incorrect.">
            <a:extLst>
              <a:ext uri="{FF2B5EF4-FFF2-40B4-BE49-F238E27FC236}">
                <a16:creationId xmlns:a16="http://schemas.microsoft.com/office/drawing/2014/main" id="{3216B15F-25D1-46D1-975C-A2603127C9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200" y="107955"/>
            <a:ext cx="988853" cy="10119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9" name="AutoShape 1">
            <a:extLst>
              <a:ext uri="{FF2B5EF4-FFF2-40B4-BE49-F238E27FC236}">
                <a16:creationId xmlns:a16="http://schemas.microsoft.com/office/drawing/2014/main" id="{12284D8C-1DD3-E47B-E846-304180A79CBE}"/>
              </a:ext>
            </a:extLst>
          </p:cNvPr>
          <p:cNvSpPr>
            <a:spLocks/>
          </p:cNvSpPr>
          <p:nvPr/>
        </p:nvSpPr>
        <p:spPr bwMode="auto">
          <a:xfrm>
            <a:off x="1499533" y="174763"/>
            <a:ext cx="12943667" cy="945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endParaRPr kumimoji="0" lang="vi-VN" sz="2800" b="1" i="0" u="none" strike="noStrike" kern="1200" cap="all"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2" name="Text 0"/>
          <p:cNvSpPr/>
          <p:nvPr/>
        </p:nvSpPr>
        <p:spPr>
          <a:xfrm>
            <a:off x="1449241" y="251771"/>
            <a:ext cx="13044249" cy="724351"/>
          </a:xfrm>
          <a:prstGeom prst="rect">
            <a:avLst/>
          </a:prstGeom>
          <a:noFill/>
          <a:ln/>
        </p:spPr>
        <p:txBody>
          <a:bodyPr wrap="square" lIns="0" tIns="0" rIns="0" bIns="0" rtlCol="0" anchor="t"/>
          <a:lstStyle/>
          <a:p>
            <a:pPr marL="0" indent="0" algn="ctr">
              <a:lnSpc>
                <a:spcPts val="5550"/>
              </a:lnSpc>
              <a:buNone/>
            </a:pPr>
            <a:r>
              <a:rPr lang="en-US" sz="3600" b="1" dirty="0">
                <a:solidFill>
                  <a:schemeClr val="bg1"/>
                </a:solidFill>
                <a:latin typeface="Inter Bold" pitchFamily="34" charset="0"/>
                <a:ea typeface="Inter Bold" pitchFamily="34" charset="-122"/>
                <a:cs typeface="Inter Bold" pitchFamily="34" charset="-120"/>
              </a:rPr>
              <a:t>Vai </a:t>
            </a:r>
            <a:r>
              <a:rPr lang="en-US" sz="3600" b="1" dirty="0" err="1">
                <a:solidFill>
                  <a:schemeClr val="bg1"/>
                </a:solidFill>
                <a:latin typeface="Inter Bold" pitchFamily="34" charset="0"/>
                <a:ea typeface="Inter Bold" pitchFamily="34" charset="-122"/>
                <a:cs typeface="Inter Bold" pitchFamily="34" charset="-120"/>
              </a:rPr>
              <a:t>trò</a:t>
            </a:r>
            <a:r>
              <a:rPr lang="en-US" sz="3600" b="1" dirty="0">
                <a:solidFill>
                  <a:schemeClr val="bg1"/>
                </a:solidFill>
                <a:latin typeface="Inter Bold" pitchFamily="34" charset="0"/>
                <a:ea typeface="Inter Bold" pitchFamily="34" charset="-122"/>
                <a:cs typeface="Inter Bold" pitchFamily="34" charset="-120"/>
              </a:rPr>
              <a:t> </a:t>
            </a:r>
            <a:r>
              <a:rPr lang="en-US" sz="3600" b="1" dirty="0" err="1">
                <a:solidFill>
                  <a:schemeClr val="bg1"/>
                </a:solidFill>
                <a:latin typeface="Inter Bold" pitchFamily="34" charset="0"/>
                <a:ea typeface="Inter Bold" pitchFamily="34" charset="-122"/>
                <a:cs typeface="Inter Bold" pitchFamily="34" charset="-120"/>
              </a:rPr>
              <a:t>của</a:t>
            </a:r>
            <a:r>
              <a:rPr lang="en-US" sz="3600" b="1" dirty="0">
                <a:solidFill>
                  <a:schemeClr val="bg1"/>
                </a:solidFill>
                <a:latin typeface="Inter Bold" pitchFamily="34" charset="0"/>
                <a:ea typeface="Inter Bold" pitchFamily="34" charset="-122"/>
                <a:cs typeface="Inter Bold" pitchFamily="34" charset="-120"/>
              </a:rPr>
              <a:t> </a:t>
            </a:r>
            <a:r>
              <a:rPr lang="en-US" sz="3600" b="1" dirty="0" err="1">
                <a:solidFill>
                  <a:schemeClr val="bg1"/>
                </a:solidFill>
                <a:latin typeface="Inter Bold" pitchFamily="34" charset="0"/>
                <a:ea typeface="Inter Bold" pitchFamily="34" charset="-122"/>
                <a:cs typeface="Inter Bold" pitchFamily="34" charset="-120"/>
              </a:rPr>
              <a:t>vị</a:t>
            </a:r>
            <a:r>
              <a:rPr lang="en-US" sz="3600" b="1" dirty="0">
                <a:solidFill>
                  <a:schemeClr val="bg1"/>
                </a:solidFill>
                <a:latin typeface="Inter Bold" pitchFamily="34" charset="0"/>
                <a:ea typeface="Inter Bold" pitchFamily="34" charset="-122"/>
                <a:cs typeface="Inter Bold" pitchFamily="34" charset="-120"/>
              </a:rPr>
              <a:t> </a:t>
            </a:r>
            <a:r>
              <a:rPr lang="en-US" sz="3600" b="1" dirty="0" err="1">
                <a:solidFill>
                  <a:schemeClr val="bg1"/>
                </a:solidFill>
                <a:latin typeface="Inter Bold" pitchFamily="34" charset="0"/>
                <a:ea typeface="Inter Bold" pitchFamily="34" charset="-122"/>
                <a:cs typeface="Inter Bold" pitchFamily="34" charset="-120"/>
              </a:rPr>
              <a:t>trí</a:t>
            </a:r>
            <a:r>
              <a:rPr lang="en-US" sz="3600" b="1" dirty="0">
                <a:solidFill>
                  <a:schemeClr val="bg1"/>
                </a:solidFill>
                <a:latin typeface="Inter Bold" pitchFamily="34" charset="0"/>
                <a:ea typeface="Inter Bold" pitchFamily="34" charset="-122"/>
                <a:cs typeface="Inter Bold" pitchFamily="34" charset="-120"/>
              </a:rPr>
              <a:t> kỹ sư </a:t>
            </a:r>
            <a:r>
              <a:rPr lang="en-US" sz="3600" b="1" dirty="0" err="1">
                <a:solidFill>
                  <a:schemeClr val="bg1"/>
                </a:solidFill>
                <a:latin typeface="Inter Bold" pitchFamily="34" charset="0"/>
                <a:ea typeface="Inter Bold" pitchFamily="34" charset="-122"/>
                <a:cs typeface="Inter Bold" pitchFamily="34" charset="-120"/>
              </a:rPr>
              <a:t>địa</a:t>
            </a:r>
            <a:r>
              <a:rPr lang="en-US" sz="3600" b="1" dirty="0">
                <a:solidFill>
                  <a:schemeClr val="bg1"/>
                </a:solidFill>
                <a:latin typeface="Inter Bold" pitchFamily="34" charset="0"/>
                <a:ea typeface="Inter Bold" pitchFamily="34" charset="-122"/>
                <a:cs typeface="Inter Bold" pitchFamily="34" charset="-120"/>
              </a:rPr>
              <a:t> </a:t>
            </a:r>
            <a:r>
              <a:rPr lang="en-US" sz="3600" b="1" dirty="0" err="1">
                <a:solidFill>
                  <a:schemeClr val="bg1"/>
                </a:solidFill>
                <a:latin typeface="Inter Bold" pitchFamily="34" charset="0"/>
                <a:ea typeface="Inter Bold" pitchFamily="34" charset="-122"/>
                <a:cs typeface="Inter Bold" pitchFamily="34" charset="-120"/>
              </a:rPr>
              <a:t>chấn</a:t>
            </a:r>
            <a:r>
              <a:rPr lang="en-US" sz="3600" b="1" dirty="0">
                <a:solidFill>
                  <a:schemeClr val="bg1"/>
                </a:solidFill>
                <a:latin typeface="Inter Bold" pitchFamily="34" charset="0"/>
                <a:ea typeface="Inter Bold" pitchFamily="34" charset="-122"/>
                <a:cs typeface="Inter Bold" pitchFamily="34" charset="-120"/>
              </a:rPr>
              <a:t> móng nứt nẻ đối với PVEP</a:t>
            </a:r>
            <a:endParaRPr lang="en-US" sz="3600" dirty="0">
              <a:solidFill>
                <a:schemeClr val="bg1"/>
              </a:solidFill>
            </a:endParaRPr>
          </a:p>
        </p:txBody>
      </p:sp>
      <p:sp>
        <p:nvSpPr>
          <p:cNvPr id="3" name="Text 1"/>
          <p:cNvSpPr/>
          <p:nvPr/>
        </p:nvSpPr>
        <p:spPr>
          <a:xfrm>
            <a:off x="793075" y="1517763"/>
            <a:ext cx="13044249" cy="5580267"/>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dirty="0">
                <a:solidFill>
                  <a:srgbClr val="020202"/>
                </a:solidFill>
                <a:latin typeface="Inter" pitchFamily="34" charset="0"/>
                <a:ea typeface="Inter" pitchFamily="34" charset="-122"/>
                <a:cs typeface="Inter" pitchFamily="34" charset="-120"/>
              </a:rPr>
              <a:t>Trong bối cảnh hiện nay, khi nhiều mỏ dầu khí của PVEP đang bước vào giai đoạn cận biên và cuối đời mỏ, số lượng bẫy truyền thống ngày càng suy giảm. Điều này đặt ra nhiều thách thức trong việc gia tăng trữ lượng, nâng cao sản lượng và đảm bảo hiệu quả đầu </a:t>
            </a:r>
            <a:r>
              <a:rPr lang="en-US" dirty="0" err="1">
                <a:solidFill>
                  <a:srgbClr val="020202"/>
                </a:solidFill>
                <a:latin typeface="Inter" pitchFamily="34" charset="0"/>
                <a:ea typeface="Inter" pitchFamily="34" charset="-122"/>
                <a:cs typeface="Inter" pitchFamily="34" charset="-120"/>
              </a:rPr>
              <a:t>tư</a:t>
            </a:r>
            <a:r>
              <a:rPr lang="en-US" dirty="0">
                <a:solidFill>
                  <a:srgbClr val="020202"/>
                </a:solidFill>
                <a:latin typeface="Inter" pitchFamily="34" charset="0"/>
                <a:ea typeface="Inter" pitchFamily="34" charset="-122"/>
                <a:cs typeface="Inter" pitchFamily="34" charset="-120"/>
              </a:rPr>
              <a:t>.</a:t>
            </a:r>
            <a:endParaRPr lang="vi-VN" dirty="0">
              <a:solidFill>
                <a:srgbClr val="020202"/>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endParaRPr lang="vi-VN" dirty="0">
              <a:solidFill>
                <a:srgbClr val="020202"/>
              </a:solidFill>
              <a:latin typeface="Inter" pitchFamily="34" charset="0"/>
              <a:ea typeface="Inter" pitchFamily="34" charset="-122"/>
              <a:cs typeface="Inter" pitchFamily="34" charset="-120"/>
            </a:endParaRPr>
          </a:p>
          <a:p>
            <a:pPr marL="285750" indent="-285750">
              <a:lnSpc>
                <a:spcPts val="2850"/>
              </a:lnSpc>
              <a:buFont typeface="Arial" panose="020B0604020202020204" pitchFamily="34" charset="0"/>
              <a:buChar char="•"/>
            </a:pPr>
            <a:r>
              <a:rPr lang="en-US" dirty="0" err="1">
                <a:solidFill>
                  <a:srgbClr val="020202"/>
                </a:solidFill>
                <a:latin typeface="Inter" pitchFamily="34" charset="0"/>
                <a:ea typeface="Inter" pitchFamily="34" charset="-122"/>
                <a:cs typeface="Inter" pitchFamily="34" charset="-120"/>
              </a:rPr>
              <a:t>Với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vai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trò</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là</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kỹ</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sư</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địa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chấn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việc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tìm</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kiếm</a:t>
            </a:r>
            <a:r>
              <a:rPr lang="en-US" dirty="0">
                <a:solidFill>
                  <a:srgbClr val="020202"/>
                </a:solidFill>
                <a:latin typeface="Inter" pitchFamily="34" charset="0"/>
                <a:ea typeface="Inter" pitchFamily="34" charset="-122"/>
                <a:cs typeface="Inter" pitchFamily="34" charset="-120"/>
              </a:rPr>
              <a:t> – </a:t>
            </a:r>
            <a:r>
              <a:rPr lang="en-US" dirty="0" err="1">
                <a:solidFill>
                  <a:srgbClr val="020202"/>
                </a:solidFill>
                <a:latin typeface="Inter" pitchFamily="34" charset="0"/>
                <a:ea typeface="Inter" pitchFamily="34" charset="-122"/>
                <a:cs typeface="Inter" pitchFamily="34" charset="-120"/>
              </a:rPr>
              <a:t>phát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hiện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các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đối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tượng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tiềm</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năng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mới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và</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đề</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xuất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thêm</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các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vị</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trí</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khoan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có</a:t>
            </a:r>
            <a:r>
              <a:rPr lang="en-US" dirty="0">
                <a:solidFill>
                  <a:srgbClr val="020202"/>
                </a:solidFill>
                <a:latin typeface="Inter" pitchFamily="34" charset="0"/>
                <a:ea typeface="Inter" pitchFamily="34" charset="-122"/>
                <a:cs typeface="Inter" pitchFamily="34" charset="-120"/>
              </a:rPr>
              <a:t> ý </a:t>
            </a:r>
            <a:r>
              <a:rPr lang="en-US" dirty="0" err="1">
                <a:solidFill>
                  <a:srgbClr val="020202"/>
                </a:solidFill>
                <a:latin typeface="Inter" pitchFamily="34" charset="0"/>
                <a:ea typeface="Inter" pitchFamily="34" charset="-122"/>
                <a:cs typeface="Inter" pitchFamily="34" charset="-120"/>
              </a:rPr>
              <a:t>nghĩa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đặc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biệt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quan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trọng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góp</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phần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giúp</a:t>
            </a:r>
            <a:r>
              <a:rPr lang="en-US" dirty="0">
                <a:solidFill>
                  <a:srgbClr val="020202"/>
                </a:solidFill>
                <a:latin typeface="Inter" pitchFamily="34" charset="0"/>
                <a:ea typeface="Inter" pitchFamily="34" charset="-122"/>
                <a:cs typeface="Inter" pitchFamily="34" charset="-120"/>
              </a:rPr>
              <a:t> PVEP </a:t>
            </a:r>
            <a:r>
              <a:rPr lang="en-US" dirty="0" err="1">
                <a:solidFill>
                  <a:srgbClr val="020202"/>
                </a:solidFill>
                <a:latin typeface="Inter" pitchFamily="34" charset="0"/>
                <a:ea typeface="Inter" pitchFamily="34" charset="-122"/>
                <a:cs typeface="Inter" pitchFamily="34" charset="-120"/>
              </a:rPr>
              <a:t>hoàn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thành</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các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chỉ</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tiêu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chiến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lược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được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giao</a:t>
            </a:r>
            <a:r>
              <a:rPr lang="en-US" dirty="0">
                <a:solidFill>
                  <a:srgbClr val="020202"/>
                </a:solidFill>
                <a:latin typeface="Inter" pitchFamily="34" charset="0"/>
                <a:ea typeface="Inter" pitchFamily="34" charset="-122"/>
                <a:cs typeface="Inter" pitchFamily="34" charset="-120"/>
              </a:rPr>
              <a:t>.</a:t>
            </a:r>
            <a:endParaRPr lang="vi-VN" dirty="0">
              <a:solidFill>
                <a:srgbClr val="020202"/>
              </a:solidFill>
              <a:latin typeface="Inter" pitchFamily="34" charset="0"/>
              <a:ea typeface="Inter" pitchFamily="34" charset="-122"/>
              <a:cs typeface="Inter" pitchFamily="34" charset="-120"/>
            </a:endParaRPr>
          </a:p>
          <a:p>
            <a:pPr marL="285750" indent="-285750">
              <a:lnSpc>
                <a:spcPts val="2850"/>
              </a:lnSpc>
              <a:buFont typeface="Arial" panose="020B0604020202020204" pitchFamily="34" charset="0"/>
              <a:buChar char="•"/>
            </a:pPr>
            <a:endParaRPr lang="vi-VN" dirty="0">
              <a:solidFill>
                <a:srgbClr val="020202"/>
              </a:solidFill>
              <a:latin typeface="Inter" pitchFamily="34" charset="0"/>
              <a:ea typeface="Inter" pitchFamily="34" charset="-122"/>
              <a:cs typeface="Inter" pitchFamily="34" charset="-120"/>
            </a:endParaRPr>
          </a:p>
          <a:p>
            <a:pPr marL="285750" indent="-285750">
              <a:lnSpc>
                <a:spcPts val="2850"/>
              </a:lnSpc>
              <a:buFont typeface="Arial" panose="020B0604020202020204" pitchFamily="34" charset="0"/>
              <a:buChar char="•"/>
            </a:pPr>
            <a:r>
              <a:rPr lang="en-US" dirty="0" err="1">
                <a:solidFill>
                  <a:srgbClr val="020202"/>
                </a:solidFill>
                <a:latin typeface="Inter" pitchFamily="34" charset="0"/>
                <a:ea typeface="Inter" pitchFamily="34" charset="-122"/>
                <a:cs typeface="Inter" pitchFamily="34" charset="-120"/>
              </a:rPr>
              <a:t>Bên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cạnh</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các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bẫy</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địa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tầng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các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đối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tượng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móng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nứt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nẻ</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cũng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đang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được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đẩy</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mạnh</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nghiên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cứu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nhằm</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mở</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rộng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cơ</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hội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gia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tăng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trữ</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lượng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và</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sản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lượng</a:t>
            </a:r>
            <a:r>
              <a:rPr lang="en-US" dirty="0">
                <a:solidFill>
                  <a:srgbClr val="020202"/>
                </a:solidFill>
                <a:latin typeface="Inter" pitchFamily="34" charset="0"/>
                <a:ea typeface="Inter" pitchFamily="34" charset="-122"/>
                <a:cs typeface="Inter" pitchFamily="34" charset="-120"/>
              </a:rPr>
              <a:t>. Tuy </a:t>
            </a:r>
            <a:r>
              <a:rPr lang="en-US" dirty="0" err="1">
                <a:solidFill>
                  <a:srgbClr val="020202"/>
                </a:solidFill>
                <a:latin typeface="Inter" pitchFamily="34" charset="0"/>
                <a:ea typeface="Inter" pitchFamily="34" charset="-122"/>
                <a:cs typeface="Inter" pitchFamily="34" charset="-120"/>
              </a:rPr>
              <a:t>nhiên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nguồn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nhân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lực</a:t>
            </a:r>
            <a:r>
              <a:rPr lang="en-US" dirty="0">
                <a:solidFill>
                  <a:srgbClr val="020202"/>
                </a:solidFill>
                <a:latin typeface="Inter" pitchFamily="34" charset="0"/>
                <a:ea typeface="Inter" pitchFamily="34" charset="-122"/>
                <a:cs typeface="Inter" pitchFamily="34" charset="-120"/>
              </a:rPr>
              <a:t> am </a:t>
            </a:r>
            <a:r>
              <a:rPr lang="en-US" dirty="0" err="1">
                <a:solidFill>
                  <a:srgbClr val="020202"/>
                </a:solidFill>
                <a:latin typeface="Inter" pitchFamily="34" charset="0"/>
                <a:ea typeface="Inter" pitchFamily="34" charset="-122"/>
                <a:cs typeface="Inter" pitchFamily="34" charset="-120"/>
              </a:rPr>
              <a:t>hiểu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sâu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về</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đối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tượng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móng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hiện</a:t>
            </a:r>
            <a:r>
              <a:rPr lang="en-US" dirty="0">
                <a:solidFill>
                  <a:srgbClr val="020202"/>
                </a:solidFill>
                <a:latin typeface="Inter" pitchFamily="34" charset="0"/>
                <a:ea typeface="Inter" pitchFamily="34" charset="-122"/>
                <a:cs typeface="Inter" pitchFamily="34" charset="-120"/>
              </a:rPr>
              <a:t> nay </a:t>
            </a:r>
            <a:r>
              <a:rPr lang="en-US" dirty="0" err="1">
                <a:solidFill>
                  <a:srgbClr val="020202"/>
                </a:solidFill>
                <a:latin typeface="Inter" pitchFamily="34" charset="0"/>
                <a:ea typeface="Inter" pitchFamily="34" charset="-122"/>
                <a:cs typeface="Inter" pitchFamily="34" charset="-120"/>
              </a:rPr>
              <a:t>vẫn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phụ</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thuộc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vào</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các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chuyên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gia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kỳ</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cựu</a:t>
            </a:r>
            <a:r>
              <a:rPr lang="en-US" dirty="0">
                <a:solidFill>
                  <a:srgbClr val="020202"/>
                </a:solidFill>
                <a:latin typeface="Inter" pitchFamily="34" charset="0"/>
                <a:ea typeface="Inter" pitchFamily="34" charset="-122"/>
                <a:cs typeface="Inter" pitchFamily="34" charset="-120"/>
              </a:rPr>
              <a:t>.</a:t>
            </a:r>
            <a:endParaRPr lang="vi-VN" dirty="0">
              <a:solidFill>
                <a:srgbClr val="020202"/>
              </a:solidFill>
              <a:latin typeface="Inter" pitchFamily="34" charset="0"/>
              <a:ea typeface="Inter" pitchFamily="34" charset="-122"/>
              <a:cs typeface="Inter" pitchFamily="34" charset="-120"/>
            </a:endParaRPr>
          </a:p>
          <a:p>
            <a:pPr marL="285750" indent="-285750">
              <a:lnSpc>
                <a:spcPts val="2850"/>
              </a:lnSpc>
              <a:buFont typeface="Arial" panose="020B0604020202020204" pitchFamily="34" charset="0"/>
              <a:buChar char="•"/>
            </a:pPr>
            <a:endParaRPr lang="vi-VN" dirty="0">
              <a:solidFill>
                <a:srgbClr val="020202"/>
              </a:solidFill>
              <a:latin typeface="Inter" pitchFamily="34" charset="0"/>
              <a:ea typeface="Inter" pitchFamily="34" charset="-122"/>
              <a:cs typeface="Inter" pitchFamily="34" charset="-120"/>
            </a:endParaRPr>
          </a:p>
          <a:p>
            <a:pPr marL="285750" indent="-285750">
              <a:lnSpc>
                <a:spcPts val="2850"/>
              </a:lnSpc>
              <a:buFont typeface="Arial" panose="020B0604020202020204" pitchFamily="34" charset="0"/>
              <a:buChar char="•"/>
            </a:pPr>
            <a:r>
              <a:rPr lang="en-US" dirty="0">
                <a:solidFill>
                  <a:srgbClr val="020202"/>
                </a:solidFill>
                <a:latin typeface="Inter" pitchFamily="34" charset="0"/>
                <a:ea typeface="Inter" pitchFamily="34" charset="-122"/>
                <a:cs typeface="Inter" pitchFamily="34" charset="-120"/>
              </a:rPr>
              <a:t>Do </a:t>
            </a:r>
            <a:r>
              <a:rPr lang="en-US" dirty="0" err="1">
                <a:solidFill>
                  <a:srgbClr val="020202"/>
                </a:solidFill>
                <a:latin typeface="Inter" pitchFamily="34" charset="0"/>
                <a:ea typeface="Inter" pitchFamily="34" charset="-122"/>
                <a:cs typeface="Inter" pitchFamily="34" charset="-120"/>
              </a:rPr>
              <a:t>đó</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việc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phát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triển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chuyên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môn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chuyên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sâu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về</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địa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chấn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móng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nứt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nẻ</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là</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một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yêu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cầu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cấp</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thiết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Điều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này</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không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chỉ</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nhằm</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nâng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cao</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năng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lực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đánh</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giá</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và</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nghiên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cứu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các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đối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tượng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móng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trong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giai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đoạn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hiện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tại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mà</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còn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có</a:t>
            </a:r>
            <a:r>
              <a:rPr lang="en-US" dirty="0">
                <a:solidFill>
                  <a:srgbClr val="020202"/>
                </a:solidFill>
                <a:latin typeface="Inter" pitchFamily="34" charset="0"/>
                <a:ea typeface="Inter" pitchFamily="34" charset="-122"/>
                <a:cs typeface="Inter" pitchFamily="34" charset="-120"/>
              </a:rPr>
              <a:t> ý </a:t>
            </a:r>
            <a:r>
              <a:rPr lang="en-US" dirty="0" err="1">
                <a:solidFill>
                  <a:srgbClr val="020202"/>
                </a:solidFill>
                <a:latin typeface="Inter" pitchFamily="34" charset="0"/>
                <a:ea typeface="Inter" pitchFamily="34" charset="-122"/>
                <a:cs typeface="Inter" pitchFamily="34" charset="-120"/>
              </a:rPr>
              <a:t>nghĩa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chiến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lược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trong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việc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kế</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thừa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duy</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trì</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và</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phát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triển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năng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lực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kỹ</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thuật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nòng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cốt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của</a:t>
            </a:r>
            <a:r>
              <a:rPr lang="en-US" dirty="0">
                <a:solidFill>
                  <a:srgbClr val="020202"/>
                </a:solidFill>
                <a:latin typeface="Inter" pitchFamily="34" charset="0"/>
                <a:ea typeface="Inter" pitchFamily="34" charset="-122"/>
                <a:cs typeface="Inter" pitchFamily="34" charset="-120"/>
              </a:rPr>
              <a:t> PVEP, </a:t>
            </a:r>
            <a:r>
              <a:rPr lang="en-US" dirty="0" err="1">
                <a:solidFill>
                  <a:srgbClr val="020202"/>
                </a:solidFill>
                <a:latin typeface="Inter" pitchFamily="34" charset="0"/>
                <a:ea typeface="Inter" pitchFamily="34" charset="-122"/>
                <a:cs typeface="Inter" pitchFamily="34" charset="-120"/>
              </a:rPr>
              <a:t>đảm</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bảo</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tính</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bền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vững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và</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khả</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năng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cạnh</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tranh</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trong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tương</a:t>
            </a:r>
            <a:r>
              <a:rPr lang="en-US" dirty="0">
                <a:solidFill>
                  <a:srgbClr val="020202"/>
                </a:solidFill>
                <a:latin typeface="Inter" pitchFamily="34" charset="0"/>
                <a:ea typeface="Inter" pitchFamily="34" charset="-122"/>
                <a:cs typeface="Inter" pitchFamily="34" charset="-120"/>
              </a:rPr>
              <a:t> lai.</a:t>
            </a:r>
            <a:endParaRPr lang="en-US" dirty="0"/>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endParaRPr lang="en-US" dirty="0"/>
          </a:p>
          <a:p>
            <a:pPr marL="285750" indent="-285750" algn="l">
              <a:lnSpc>
                <a:spcPts val="2850"/>
              </a:lnSpc>
              <a:buFont typeface="Arial" panose="020B0604020202020204" pitchFamily="34" charset="0"/>
              <a:buChar char="•"/>
            </a:pPr>
            <a:endParaRPr lang="en-US" dirty="0"/>
          </a:p>
        </p:txBody>
      </p:sp>
      <p:pic>
        <p:nvPicPr>
          <p:cNvPr id="8" name="Picture 7" descr="A green and blue logo&#10;&#10;AI-generated content may be incorrect.">
            <a:extLst>
              <a:ext uri="{FF2B5EF4-FFF2-40B4-BE49-F238E27FC236}">
                <a16:creationId xmlns:a16="http://schemas.microsoft.com/office/drawing/2014/main" id="{457EC6F7-4AC0-AF39-DBBE-7C4B46E83E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200" y="107955"/>
            <a:ext cx="988853" cy="10119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1">
            <a:extLst>
              <a:ext uri="{FF2B5EF4-FFF2-40B4-BE49-F238E27FC236}">
                <a16:creationId xmlns:a16="http://schemas.microsoft.com/office/drawing/2014/main" id="{3B245B04-FEA6-CB4E-AC87-76F4D792DA33}"/>
              </a:ext>
            </a:extLst>
          </p:cNvPr>
          <p:cNvSpPr>
            <a:spLocks/>
          </p:cNvSpPr>
          <p:nvPr/>
        </p:nvSpPr>
        <p:spPr bwMode="auto">
          <a:xfrm>
            <a:off x="1499533" y="174763"/>
            <a:ext cx="12943667" cy="945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endParaRPr kumimoji="0" lang="vi-VN" sz="2800" b="1" i="0" u="none" strike="noStrike" kern="1200" cap="all"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graphicFrame>
        <p:nvGraphicFramePr>
          <p:cNvPr id="2" name="Table 1">
            <a:extLst>
              <a:ext uri="{FF2B5EF4-FFF2-40B4-BE49-F238E27FC236}">
                <a16:creationId xmlns:a16="http://schemas.microsoft.com/office/drawing/2014/main" id="{2F84CF1B-44B1-C69F-84F7-C60A5F67E109}"/>
              </a:ext>
            </a:extLst>
          </p:cNvPr>
          <p:cNvGraphicFramePr>
            <a:graphicFrameLocks noGrp="1"/>
          </p:cNvGraphicFramePr>
          <p:nvPr>
            <p:extLst>
              <p:ext uri="{D42A27DB-BD31-4B8C-83A1-F6EECF244321}">
                <p14:modId xmlns:p14="http://schemas.microsoft.com/office/powerpoint/2010/main" val="4123617497"/>
              </p:ext>
            </p:extLst>
          </p:nvPr>
        </p:nvGraphicFramePr>
        <p:xfrm>
          <a:off x="251999" y="1641200"/>
          <a:ext cx="14126401" cy="5783680"/>
        </p:xfrm>
        <a:graphic>
          <a:graphicData uri="http://schemas.openxmlformats.org/drawingml/2006/table">
            <a:tbl>
              <a:tblPr firstRow="1" bandRow="1">
                <a:tableStyleId>{93296810-A885-4BE3-A3E7-6D5BEEA58F35}</a:tableStyleId>
              </a:tblPr>
              <a:tblGrid>
                <a:gridCol w="702955">
                  <a:extLst>
                    <a:ext uri="{9D8B030D-6E8A-4147-A177-3AD203B41FA5}">
                      <a16:colId xmlns:a16="http://schemas.microsoft.com/office/drawing/2014/main" val="2336054718"/>
                    </a:ext>
                  </a:extLst>
                </a:gridCol>
                <a:gridCol w="4840522">
                  <a:extLst>
                    <a:ext uri="{9D8B030D-6E8A-4147-A177-3AD203B41FA5}">
                      <a16:colId xmlns:a16="http://schemas.microsoft.com/office/drawing/2014/main" val="4259025507"/>
                    </a:ext>
                  </a:extLst>
                </a:gridCol>
                <a:gridCol w="2400969">
                  <a:extLst>
                    <a:ext uri="{9D8B030D-6E8A-4147-A177-3AD203B41FA5}">
                      <a16:colId xmlns:a16="http://schemas.microsoft.com/office/drawing/2014/main" val="3216614601"/>
                    </a:ext>
                  </a:extLst>
                </a:gridCol>
                <a:gridCol w="6181955">
                  <a:extLst>
                    <a:ext uri="{9D8B030D-6E8A-4147-A177-3AD203B41FA5}">
                      <a16:colId xmlns:a16="http://schemas.microsoft.com/office/drawing/2014/main" val="2564833605"/>
                    </a:ext>
                  </a:extLst>
                </a:gridCol>
              </a:tblGrid>
              <a:tr h="370840">
                <a:tc>
                  <a:txBody>
                    <a:bodyPr/>
                    <a:lstStyle/>
                    <a:p>
                      <a:pPr marL="0" marR="0" algn="ctr" defTabSz="914400" rtl="0" eaLnBrk="1" latinLnBrk="0" hangingPunct="1">
                        <a:lnSpc>
                          <a:spcPct val="115000"/>
                        </a:lnSpc>
                        <a:spcAft>
                          <a:spcPts val="800"/>
                        </a:spcAft>
                        <a:buNone/>
                      </a:pPr>
                      <a:r>
                        <a:rPr lang="vi-VN" sz="1300" b="1" kern="100" dirty="0">
                          <a:solidFill>
                            <a:schemeClr val="lt1"/>
                          </a:solidFill>
                          <a:effectLst/>
                          <a:latin typeface="Inter" panose="020B0604020202020204" charset="0"/>
                          <a:ea typeface="Inter" panose="020B0604020202020204" charset="0"/>
                        </a:rPr>
                        <a:t>STT</a:t>
                      </a:r>
                      <a:endParaRPr lang="en-US" sz="1300" b="1" kern="100" dirty="0">
                        <a:solidFill>
                          <a:schemeClr val="lt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b="1" kern="100" dirty="0">
                          <a:effectLst/>
                          <a:latin typeface="Inter" panose="020B0604020202020204" charset="0"/>
                          <a:ea typeface="Inter" panose="020B0604020202020204" charset="0"/>
                        </a:rPr>
                        <a:t>Kỹ năng</a:t>
                      </a:r>
                      <a:endParaRPr lang="en-US" sz="1200" b="1"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b="1" kern="100" dirty="0">
                          <a:effectLst/>
                          <a:latin typeface="Inter" panose="020B0604020202020204" charset="0"/>
                          <a:ea typeface="Inter" panose="020B0604020202020204" charset="0"/>
                        </a:rPr>
                        <a:t>Tự đánh giá (thang điểm 10)</a:t>
                      </a:r>
                      <a:endParaRPr lang="en-US" sz="1200" b="1"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b="1" kern="100" dirty="0">
                          <a:effectLst/>
                          <a:latin typeface="Inter" panose="020B0604020202020204" charset="0"/>
                          <a:ea typeface="Inter" panose="020B0604020202020204" charset="0"/>
                        </a:rPr>
                        <a:t>Khoảng trống năng lực</a:t>
                      </a:r>
                      <a:endParaRPr lang="en-US" sz="1200" b="1"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0934190"/>
                  </a:ext>
                </a:extLst>
              </a:tr>
              <a:tr h="370840">
                <a:tc>
                  <a:txBody>
                    <a:bodyPr/>
                    <a:lstStyle/>
                    <a:p>
                      <a:pPr algn="ctr"/>
                      <a:r>
                        <a:rPr lang="vi-VN" sz="1300" kern="100" dirty="0">
                          <a:solidFill>
                            <a:schemeClr val="dk1"/>
                          </a:solidFill>
                          <a:effectLst/>
                          <a:latin typeface="Inter" panose="020B0604020202020204" charset="0"/>
                          <a:ea typeface="Inter" panose="020B0604020202020204" charset="0"/>
                        </a:rPr>
                        <a:t>1</a:t>
                      </a:r>
                      <a:endParaRPr lang="en-US" sz="13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QC tài liệu địa chấn</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kern="100" dirty="0">
                          <a:effectLst/>
                          <a:latin typeface="Inter" panose="020B0604020202020204" charset="0"/>
                          <a:ea typeface="Inter" panose="020B0604020202020204" charset="0"/>
                        </a:rPr>
                        <a:t>6/10</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vi-VN" sz="1300" kern="100" dirty="0">
                          <a:effectLst/>
                          <a:latin typeface="Inter" panose="020B0604020202020204" charset="0"/>
                          <a:ea typeface="Inter" panose="020B0604020202020204" charset="0"/>
                        </a:rPr>
                        <a:t>Nhận biết được nhiễu nhưng chưa có nhiều kinh nghiệm để đánh giá mức độ tối ưu của từng tập tài liệu, do đó còn hạn chế khi lựa chọn bộ dữ liệu phù hợp cho công việc phân tích.</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4616200"/>
                  </a:ext>
                </a:extLst>
              </a:tr>
              <a:tr h="370840">
                <a:tc>
                  <a:txBody>
                    <a:bodyPr/>
                    <a:lstStyle/>
                    <a:p>
                      <a:pPr algn="ctr"/>
                      <a:r>
                        <a:rPr lang="vi-VN" sz="1300" kern="100" dirty="0">
                          <a:solidFill>
                            <a:schemeClr val="dk1"/>
                          </a:solidFill>
                          <a:effectLst/>
                          <a:latin typeface="Inter" panose="020B0604020202020204" charset="0"/>
                          <a:ea typeface="Inter" panose="020B0604020202020204" charset="0"/>
                        </a:rPr>
                        <a:t>2</a:t>
                      </a:r>
                      <a:endParaRPr lang="en-US" sz="13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Hiệu chỉnh tài liệu địa chấn</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kern="100" dirty="0">
                          <a:effectLst/>
                          <a:latin typeface="Inter" panose="020B0604020202020204" charset="0"/>
                          <a:ea typeface="Inter" panose="020B0604020202020204" charset="0"/>
                        </a:rPr>
                        <a:t>6/10</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Thực hiện được một số bước hiệu chỉnh cơ bản. Tuy nhiên thiếu kinh nghiệm lựa chọn thông số tối ưu để làm đầu vào cho quá trình chạy thuộc tính địa chấn.</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1517424"/>
                  </a:ext>
                </a:extLst>
              </a:tr>
              <a:tr h="370840">
                <a:tc>
                  <a:txBody>
                    <a:bodyPr/>
                    <a:lstStyle/>
                    <a:p>
                      <a:pPr algn="ctr"/>
                      <a:r>
                        <a:rPr lang="vi-VN" sz="1300" kern="100" dirty="0">
                          <a:solidFill>
                            <a:schemeClr val="dk1"/>
                          </a:solidFill>
                          <a:effectLst/>
                          <a:latin typeface="Inter" panose="020B0604020202020204" charset="0"/>
                          <a:ea typeface="Inter" panose="020B0604020202020204" charset="0"/>
                        </a:rPr>
                        <a:t>3</a:t>
                      </a:r>
                      <a:endParaRPr lang="en-US" sz="13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Liên kết tài liệu giếng khoan với địa chấn</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kern="100" dirty="0">
                          <a:effectLst/>
                          <a:latin typeface="Inter" panose="020B0604020202020204" charset="0"/>
                          <a:ea typeface="Inter" panose="020B0604020202020204" charset="0"/>
                        </a:rPr>
                        <a:t>8/10</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Thực hiện liên kết khá thành thạo và có thể tự đưa ra kết quả. Cần cải thiện kỹ năng QC log đầu vào và tối ưu hóa kết quả liên kết để nâng cao độ chính xác.</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8988101"/>
                  </a:ext>
                </a:extLst>
              </a:tr>
              <a:tr h="475392">
                <a:tc>
                  <a:txBody>
                    <a:bodyPr/>
                    <a:lstStyle/>
                    <a:p>
                      <a:pPr algn="ctr"/>
                      <a:r>
                        <a:rPr lang="vi-VN" sz="1300" kern="100" dirty="0">
                          <a:solidFill>
                            <a:schemeClr val="dk1"/>
                          </a:solidFill>
                          <a:effectLst/>
                          <a:latin typeface="Inter" panose="020B0604020202020204" charset="0"/>
                          <a:ea typeface="Inter" panose="020B0604020202020204" charset="0"/>
                        </a:rPr>
                        <a:t>4</a:t>
                      </a:r>
                      <a:endParaRPr lang="en-US" sz="13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Chạy thuộc tính cho nứt nẻ trong móng</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kern="100" dirty="0">
                          <a:effectLst/>
                          <a:latin typeface="Inter" panose="020B0604020202020204" charset="0"/>
                          <a:ea typeface="Inter" panose="020B0604020202020204" charset="0"/>
                        </a:rPr>
                        <a:t>7/10</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Hiểu rõ các thuộc tính địa chấn và workflow cho đối tượng móng. Hạn chế chính là lựa chọn thông số tối ưu cho từng bộ địa chấn của các mỏ khác nhau.</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4206833"/>
                  </a:ext>
                </a:extLst>
              </a:tr>
              <a:tr h="522140">
                <a:tc>
                  <a:txBody>
                    <a:bodyPr/>
                    <a:lstStyle/>
                    <a:p>
                      <a:pPr algn="ctr"/>
                      <a:r>
                        <a:rPr lang="vi-VN" sz="1300" kern="100" dirty="0">
                          <a:solidFill>
                            <a:schemeClr val="dk1"/>
                          </a:solidFill>
                          <a:effectLst/>
                          <a:latin typeface="Inter" panose="020B0604020202020204" charset="0"/>
                          <a:ea typeface="Inter" panose="020B0604020202020204" charset="0"/>
                        </a:rPr>
                        <a:t>5</a:t>
                      </a:r>
                      <a:endParaRPr lang="en-US" sz="13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Minh giải đứt gãy trong móng</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kern="100" dirty="0">
                          <a:effectLst/>
                          <a:latin typeface="Inter" panose="020B0604020202020204" charset="0"/>
                          <a:ea typeface="Inter" panose="020B0604020202020204" charset="0"/>
                        </a:rPr>
                        <a:t>8/10</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Có khả năng minh giải dựa trên các thuộc tính và đã tham gia nhiều dự án. Cần tiếp tục cải thiện kỹ thuật để giảm sai sót, nâng cao khả năng tự QC và đánh giá tính hợp lý của kết quả.</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475200"/>
                  </a:ext>
                </a:extLst>
              </a:tr>
              <a:tr h="540100">
                <a:tc>
                  <a:txBody>
                    <a:bodyPr/>
                    <a:lstStyle/>
                    <a:p>
                      <a:pPr algn="ctr"/>
                      <a:r>
                        <a:rPr lang="vi-VN" sz="1300" kern="100" dirty="0">
                          <a:solidFill>
                            <a:schemeClr val="dk1"/>
                          </a:solidFill>
                          <a:effectLst/>
                          <a:latin typeface="Inter" panose="020B0604020202020204" charset="0"/>
                          <a:ea typeface="Inter" panose="020B0604020202020204" charset="0"/>
                        </a:rPr>
                        <a:t>6</a:t>
                      </a:r>
                      <a:endParaRPr lang="en-US" sz="13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Giải thích cơ chế hình thành đứt gãy, tích hợp kết quả minh giải với địa chất.</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kern="100" dirty="0">
                          <a:effectLst/>
                          <a:latin typeface="Inter" panose="020B0604020202020204" charset="0"/>
                          <a:ea typeface="Inter" panose="020B0604020202020204" charset="0"/>
                        </a:rPr>
                        <a:t>6/10</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Hiểu cơ bản khi có hỗ trợ từ chuyên gia. Thiếu kinh nghiệm tự đánh giá độc lập và kết nối kết quả minh giải với mô hình kiến tạo – địa chất.</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2922854"/>
                  </a:ext>
                </a:extLst>
              </a:tr>
              <a:tr h="370840">
                <a:tc>
                  <a:txBody>
                    <a:bodyPr/>
                    <a:lstStyle/>
                    <a:p>
                      <a:pPr algn="ctr"/>
                      <a:r>
                        <a:rPr lang="vi-VN" sz="1300" kern="100" dirty="0">
                          <a:solidFill>
                            <a:schemeClr val="dk1"/>
                          </a:solidFill>
                          <a:effectLst/>
                          <a:latin typeface="Inter" panose="020B0604020202020204" charset="0"/>
                          <a:ea typeface="Inter" panose="020B0604020202020204" charset="0"/>
                        </a:rPr>
                        <a:t>7</a:t>
                      </a:r>
                      <a:endParaRPr lang="en-US" sz="13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Đề xuất giếng khoan</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kern="100" dirty="0">
                          <a:effectLst/>
                          <a:latin typeface="Inter" panose="020B0604020202020204" charset="0"/>
                          <a:ea typeface="Inter" panose="020B0604020202020204" charset="0"/>
                        </a:rPr>
                        <a:t>6/10</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Có thể đề xuất tọa độ giếng thông qua hướng dẫn. Thiếu kỹ năng lựa chọn đưa ra đề xuất vị trí giếng khoan dựa trên kết quả minh giải đứt gãy trong móng.</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369654"/>
                  </a:ext>
                </a:extLst>
              </a:tr>
              <a:tr h="370840">
                <a:tc>
                  <a:txBody>
                    <a:bodyPr/>
                    <a:lstStyle/>
                    <a:p>
                      <a:pPr algn="ctr"/>
                      <a:r>
                        <a:rPr lang="vi-VN" sz="1300" kern="100" dirty="0">
                          <a:solidFill>
                            <a:schemeClr val="dk1"/>
                          </a:solidFill>
                          <a:effectLst/>
                          <a:latin typeface="Inter" panose="020B0604020202020204" charset="0"/>
                          <a:ea typeface="Inter" panose="020B0604020202020204" charset="0"/>
                        </a:rPr>
                        <a:t>8</a:t>
                      </a:r>
                      <a:endParaRPr lang="en-US" sz="13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Kỹ năng thuyết trình – phản biện</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kern="100" dirty="0">
                          <a:effectLst/>
                          <a:latin typeface="Inter" panose="020B0604020202020204" charset="0"/>
                          <a:ea typeface="Inter" panose="020B0604020202020204" charset="0"/>
                        </a:rPr>
                        <a:t>7/10</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Có khả năng thay mặt nhóm địa chấn trinh bày kết quả. Tuy nhiên vẫn còn tâm lý thiếu tự tin và chưa linh hoạt khi trả lời câu hỏi trước lãnh đạo hoặc kỹ sư nhiều kinh nghiệm.</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2951042"/>
                  </a:ext>
                </a:extLst>
              </a:tr>
              <a:tr h="370840">
                <a:tc>
                  <a:txBody>
                    <a:bodyPr/>
                    <a:lstStyle/>
                    <a:p>
                      <a:pPr algn="ctr"/>
                      <a:r>
                        <a:rPr lang="vi-VN" sz="1300" kern="100" dirty="0">
                          <a:solidFill>
                            <a:schemeClr val="dk1"/>
                          </a:solidFill>
                          <a:effectLst/>
                          <a:latin typeface="Inter" panose="020B0604020202020204" charset="0"/>
                          <a:ea typeface="Inter" panose="020B0604020202020204" charset="0"/>
                        </a:rPr>
                        <a:t>9</a:t>
                      </a:r>
                      <a:endParaRPr lang="en-US" sz="13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Ngoại ngữ</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300" kern="100" dirty="0">
                          <a:effectLst/>
                          <a:latin typeface="Inter" panose="020B0604020202020204" charset="0"/>
                          <a:ea typeface="Inter" panose="020B0604020202020204" charset="0"/>
                        </a:rPr>
                        <a:t>9/10</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vi-VN" sz="1300" kern="100" dirty="0">
                          <a:effectLst/>
                          <a:latin typeface="Inter" panose="020B0604020202020204" charset="0"/>
                          <a:ea typeface="Inter" panose="020B0604020202020204" charset="0"/>
                        </a:rPr>
                        <a:t>Có nền tảng tốt, giao tiếp – thuyết trình – viết báo cáo bằng tiếng Anh. Hạn chế là ít sử dụng thường xuyên, dẫn đến chưa duy trì được độ trôi chảy tối ưu.</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4159028"/>
                  </a:ext>
                </a:extLst>
              </a:tr>
            </a:tbl>
          </a:graphicData>
        </a:graphic>
      </p:graphicFrame>
      <p:sp>
        <p:nvSpPr>
          <p:cNvPr id="3" name="Text 0">
            <a:extLst>
              <a:ext uri="{FF2B5EF4-FFF2-40B4-BE49-F238E27FC236}">
                <a16:creationId xmlns:a16="http://schemas.microsoft.com/office/drawing/2014/main" id="{0E958B61-E9ED-84FE-1781-F41579258F4F}"/>
              </a:ext>
            </a:extLst>
          </p:cNvPr>
          <p:cNvSpPr/>
          <p:nvPr/>
        </p:nvSpPr>
        <p:spPr>
          <a:xfrm>
            <a:off x="3332155" y="259557"/>
            <a:ext cx="9278422" cy="708779"/>
          </a:xfrm>
          <a:prstGeom prst="rect">
            <a:avLst/>
          </a:prstGeom>
          <a:noFill/>
          <a:ln/>
        </p:spPr>
        <p:txBody>
          <a:bodyPr wrap="none" lIns="0" tIns="0" rIns="0" bIns="0" rtlCol="0" anchor="t"/>
          <a:lstStyle/>
          <a:p>
            <a:pPr marL="0" indent="0" algn="ctr">
              <a:lnSpc>
                <a:spcPts val="5550"/>
              </a:lnSpc>
              <a:buNone/>
            </a:pPr>
            <a:r>
              <a:rPr lang="en-US" sz="4450" b="1" dirty="0">
                <a:solidFill>
                  <a:schemeClr val="bg1"/>
                </a:solidFill>
                <a:latin typeface="Inter Bold" pitchFamily="34" charset="0"/>
                <a:ea typeface="Inter Bold" pitchFamily="34" charset="-122"/>
                <a:cs typeface="Inter Bold" pitchFamily="34" charset="-120"/>
              </a:rPr>
              <a:t>Tự đánh giá năng lực </a:t>
            </a:r>
            <a:r>
              <a:rPr lang="en-US" sz="4450" b="1" dirty="0" err="1">
                <a:solidFill>
                  <a:schemeClr val="bg1"/>
                </a:solidFill>
                <a:latin typeface="Inter Bold" pitchFamily="34" charset="0"/>
                <a:ea typeface="Inter Bold" pitchFamily="34" charset="-122"/>
                <a:cs typeface="Inter Bold" pitchFamily="34" charset="-120"/>
              </a:rPr>
              <a:t>hiện</a:t>
            </a:r>
            <a:r>
              <a:rPr lang="en-US" sz="4450" b="1" dirty="0">
                <a:solidFill>
                  <a:schemeClr val="bg1"/>
                </a:solidFill>
                <a:latin typeface="Inter Bold" pitchFamily="34" charset="0"/>
                <a:ea typeface="Inter Bold" pitchFamily="34" charset="-122"/>
                <a:cs typeface="Inter Bold" pitchFamily="34" charset="-120"/>
              </a:rPr>
              <a:t> </a:t>
            </a:r>
            <a:r>
              <a:rPr lang="en-US" sz="4450" b="1" dirty="0" err="1">
                <a:solidFill>
                  <a:schemeClr val="bg1"/>
                </a:solidFill>
                <a:latin typeface="Inter Bold" pitchFamily="34" charset="0"/>
                <a:ea typeface="Inter Bold" pitchFamily="34" charset="-122"/>
                <a:cs typeface="Inter Bold" pitchFamily="34" charset="-120"/>
              </a:rPr>
              <a:t>tại</a:t>
            </a:r>
            <a:endParaRPr lang="en-US" sz="4450" dirty="0">
              <a:solidFill>
                <a:schemeClr val="bg1"/>
              </a:solidFill>
            </a:endParaRPr>
          </a:p>
        </p:txBody>
      </p:sp>
      <p:pic>
        <p:nvPicPr>
          <p:cNvPr id="5" name="Picture 4" descr="A green and blue logo&#10;&#10;AI-generated content may be incorrect.">
            <a:extLst>
              <a:ext uri="{FF2B5EF4-FFF2-40B4-BE49-F238E27FC236}">
                <a16:creationId xmlns:a16="http://schemas.microsoft.com/office/drawing/2014/main" id="{810667C2-4E60-7FD0-6489-DC60831693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200" y="107955"/>
            <a:ext cx="988853" cy="1011984"/>
          </a:xfrm>
          <a:prstGeom prst="rect">
            <a:avLst/>
          </a:prstGeom>
        </p:spPr>
      </p:pic>
      <p:sp>
        <p:nvSpPr>
          <p:cNvPr id="7" name="TextBox 6">
            <a:extLst>
              <a:ext uri="{FF2B5EF4-FFF2-40B4-BE49-F238E27FC236}">
                <a16:creationId xmlns:a16="http://schemas.microsoft.com/office/drawing/2014/main" id="{DF21939F-DD04-9F22-2F8C-A318E714F5D4}"/>
              </a:ext>
            </a:extLst>
          </p:cNvPr>
          <p:cNvSpPr txBox="1"/>
          <p:nvPr/>
        </p:nvSpPr>
        <p:spPr>
          <a:xfrm>
            <a:off x="181264" y="7489221"/>
            <a:ext cx="14267869" cy="276999"/>
          </a:xfrm>
          <a:prstGeom prst="rect">
            <a:avLst/>
          </a:prstGeom>
          <a:noFill/>
        </p:spPr>
        <p:txBody>
          <a:bodyPr wrap="square" rtlCol="0">
            <a:spAutoFit/>
          </a:bodyPr>
          <a:lstStyle/>
          <a:p>
            <a:r>
              <a:rPr lang="vi-VN" sz="1200" dirty="0">
                <a:latin typeface="Inter" panose="020B0604020202020204" charset="0"/>
                <a:ea typeface="Inter" panose="020B0604020202020204" charset="0"/>
              </a:rPr>
              <a:t>*ghi chú: 10 điểm là thành thạo ở mức độ cao, nắm rõ các kỹ năng, thực hiện công việc độc lập. </a:t>
            </a:r>
            <a:endParaRPr lang="en-US" sz="1200" dirty="0">
              <a:latin typeface="Inter" panose="020B0604020202020204" charset="0"/>
              <a:ea typeface="Inter" panose="020B0604020202020204" charset="0"/>
            </a:endParaRPr>
          </a:p>
        </p:txBody>
      </p:sp>
    </p:spTree>
    <p:extLst>
      <p:ext uri="{BB962C8B-B14F-4D97-AF65-F5344CB8AC3E}">
        <p14:creationId xmlns:p14="http://schemas.microsoft.com/office/powerpoint/2010/main" val="3983098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14B7F-39CB-7DF3-F15D-2CF4921E3221}"/>
            </a:ext>
          </a:extLst>
        </p:cNvPr>
        <p:cNvGrpSpPr/>
        <p:nvPr/>
      </p:nvGrpSpPr>
      <p:grpSpPr>
        <a:xfrm>
          <a:off x="0" y="0"/>
          <a:ext cx="0" cy="0"/>
          <a:chOff x="0" y="0"/>
          <a:chExt cx="0" cy="0"/>
        </a:xfrm>
      </p:grpSpPr>
      <p:sp>
        <p:nvSpPr>
          <p:cNvPr id="17" name="AutoShape 1">
            <a:extLst>
              <a:ext uri="{FF2B5EF4-FFF2-40B4-BE49-F238E27FC236}">
                <a16:creationId xmlns:a16="http://schemas.microsoft.com/office/drawing/2014/main" id="{08F4F284-DD48-9276-D543-9FD6F1B652C6}"/>
              </a:ext>
            </a:extLst>
          </p:cNvPr>
          <p:cNvSpPr>
            <a:spLocks/>
          </p:cNvSpPr>
          <p:nvPr/>
        </p:nvSpPr>
        <p:spPr bwMode="auto">
          <a:xfrm>
            <a:off x="1499533" y="174763"/>
            <a:ext cx="12943667" cy="945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endParaRPr kumimoji="0" lang="vi-VN" sz="2800" b="1" i="0" u="none" strike="noStrike" kern="1200" cap="all"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2" name="Text 0">
            <a:extLst>
              <a:ext uri="{FF2B5EF4-FFF2-40B4-BE49-F238E27FC236}">
                <a16:creationId xmlns:a16="http://schemas.microsoft.com/office/drawing/2014/main" id="{E297B909-DB5A-D693-207B-79038BC6C639}"/>
              </a:ext>
            </a:extLst>
          </p:cNvPr>
          <p:cNvSpPr/>
          <p:nvPr/>
        </p:nvSpPr>
        <p:spPr>
          <a:xfrm>
            <a:off x="3409367" y="292960"/>
            <a:ext cx="9123998" cy="708779"/>
          </a:xfrm>
          <a:prstGeom prst="rect">
            <a:avLst/>
          </a:prstGeom>
          <a:noFill/>
          <a:ln/>
        </p:spPr>
        <p:txBody>
          <a:bodyPr wrap="none" lIns="0" tIns="0" rIns="0" bIns="0" rtlCol="0" anchor="t"/>
          <a:lstStyle/>
          <a:p>
            <a:pPr algn="ctr">
              <a:lnSpc>
                <a:spcPts val="5100"/>
              </a:lnSpc>
            </a:pPr>
            <a:r>
              <a:rPr lang="en-US" sz="4400" b="1" dirty="0" err="1">
                <a:solidFill>
                  <a:schemeClr val="bg1"/>
                </a:solidFill>
                <a:latin typeface="Inter Bold" pitchFamily="34" charset="0"/>
                <a:ea typeface="Inter Bold" pitchFamily="34" charset="-122"/>
                <a:cs typeface="Inter Bold" pitchFamily="34" charset="-120"/>
              </a:rPr>
              <a:t>Kế</a:t>
            </a:r>
            <a:r>
              <a:rPr lang="en-US" sz="4400" b="1" dirty="0">
                <a:solidFill>
                  <a:schemeClr val="bg1"/>
                </a:solidFill>
                <a:latin typeface="Inter Bold" pitchFamily="34" charset="0"/>
                <a:ea typeface="Inter Bold" pitchFamily="34" charset="-122"/>
                <a:cs typeface="Inter Bold" pitchFamily="34" charset="-120"/>
              </a:rPr>
              <a:t> </a:t>
            </a:r>
            <a:r>
              <a:rPr lang="en-US" sz="4400" b="1" dirty="0" err="1">
                <a:solidFill>
                  <a:schemeClr val="bg1"/>
                </a:solidFill>
                <a:latin typeface="Inter Bold" pitchFamily="34" charset="0"/>
                <a:ea typeface="Inter Bold" pitchFamily="34" charset="-122"/>
                <a:cs typeface="Inter Bold" pitchFamily="34" charset="-120"/>
              </a:rPr>
              <a:t>hoạch</a:t>
            </a:r>
            <a:r>
              <a:rPr lang="en-US" sz="4400" b="1" dirty="0">
                <a:solidFill>
                  <a:schemeClr val="bg1"/>
                </a:solidFill>
                <a:latin typeface="Inter Bold" pitchFamily="34" charset="0"/>
                <a:ea typeface="Inter Bold" pitchFamily="34" charset="-122"/>
                <a:cs typeface="Inter Bold" pitchFamily="34" charset="-120"/>
              </a:rPr>
              <a:t> </a:t>
            </a:r>
            <a:r>
              <a:rPr lang="en-US" sz="4400" b="1" dirty="0" err="1">
                <a:solidFill>
                  <a:schemeClr val="bg1"/>
                </a:solidFill>
                <a:latin typeface="Inter Bold" pitchFamily="34" charset="0"/>
                <a:ea typeface="Inter Bold" pitchFamily="34" charset="-122"/>
                <a:cs typeface="Inter Bold" pitchFamily="34" charset="-120"/>
              </a:rPr>
              <a:t>hành</a:t>
            </a:r>
            <a:r>
              <a:rPr lang="en-US" sz="4400" b="1" dirty="0">
                <a:solidFill>
                  <a:schemeClr val="bg1"/>
                </a:solidFill>
                <a:latin typeface="Inter Bold" pitchFamily="34" charset="0"/>
                <a:ea typeface="Inter Bold" pitchFamily="34" charset="-122"/>
                <a:cs typeface="Inter Bold" pitchFamily="34" charset="-120"/>
              </a:rPr>
              <a:t> </a:t>
            </a:r>
            <a:r>
              <a:rPr lang="en-US" sz="4400" b="1" dirty="0" err="1">
                <a:solidFill>
                  <a:schemeClr val="bg1"/>
                </a:solidFill>
                <a:latin typeface="Inter Bold" pitchFamily="34" charset="0"/>
                <a:ea typeface="Inter Bold" pitchFamily="34" charset="-122"/>
                <a:cs typeface="Inter Bold" pitchFamily="34" charset="-120"/>
              </a:rPr>
              <a:t>động</a:t>
            </a:r>
            <a:r>
              <a:rPr lang="en-US" sz="4400" b="1" dirty="0">
                <a:solidFill>
                  <a:schemeClr val="bg1"/>
                </a:solidFill>
                <a:latin typeface="Inter Bold" pitchFamily="34" charset="0"/>
                <a:ea typeface="Inter Bold" pitchFamily="34" charset="-122"/>
                <a:cs typeface="Inter Bold" pitchFamily="34" charset="-120"/>
              </a:rPr>
              <a:t> &amp; Định </a:t>
            </a:r>
            <a:r>
              <a:rPr lang="en-US" sz="4400" b="1" dirty="0" err="1">
                <a:solidFill>
                  <a:schemeClr val="bg1"/>
                </a:solidFill>
                <a:latin typeface="Inter Bold" pitchFamily="34" charset="0"/>
                <a:ea typeface="Inter Bold" pitchFamily="34" charset="-122"/>
                <a:cs typeface="Inter Bold" pitchFamily="34" charset="-120"/>
              </a:rPr>
              <a:t>hướng</a:t>
            </a:r>
            <a:r>
              <a:rPr lang="en-US" sz="4400" b="1" dirty="0">
                <a:solidFill>
                  <a:schemeClr val="bg1"/>
                </a:solidFill>
                <a:latin typeface="Inter Bold" pitchFamily="34" charset="0"/>
                <a:ea typeface="Inter Bold" pitchFamily="34" charset="-122"/>
                <a:cs typeface="Inter Bold" pitchFamily="34" charset="-120"/>
              </a:rPr>
              <a:t> </a:t>
            </a:r>
            <a:r>
              <a:rPr lang="en-US" sz="4400" b="1" dirty="0" err="1">
                <a:solidFill>
                  <a:schemeClr val="bg1"/>
                </a:solidFill>
                <a:latin typeface="Inter Bold" pitchFamily="34" charset="0"/>
                <a:ea typeface="Inter Bold" pitchFamily="34" charset="-122"/>
                <a:cs typeface="Inter Bold" pitchFamily="34" charset="-120"/>
              </a:rPr>
              <a:t>phát</a:t>
            </a:r>
            <a:r>
              <a:rPr lang="en-US" sz="4400" b="1" dirty="0">
                <a:solidFill>
                  <a:schemeClr val="bg1"/>
                </a:solidFill>
                <a:latin typeface="Inter Bold" pitchFamily="34" charset="0"/>
                <a:ea typeface="Inter Bold" pitchFamily="34" charset="-122"/>
                <a:cs typeface="Inter Bold" pitchFamily="34" charset="-120"/>
              </a:rPr>
              <a:t> </a:t>
            </a:r>
            <a:r>
              <a:rPr lang="en-US" sz="4400" b="1" dirty="0" err="1">
                <a:solidFill>
                  <a:schemeClr val="bg1"/>
                </a:solidFill>
                <a:latin typeface="Inter Bold" pitchFamily="34" charset="0"/>
                <a:ea typeface="Inter Bold" pitchFamily="34" charset="-122"/>
                <a:cs typeface="Inter Bold" pitchFamily="34" charset="-120"/>
              </a:rPr>
              <a:t>triển</a:t>
            </a:r>
            <a:endParaRPr lang="en-US" sz="4400" dirty="0">
              <a:solidFill>
                <a:schemeClr val="bg1"/>
              </a:solidFill>
            </a:endParaRPr>
          </a:p>
        </p:txBody>
      </p:sp>
      <p:pic>
        <p:nvPicPr>
          <p:cNvPr id="16" name="Picture 15" descr="A green and blue logo&#10;&#10;AI-generated content may be incorrect.">
            <a:extLst>
              <a:ext uri="{FF2B5EF4-FFF2-40B4-BE49-F238E27FC236}">
                <a16:creationId xmlns:a16="http://schemas.microsoft.com/office/drawing/2014/main" id="{3898675B-C4B8-F3C4-37B5-6104DD52AB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200" y="107955"/>
            <a:ext cx="988853" cy="1011984"/>
          </a:xfrm>
          <a:prstGeom prst="rect">
            <a:avLst/>
          </a:prstGeom>
        </p:spPr>
      </p:pic>
      <p:sp>
        <p:nvSpPr>
          <p:cNvPr id="18" name="Text 1">
            <a:extLst>
              <a:ext uri="{FF2B5EF4-FFF2-40B4-BE49-F238E27FC236}">
                <a16:creationId xmlns:a16="http://schemas.microsoft.com/office/drawing/2014/main" id="{C918B748-82FF-5A59-0E3F-E734448BA014}"/>
              </a:ext>
            </a:extLst>
          </p:cNvPr>
          <p:cNvSpPr/>
          <p:nvPr/>
        </p:nvSpPr>
        <p:spPr>
          <a:xfrm>
            <a:off x="2376856" y="1276602"/>
            <a:ext cx="3148132" cy="388858"/>
          </a:xfrm>
          <a:prstGeom prst="rect">
            <a:avLst/>
          </a:prstGeom>
          <a:noFill/>
          <a:ln/>
        </p:spPr>
        <p:txBody>
          <a:bodyPr wrap="none" lIns="0" tIns="0" rIns="0" bIns="0" rtlCol="0" anchor="t"/>
          <a:lstStyle/>
          <a:p>
            <a:pPr marL="0" indent="0" algn="l">
              <a:lnSpc>
                <a:spcPts val="3050"/>
              </a:lnSpc>
              <a:buNone/>
            </a:pPr>
            <a:r>
              <a:rPr lang="en-US" sz="2400" b="1" dirty="0">
                <a:latin typeface="Inter Bold" pitchFamily="34" charset="0"/>
                <a:ea typeface="Inter Bold" pitchFamily="34" charset="-122"/>
                <a:cs typeface="Inter Bold" pitchFamily="34" charset="-120"/>
              </a:rPr>
              <a:t>Đào </a:t>
            </a:r>
            <a:r>
              <a:rPr lang="en-US" sz="2400" b="1" dirty="0" err="1">
                <a:latin typeface="Inter Bold" pitchFamily="34" charset="0"/>
                <a:ea typeface="Inter Bold" pitchFamily="34" charset="-122"/>
                <a:cs typeface="Inter Bold" pitchFamily="34" charset="-120"/>
              </a:rPr>
              <a:t>tạo</a:t>
            </a:r>
            <a:r>
              <a:rPr lang="en-US" sz="2400" b="1" dirty="0">
                <a:latin typeface="Inter Bold" pitchFamily="34" charset="0"/>
                <a:ea typeface="Inter Bold" pitchFamily="34" charset="-122"/>
                <a:cs typeface="Inter Bold" pitchFamily="34" charset="-120"/>
              </a:rPr>
              <a:t> &amp; </a:t>
            </a:r>
            <a:r>
              <a:rPr lang="en-US" sz="2400" b="1" dirty="0" err="1">
                <a:latin typeface="Inter Bold" pitchFamily="34" charset="0"/>
                <a:ea typeface="Inter Bold" pitchFamily="34" charset="-122"/>
                <a:cs typeface="Inter Bold" pitchFamily="34" charset="-120"/>
              </a:rPr>
              <a:t>Bồi</a:t>
            </a:r>
            <a:r>
              <a:rPr lang="en-US" sz="2400" b="1" dirty="0">
                <a:latin typeface="Inter Bold" pitchFamily="34" charset="0"/>
                <a:ea typeface="Inter Bold" pitchFamily="34" charset="-122"/>
                <a:cs typeface="Inter Bold" pitchFamily="34" charset="-120"/>
              </a:rPr>
              <a:t> </a:t>
            </a:r>
            <a:r>
              <a:rPr lang="en-US" sz="2400" b="1" dirty="0" err="1">
                <a:latin typeface="Inter Bold" pitchFamily="34" charset="0"/>
                <a:ea typeface="Inter Bold" pitchFamily="34" charset="-122"/>
                <a:cs typeface="Inter Bold" pitchFamily="34" charset="-120"/>
              </a:rPr>
              <a:t>dưỡng</a:t>
            </a:r>
            <a:r>
              <a:rPr lang="en-US" sz="2400" b="1" dirty="0">
                <a:latin typeface="Inter Bold" pitchFamily="34" charset="0"/>
                <a:ea typeface="Inter Bold" pitchFamily="34" charset="-122"/>
                <a:cs typeface="Inter Bold" pitchFamily="34" charset="-120"/>
              </a:rPr>
              <a:t>:</a:t>
            </a:r>
            <a:endParaRPr lang="en-US" sz="2400" dirty="0"/>
          </a:p>
        </p:txBody>
      </p:sp>
      <p:sp>
        <p:nvSpPr>
          <p:cNvPr id="19" name="Text 2">
            <a:extLst>
              <a:ext uri="{FF2B5EF4-FFF2-40B4-BE49-F238E27FC236}">
                <a16:creationId xmlns:a16="http://schemas.microsoft.com/office/drawing/2014/main" id="{90390D68-1AE2-4EBF-DF1B-4236E8B5FB70}"/>
              </a:ext>
            </a:extLst>
          </p:cNvPr>
          <p:cNvSpPr/>
          <p:nvPr/>
        </p:nvSpPr>
        <p:spPr>
          <a:xfrm>
            <a:off x="1499534" y="1826649"/>
            <a:ext cx="12240529" cy="3804927"/>
          </a:xfrm>
          <a:prstGeom prst="rect">
            <a:avLst/>
          </a:prstGeom>
          <a:noFill/>
          <a:ln/>
        </p:spPr>
        <p:txBody>
          <a:bodyPr wrap="square" lIns="0" tIns="0" rIns="0" bIns="0" rtlCol="0" anchor="t"/>
          <a:lstStyle/>
          <a:p>
            <a:pPr marL="342900" indent="-342900" algn="l">
              <a:lnSpc>
                <a:spcPts val="2600"/>
              </a:lnSpc>
              <a:buSzPct val="100000"/>
              <a:buChar char="•"/>
            </a:pPr>
            <a:r>
              <a:rPr lang="en-US" dirty="0">
                <a:latin typeface="Inter" pitchFamily="34" charset="0"/>
                <a:ea typeface="Inter" pitchFamily="34" charset="-122"/>
                <a:cs typeface="Inter" pitchFamily="34" charset="-120"/>
              </a:rPr>
              <a:t>Đề xuất hỗ trợ phần mềm Petrel (Geoscience Core).</a:t>
            </a:r>
            <a:endParaRPr lang="vi-VN" dirty="0">
              <a:latin typeface="Inter" pitchFamily="34" charset="0"/>
              <a:ea typeface="Inter" pitchFamily="34" charset="-122"/>
              <a:cs typeface="Inter" pitchFamily="34" charset="-120"/>
            </a:endParaRPr>
          </a:p>
          <a:p>
            <a:pPr marL="342900" indent="-342900">
              <a:lnSpc>
                <a:spcPts val="2600"/>
              </a:lnSpc>
              <a:buSzPct val="100000"/>
              <a:buFontTx/>
              <a:buChar char="•"/>
            </a:pPr>
            <a:r>
              <a:rPr lang="en-US" dirty="0" err="1">
                <a:latin typeface="Inter" pitchFamily="34" charset="0"/>
                <a:ea typeface="Inter" pitchFamily="34" charset="-122"/>
                <a:cs typeface="Inter" pitchFamily="34" charset="-120"/>
              </a:rPr>
              <a:t>Đề</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xuất</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chuyên</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gia</a:t>
            </a:r>
            <a:r>
              <a:rPr lang="en-US" dirty="0">
                <a:latin typeface="Inter" pitchFamily="34" charset="0"/>
                <a:ea typeface="Inter" pitchFamily="34" charset="-122"/>
                <a:cs typeface="Inter" pitchFamily="34" charset="-120"/>
              </a:rPr>
              <a:t> Nguyễn Huy Ngọc </a:t>
            </a:r>
            <a:r>
              <a:rPr lang="en-US" dirty="0" err="1">
                <a:latin typeface="Inter" pitchFamily="34" charset="0"/>
                <a:ea typeface="Inter" pitchFamily="34" charset="-122"/>
                <a:cs typeface="Inter" pitchFamily="34" charset="-120"/>
              </a:rPr>
              <a:t>đồng</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hành</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hướng</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dẫn</a:t>
            </a:r>
            <a:r>
              <a:rPr lang="vi-VN" dirty="0">
                <a:latin typeface="Inter" pitchFamily="34" charset="0"/>
                <a:ea typeface="Inter" pitchFamily="34" charset="-122"/>
                <a:cs typeface="Inter" pitchFamily="34" charset="-120"/>
              </a:rPr>
              <a:t> thông qua các dự án hợp tác với TTKT. Qua các khóa học đạo tạo chuyên sâu.</a:t>
            </a:r>
          </a:p>
          <a:p>
            <a:pPr marL="342900" indent="-342900">
              <a:lnSpc>
                <a:spcPts val="2600"/>
              </a:lnSpc>
              <a:buSzPct val="100000"/>
              <a:buFontTx/>
              <a:buChar char="•"/>
            </a:pPr>
            <a:r>
              <a:rPr lang="en-US" dirty="0">
                <a:latin typeface="Inter" pitchFamily="34" charset="0"/>
                <a:ea typeface="Inter" pitchFamily="34" charset="-122"/>
                <a:cs typeface="Inter" pitchFamily="34" charset="-120"/>
              </a:rPr>
              <a:t>Tham </a:t>
            </a:r>
            <a:r>
              <a:rPr lang="en-US" dirty="0" err="1">
                <a:latin typeface="Inter" pitchFamily="34" charset="0"/>
                <a:ea typeface="Inter" pitchFamily="34" charset="-122"/>
                <a:cs typeface="Inter" pitchFamily="34" charset="-120"/>
              </a:rPr>
              <a:t>gia</a:t>
            </a:r>
            <a:r>
              <a:rPr lang="en-US" dirty="0">
                <a:latin typeface="Inter" pitchFamily="34" charset="0"/>
                <a:ea typeface="Inter" pitchFamily="34" charset="-122"/>
                <a:cs typeface="Inter" pitchFamily="34" charset="-120"/>
              </a:rPr>
              <a:t> QC &amp; Hiệu </a:t>
            </a:r>
            <a:r>
              <a:rPr lang="en-US" dirty="0" err="1">
                <a:latin typeface="Inter" pitchFamily="34" charset="0"/>
                <a:ea typeface="Inter" pitchFamily="34" charset="-122"/>
                <a:cs typeface="Inter" pitchFamily="34" charset="-120"/>
              </a:rPr>
              <a:t>chỉnh</a:t>
            </a:r>
            <a:r>
              <a:rPr lang="vi-VN" dirty="0">
                <a:latin typeface="Inter" pitchFamily="34" charset="0"/>
                <a:ea typeface="Inter" pitchFamily="34" charset="-122"/>
                <a:cs typeface="Inter" pitchFamily="34" charset="-120"/>
              </a:rPr>
              <a:t> tài liệu địa chấn trong dự án móng Kình Ngư Vàng</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dưới</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sự</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hướng</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dẫn</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của</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chuyên</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gia</a:t>
            </a:r>
            <a:r>
              <a:rPr lang="vi-VN" dirty="0">
                <a:latin typeface="Inter" pitchFamily="34" charset="0"/>
                <a:ea typeface="Inter" pitchFamily="34" charset="-122"/>
                <a:cs typeface="Inter" pitchFamily="34" charset="-120"/>
              </a:rPr>
              <a:t> hoặc những kỹ sư lâu năm tại TTKT.</a:t>
            </a:r>
          </a:p>
          <a:p>
            <a:pPr marL="342900" indent="-342900">
              <a:lnSpc>
                <a:spcPts val="2600"/>
              </a:lnSpc>
              <a:buSzPct val="100000"/>
              <a:buFontTx/>
              <a:buChar char="•"/>
            </a:pPr>
            <a:r>
              <a:rPr lang="vi-VN" dirty="0">
                <a:latin typeface="Inter" pitchFamily="34" charset="0"/>
                <a:ea typeface="Inter" pitchFamily="34" charset="-122"/>
              </a:rPr>
              <a:t>Tham gia kiểm tra, QC log đầu vào và tối ưu hóa kết quả liên kết giếng-địa chấn cho ít nhất 5 giếng trong dự án móng Kình Ngư Vàng và các dự án khác.</a:t>
            </a:r>
          </a:p>
          <a:p>
            <a:pPr marL="342900" indent="-342900">
              <a:lnSpc>
                <a:spcPts val="2600"/>
              </a:lnSpc>
              <a:buSzPct val="100000"/>
              <a:buFontTx/>
              <a:buChar char="•"/>
            </a:pPr>
            <a:r>
              <a:rPr lang="en-US" dirty="0">
                <a:latin typeface="Inter" pitchFamily="34" charset="0"/>
                <a:ea typeface="Inter" pitchFamily="34" charset="-122"/>
                <a:cs typeface="Inter" pitchFamily="34" charset="-120"/>
              </a:rPr>
              <a:t>Tham </a:t>
            </a:r>
            <a:r>
              <a:rPr lang="en-US" dirty="0" err="1">
                <a:latin typeface="Inter" pitchFamily="34" charset="0"/>
                <a:ea typeface="Inter" pitchFamily="34" charset="-122"/>
                <a:cs typeface="Inter" pitchFamily="34" charset="-120"/>
              </a:rPr>
              <a:t>gia</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thảo</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luận</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đề</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xuất</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giếng</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khoan</a:t>
            </a:r>
            <a:r>
              <a:rPr lang="vi-VN" dirty="0">
                <a:latin typeface="Inter" pitchFamily="34" charset="0"/>
                <a:ea typeface="Inter" pitchFamily="34" charset="-122"/>
                <a:cs typeface="Inter" pitchFamily="34" charset="-120"/>
              </a:rPr>
              <a:t> cho dự án Kình Ngư Vàng và các dự án khác thực hiện tại TTKT</a:t>
            </a:r>
            <a:r>
              <a:rPr lang="en-US" dirty="0">
                <a:latin typeface="Inter" pitchFamily="34" charset="0"/>
                <a:ea typeface="Inter" pitchFamily="34" charset="-122"/>
                <a:cs typeface="Inter" pitchFamily="34" charset="-120"/>
              </a:rPr>
              <a:t>.</a:t>
            </a:r>
            <a:endParaRPr lang="vi-VN" dirty="0">
              <a:latin typeface="Inter" pitchFamily="34" charset="0"/>
              <a:ea typeface="Inter" pitchFamily="34" charset="-122"/>
              <a:cs typeface="Inter" pitchFamily="34" charset="-120"/>
            </a:endParaRPr>
          </a:p>
          <a:p>
            <a:pPr marL="342900" indent="-342900">
              <a:lnSpc>
                <a:spcPts val="2600"/>
              </a:lnSpc>
              <a:buSzPct val="100000"/>
              <a:buFontTx/>
              <a:buChar char="•"/>
            </a:pPr>
            <a:r>
              <a:rPr lang="en-US" dirty="0">
                <a:latin typeface="Inter" pitchFamily="34" charset="0"/>
                <a:ea typeface="Inter" pitchFamily="34" charset="-122"/>
                <a:cs typeface="Inter" pitchFamily="34" charset="-120"/>
              </a:rPr>
              <a:t>Rèn </a:t>
            </a:r>
            <a:r>
              <a:rPr lang="en-US" dirty="0" err="1">
                <a:latin typeface="Inter" pitchFamily="34" charset="0"/>
                <a:ea typeface="Inter" pitchFamily="34" charset="-122"/>
                <a:cs typeface="Inter" pitchFamily="34" charset="-120"/>
              </a:rPr>
              <a:t>luyện</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kỹ</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năng</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trình</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bày</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và</a:t>
            </a:r>
            <a:r>
              <a:rPr lang="en-US" dirty="0">
                <a:latin typeface="Inter" pitchFamily="34" charset="0"/>
                <a:ea typeface="Inter" pitchFamily="34" charset="-122"/>
                <a:cs typeface="Inter" pitchFamily="34" charset="-120"/>
              </a:rPr>
              <a:t> </a:t>
            </a:r>
            <a:r>
              <a:rPr lang="en-US" dirty="0" err="1">
                <a:latin typeface="Inter" pitchFamily="34" charset="0"/>
                <a:ea typeface="Inter" pitchFamily="34" charset="-122"/>
                <a:cs typeface="Inter" pitchFamily="34" charset="-120"/>
              </a:rPr>
              <a:t>phản</a:t>
            </a:r>
            <a:r>
              <a:rPr lang="en-US" dirty="0">
                <a:latin typeface="Inter" pitchFamily="34" charset="0"/>
                <a:ea typeface="Inter" pitchFamily="34" charset="-122"/>
                <a:cs typeface="Inter" pitchFamily="34" charset="-120"/>
              </a:rPr>
              <a:t> </a:t>
            </a:r>
            <a:r>
              <a:rPr lang="vi-VN" dirty="0">
                <a:latin typeface="Inter" pitchFamily="34" charset="0"/>
                <a:ea typeface="Inter" pitchFamily="34" charset="-122"/>
                <a:cs typeface="Inter" pitchFamily="34" charset="-120"/>
              </a:rPr>
              <a:t>biện khi tham gia các cuộc họp, hội thảo.</a:t>
            </a:r>
          </a:p>
          <a:p>
            <a:pPr marL="342900" indent="-342900">
              <a:lnSpc>
                <a:spcPts val="2600"/>
              </a:lnSpc>
              <a:buSzPct val="100000"/>
              <a:buFontTx/>
              <a:buChar char="•"/>
            </a:pPr>
            <a:r>
              <a:rPr lang="en-US" dirty="0">
                <a:latin typeface="Inter" pitchFamily="34" charset="0"/>
                <a:ea typeface="Inter" pitchFamily="34" charset="-122"/>
              </a:rPr>
              <a:t>Học </a:t>
            </a:r>
            <a:r>
              <a:rPr lang="en-US" dirty="0" err="1">
                <a:latin typeface="Inter" pitchFamily="34" charset="0"/>
                <a:ea typeface="Inter" pitchFamily="34" charset="-122"/>
              </a:rPr>
              <a:t>các</a:t>
            </a:r>
            <a:r>
              <a:rPr lang="en-US" dirty="0">
                <a:latin typeface="Inter" pitchFamily="34" charset="0"/>
                <a:ea typeface="Inter" pitchFamily="34" charset="-122"/>
              </a:rPr>
              <a:t> </a:t>
            </a:r>
            <a:r>
              <a:rPr lang="en-US" dirty="0" err="1">
                <a:latin typeface="Inter" pitchFamily="34" charset="0"/>
                <a:ea typeface="Inter" pitchFamily="34" charset="-122"/>
              </a:rPr>
              <a:t>khóa</a:t>
            </a:r>
            <a:r>
              <a:rPr lang="en-US" dirty="0">
                <a:latin typeface="Inter" pitchFamily="34" charset="0"/>
                <a:ea typeface="Inter" pitchFamily="34" charset="-122"/>
              </a:rPr>
              <a:t> AI/ML </a:t>
            </a:r>
            <a:r>
              <a:rPr lang="vi-VN" dirty="0">
                <a:latin typeface="Inter" pitchFamily="34" charset="0"/>
                <a:ea typeface="Inter" pitchFamily="34" charset="-122"/>
              </a:rPr>
              <a:t>do </a:t>
            </a:r>
            <a:r>
              <a:rPr lang="en-US" dirty="0">
                <a:latin typeface="Inter" pitchFamily="34" charset="0"/>
                <a:ea typeface="Inter" pitchFamily="34" charset="-122"/>
              </a:rPr>
              <a:t>SLB</a:t>
            </a:r>
            <a:r>
              <a:rPr lang="vi-VN" dirty="0">
                <a:latin typeface="Inter" pitchFamily="34" charset="0"/>
                <a:ea typeface="Inter" pitchFamily="34" charset="-122"/>
              </a:rPr>
              <a:t> tổ chức nghiên cứu áp dụng mô hình AI/ML để tự động hóa việc xác định đứt gãy/đới nứt nẻ cho một khu vực nhỏ trong lô 16/1-15.</a:t>
            </a:r>
            <a:endParaRPr lang="en-US" dirty="0">
              <a:latin typeface="Inter" pitchFamily="34" charset="0"/>
              <a:ea typeface="Inter" pitchFamily="34" charset="-122"/>
            </a:endParaRPr>
          </a:p>
          <a:p>
            <a:pPr marL="342900" indent="-342900">
              <a:lnSpc>
                <a:spcPts val="2600"/>
              </a:lnSpc>
              <a:buSzPct val="100000"/>
              <a:buFontTx/>
              <a:buChar char="•"/>
            </a:pPr>
            <a:endParaRPr lang="en-US" dirty="0">
              <a:latin typeface="Inter" pitchFamily="34" charset="0"/>
              <a:ea typeface="Inter" pitchFamily="34" charset="-122"/>
            </a:endParaRPr>
          </a:p>
          <a:p>
            <a:pPr marL="342900" indent="-342900">
              <a:lnSpc>
                <a:spcPts val="2600"/>
              </a:lnSpc>
              <a:buSzPct val="100000"/>
              <a:buFontTx/>
              <a:buChar char="•"/>
            </a:pPr>
            <a:endParaRPr lang="en-US" dirty="0">
              <a:latin typeface="Inter" pitchFamily="34" charset="0"/>
              <a:ea typeface="Inter" pitchFamily="34" charset="-122"/>
            </a:endParaRPr>
          </a:p>
          <a:p>
            <a:pPr marL="342900" indent="-342900" algn="l">
              <a:lnSpc>
                <a:spcPts val="2600"/>
              </a:lnSpc>
              <a:buSzPct val="100000"/>
              <a:buChar char="•"/>
            </a:pPr>
            <a:endParaRPr lang="en-US" dirty="0"/>
          </a:p>
        </p:txBody>
      </p:sp>
      <p:sp>
        <p:nvSpPr>
          <p:cNvPr id="25" name="Text 8">
            <a:extLst>
              <a:ext uri="{FF2B5EF4-FFF2-40B4-BE49-F238E27FC236}">
                <a16:creationId xmlns:a16="http://schemas.microsoft.com/office/drawing/2014/main" id="{76D48CC4-6B94-C316-842E-BE40327DBDB8}"/>
              </a:ext>
            </a:extLst>
          </p:cNvPr>
          <p:cNvSpPr/>
          <p:nvPr/>
        </p:nvSpPr>
        <p:spPr>
          <a:xfrm>
            <a:off x="2376856" y="5682075"/>
            <a:ext cx="3111222" cy="388858"/>
          </a:xfrm>
          <a:prstGeom prst="rect">
            <a:avLst/>
          </a:prstGeom>
          <a:noFill/>
          <a:ln/>
        </p:spPr>
        <p:txBody>
          <a:bodyPr wrap="none" lIns="0" tIns="0" rIns="0" bIns="0" rtlCol="0" anchor="t"/>
          <a:lstStyle/>
          <a:p>
            <a:pPr marL="0" indent="0" algn="l">
              <a:lnSpc>
                <a:spcPts val="3050"/>
              </a:lnSpc>
              <a:buNone/>
            </a:pPr>
            <a:r>
              <a:rPr lang="en-US" sz="2400" b="1" dirty="0">
                <a:latin typeface="Inter Bold" pitchFamily="34" charset="0"/>
                <a:ea typeface="Inter Bold" pitchFamily="34" charset="-122"/>
                <a:cs typeface="Inter Bold" pitchFamily="34" charset="-120"/>
              </a:rPr>
              <a:t>Nhiệm vụ </a:t>
            </a:r>
            <a:r>
              <a:rPr lang="en-US" sz="2400" b="1" dirty="0" err="1">
                <a:latin typeface="Inter Bold" pitchFamily="34" charset="0"/>
                <a:ea typeface="Inter Bold" pitchFamily="34" charset="-122"/>
                <a:cs typeface="Inter Bold" pitchFamily="34" charset="-120"/>
              </a:rPr>
              <a:t>trọng</a:t>
            </a:r>
            <a:r>
              <a:rPr lang="en-US" sz="2400" b="1" dirty="0">
                <a:latin typeface="Inter Bold" pitchFamily="34" charset="0"/>
                <a:ea typeface="Inter Bold" pitchFamily="34" charset="-122"/>
                <a:cs typeface="Inter Bold" pitchFamily="34" charset="-120"/>
              </a:rPr>
              <a:t> </a:t>
            </a:r>
            <a:r>
              <a:rPr lang="en-US" sz="2400" b="1" dirty="0" err="1">
                <a:latin typeface="Inter Bold" pitchFamily="34" charset="0"/>
                <a:ea typeface="Inter Bold" pitchFamily="34" charset="-122"/>
                <a:cs typeface="Inter Bold" pitchFamily="34" charset="-120"/>
              </a:rPr>
              <a:t>tâm</a:t>
            </a:r>
            <a:r>
              <a:rPr lang="en-US" sz="2400" b="1" dirty="0">
                <a:latin typeface="Inter Bold" pitchFamily="34" charset="0"/>
                <a:ea typeface="Inter Bold" pitchFamily="34" charset="-122"/>
                <a:cs typeface="Inter Bold" pitchFamily="34" charset="-120"/>
              </a:rPr>
              <a:t>:</a:t>
            </a:r>
            <a:endParaRPr lang="en-US" sz="2400" dirty="0"/>
          </a:p>
        </p:txBody>
      </p:sp>
      <p:sp>
        <p:nvSpPr>
          <p:cNvPr id="26" name="Text 9">
            <a:extLst>
              <a:ext uri="{FF2B5EF4-FFF2-40B4-BE49-F238E27FC236}">
                <a16:creationId xmlns:a16="http://schemas.microsoft.com/office/drawing/2014/main" id="{78A27BB4-B33D-F5A9-719D-6B701DA829C2}"/>
              </a:ext>
            </a:extLst>
          </p:cNvPr>
          <p:cNvSpPr/>
          <p:nvPr/>
        </p:nvSpPr>
        <p:spPr>
          <a:xfrm>
            <a:off x="1499534" y="6169560"/>
            <a:ext cx="12240529" cy="1850987"/>
          </a:xfrm>
          <a:prstGeom prst="rect">
            <a:avLst/>
          </a:prstGeom>
          <a:noFill/>
          <a:ln/>
        </p:spPr>
        <p:txBody>
          <a:bodyPr wrap="square" lIns="0" tIns="0" rIns="0" bIns="0" rtlCol="0" anchor="t"/>
          <a:lstStyle/>
          <a:p>
            <a:pPr>
              <a:lnSpc>
                <a:spcPts val="2600"/>
              </a:lnSpc>
              <a:buSzPct val="100000"/>
            </a:pPr>
            <a:r>
              <a:rPr lang="vi-VN" dirty="0">
                <a:latin typeface="Inter" pitchFamily="34" charset="0"/>
                <a:ea typeface="Inter" pitchFamily="34" charset="-122"/>
              </a:rPr>
              <a:t>Trong năm 2026:</a:t>
            </a:r>
          </a:p>
          <a:p>
            <a:pPr marL="342900" indent="-342900">
              <a:lnSpc>
                <a:spcPts val="2600"/>
              </a:lnSpc>
              <a:buSzPct val="100000"/>
              <a:buFontTx/>
              <a:buChar char="•"/>
            </a:pPr>
            <a:r>
              <a:rPr lang="en-US" dirty="0">
                <a:latin typeface="Inter" pitchFamily="34" charset="0"/>
                <a:ea typeface="Inter" pitchFamily="34" charset="-122"/>
              </a:rPr>
              <a:t>Tham </a:t>
            </a:r>
            <a:r>
              <a:rPr lang="en-US" dirty="0" err="1">
                <a:latin typeface="Inter" pitchFamily="34" charset="0"/>
                <a:ea typeface="Inter" pitchFamily="34" charset="-122"/>
              </a:rPr>
              <a:t>gia</a:t>
            </a:r>
            <a:r>
              <a:rPr lang="en-US" dirty="0">
                <a:latin typeface="Inter" pitchFamily="34" charset="0"/>
                <a:ea typeface="Inter" pitchFamily="34" charset="-122"/>
              </a:rPr>
              <a:t> </a:t>
            </a:r>
            <a:r>
              <a:rPr lang="en-US" dirty="0" err="1">
                <a:latin typeface="Inter" pitchFamily="34" charset="0"/>
                <a:ea typeface="Inter" pitchFamily="34" charset="-122"/>
              </a:rPr>
              <a:t>dự</a:t>
            </a:r>
            <a:r>
              <a:rPr lang="en-US" dirty="0">
                <a:latin typeface="Inter" pitchFamily="34" charset="0"/>
                <a:ea typeface="Inter" pitchFamily="34" charset="-122"/>
              </a:rPr>
              <a:t> </a:t>
            </a:r>
            <a:r>
              <a:rPr lang="vi-VN" dirty="0">
                <a:latin typeface="Inter" pitchFamily="34" charset="0"/>
                <a:ea typeface="Inter" pitchFamily="34" charset="-122"/>
              </a:rPr>
              <a:t>án n</a:t>
            </a:r>
            <a:r>
              <a:rPr lang="en-US" dirty="0" err="1">
                <a:latin typeface="Inter" pitchFamily="34" charset="0"/>
                <a:ea typeface="Inter" pitchFamily="34" charset="-122"/>
              </a:rPr>
              <a:t>ghiên</a:t>
            </a:r>
            <a:r>
              <a:rPr lang="en-US" dirty="0">
                <a:latin typeface="Inter" pitchFamily="34" charset="0"/>
                <a:ea typeface="Inter" pitchFamily="34" charset="-122"/>
              </a:rPr>
              <a:t> </a:t>
            </a:r>
            <a:r>
              <a:rPr lang="en-US" dirty="0" err="1">
                <a:latin typeface="Inter" pitchFamily="34" charset="0"/>
                <a:ea typeface="Inter" pitchFamily="34" charset="-122"/>
              </a:rPr>
              <a:t>cứu</a:t>
            </a:r>
            <a:r>
              <a:rPr lang="en-US" dirty="0">
                <a:latin typeface="Inter" pitchFamily="34" charset="0"/>
                <a:ea typeface="Inter" pitchFamily="34" charset="-122"/>
              </a:rPr>
              <a:t> </a:t>
            </a:r>
            <a:r>
              <a:rPr lang="en-US" dirty="0" err="1">
                <a:latin typeface="Inter" pitchFamily="34" charset="0"/>
                <a:ea typeface="Inter" pitchFamily="34" charset="-122"/>
              </a:rPr>
              <a:t>Móng</a:t>
            </a:r>
            <a:r>
              <a:rPr lang="en-US" dirty="0">
                <a:latin typeface="Inter" pitchFamily="34" charset="0"/>
                <a:ea typeface="Inter" pitchFamily="34" charset="-122"/>
              </a:rPr>
              <a:t> </a:t>
            </a:r>
            <a:r>
              <a:rPr lang="en-US" dirty="0" err="1">
                <a:latin typeface="Inter" pitchFamily="34" charset="0"/>
                <a:ea typeface="Inter" pitchFamily="34" charset="-122"/>
              </a:rPr>
              <a:t>nứt</a:t>
            </a:r>
            <a:r>
              <a:rPr lang="en-US" dirty="0">
                <a:latin typeface="Inter" pitchFamily="34" charset="0"/>
                <a:ea typeface="Inter" pitchFamily="34" charset="-122"/>
              </a:rPr>
              <a:t> </a:t>
            </a:r>
            <a:r>
              <a:rPr lang="en-US" dirty="0" err="1">
                <a:latin typeface="Inter" pitchFamily="34" charset="0"/>
                <a:ea typeface="Inter" pitchFamily="34" charset="-122"/>
              </a:rPr>
              <a:t>nẻ</a:t>
            </a:r>
            <a:r>
              <a:rPr lang="en-US" dirty="0">
                <a:latin typeface="Inter" pitchFamily="34" charset="0"/>
                <a:ea typeface="Inter" pitchFamily="34" charset="-122"/>
              </a:rPr>
              <a:t> </a:t>
            </a:r>
            <a:r>
              <a:rPr lang="en-US" dirty="0" err="1">
                <a:latin typeface="Inter" pitchFamily="34" charset="0"/>
                <a:ea typeface="Inter" pitchFamily="34" charset="-122"/>
              </a:rPr>
              <a:t>mỏ</a:t>
            </a:r>
            <a:r>
              <a:rPr lang="en-US" dirty="0">
                <a:latin typeface="Inter" pitchFamily="34" charset="0"/>
                <a:ea typeface="Inter" pitchFamily="34" charset="-122"/>
              </a:rPr>
              <a:t> </a:t>
            </a:r>
            <a:r>
              <a:rPr lang="en-US" dirty="0" err="1">
                <a:latin typeface="Inter" pitchFamily="34" charset="0"/>
                <a:ea typeface="Inter" pitchFamily="34" charset="-122"/>
              </a:rPr>
              <a:t>Kình</a:t>
            </a:r>
            <a:r>
              <a:rPr lang="en-US" dirty="0">
                <a:latin typeface="Inter" pitchFamily="34" charset="0"/>
                <a:ea typeface="Inter" pitchFamily="34" charset="-122"/>
              </a:rPr>
              <a:t> </a:t>
            </a:r>
            <a:r>
              <a:rPr lang="en-US" dirty="0" err="1">
                <a:latin typeface="Inter" pitchFamily="34" charset="0"/>
                <a:ea typeface="Inter" pitchFamily="34" charset="-122"/>
              </a:rPr>
              <a:t>Ngư</a:t>
            </a:r>
            <a:r>
              <a:rPr lang="en-US" dirty="0">
                <a:latin typeface="Inter" pitchFamily="34" charset="0"/>
                <a:ea typeface="Inter" pitchFamily="34" charset="-122"/>
              </a:rPr>
              <a:t> </a:t>
            </a:r>
            <a:r>
              <a:rPr lang="en-US" dirty="0" err="1">
                <a:latin typeface="Inter" pitchFamily="34" charset="0"/>
                <a:ea typeface="Inter" pitchFamily="34" charset="-122"/>
              </a:rPr>
              <a:t>Vàng</a:t>
            </a:r>
            <a:r>
              <a:rPr lang="en-US" dirty="0">
                <a:latin typeface="Inter" pitchFamily="34" charset="0"/>
                <a:ea typeface="Inter" pitchFamily="34" charset="-122"/>
              </a:rPr>
              <a:t> </a:t>
            </a:r>
            <a:r>
              <a:rPr lang="en-US" dirty="0" err="1">
                <a:latin typeface="Inter" pitchFamily="34" charset="0"/>
                <a:ea typeface="Inter" pitchFamily="34" charset="-122"/>
              </a:rPr>
              <a:t>phục</a:t>
            </a:r>
            <a:r>
              <a:rPr lang="en-US" dirty="0">
                <a:latin typeface="Inter" pitchFamily="34" charset="0"/>
                <a:ea typeface="Inter" pitchFamily="34" charset="-122"/>
              </a:rPr>
              <a:t> </a:t>
            </a:r>
            <a:r>
              <a:rPr lang="en-US" dirty="0" err="1">
                <a:latin typeface="Inter" pitchFamily="34" charset="0"/>
                <a:ea typeface="Inter" pitchFamily="34" charset="-122"/>
              </a:rPr>
              <a:t>vụ</a:t>
            </a:r>
            <a:r>
              <a:rPr lang="en-US" dirty="0">
                <a:latin typeface="Inter" pitchFamily="34" charset="0"/>
                <a:ea typeface="Inter" pitchFamily="34" charset="-122"/>
              </a:rPr>
              <a:t> </a:t>
            </a:r>
            <a:r>
              <a:rPr lang="en-US" dirty="0" err="1">
                <a:latin typeface="Inter" pitchFamily="34" charset="0"/>
                <a:ea typeface="Inter" pitchFamily="34" charset="-122"/>
              </a:rPr>
              <a:t>thiết</a:t>
            </a:r>
            <a:r>
              <a:rPr lang="en-US" dirty="0">
                <a:latin typeface="Inter" pitchFamily="34" charset="0"/>
                <a:ea typeface="Inter" pitchFamily="34" charset="-122"/>
              </a:rPr>
              <a:t> </a:t>
            </a:r>
            <a:r>
              <a:rPr lang="en-US" dirty="0" err="1">
                <a:latin typeface="Inter" pitchFamily="34" charset="0"/>
                <a:ea typeface="Inter" pitchFamily="34" charset="-122"/>
              </a:rPr>
              <a:t>kế</a:t>
            </a:r>
            <a:r>
              <a:rPr lang="en-US" dirty="0">
                <a:latin typeface="Inter" pitchFamily="34" charset="0"/>
                <a:ea typeface="Inter" pitchFamily="34" charset="-122"/>
              </a:rPr>
              <a:t> </a:t>
            </a:r>
            <a:r>
              <a:rPr lang="en-US" dirty="0" err="1">
                <a:latin typeface="Inter" pitchFamily="34" charset="0"/>
                <a:ea typeface="Inter" pitchFamily="34" charset="-122"/>
              </a:rPr>
              <a:t>giếng</a:t>
            </a:r>
            <a:r>
              <a:rPr lang="en-US" dirty="0">
                <a:latin typeface="Inter" pitchFamily="34" charset="0"/>
                <a:ea typeface="Inter" pitchFamily="34" charset="-122"/>
              </a:rPr>
              <a:t> </a:t>
            </a:r>
            <a:r>
              <a:rPr lang="en-US" dirty="0" err="1">
                <a:latin typeface="Inter" pitchFamily="34" charset="0"/>
                <a:ea typeface="Inter" pitchFamily="34" charset="-122"/>
              </a:rPr>
              <a:t>khoan</a:t>
            </a:r>
            <a:r>
              <a:rPr lang="en-US" dirty="0">
                <a:latin typeface="Inter" pitchFamily="34" charset="0"/>
                <a:ea typeface="Inter" pitchFamily="34" charset="-122"/>
              </a:rPr>
              <a:t> </a:t>
            </a:r>
            <a:r>
              <a:rPr lang="en-US" dirty="0" err="1">
                <a:latin typeface="Inter" pitchFamily="34" charset="0"/>
                <a:ea typeface="Inter" pitchFamily="34" charset="-122"/>
              </a:rPr>
              <a:t>phát</a:t>
            </a:r>
            <a:r>
              <a:rPr lang="en-US" dirty="0">
                <a:latin typeface="Inter" pitchFamily="34" charset="0"/>
                <a:ea typeface="Inter" pitchFamily="34" charset="-122"/>
              </a:rPr>
              <a:t> </a:t>
            </a:r>
            <a:r>
              <a:rPr lang="vi-VN" dirty="0">
                <a:latin typeface="Inter" pitchFamily="34" charset="0"/>
                <a:ea typeface="Inter" pitchFamily="34" charset="-122"/>
              </a:rPr>
              <a:t>triển.</a:t>
            </a:r>
            <a:endParaRPr lang="en-US" dirty="0">
              <a:latin typeface="Inter" pitchFamily="34" charset="0"/>
              <a:ea typeface="Inter" pitchFamily="34" charset="-122"/>
            </a:endParaRPr>
          </a:p>
          <a:p>
            <a:pPr marL="342900" indent="-342900">
              <a:lnSpc>
                <a:spcPts val="2600"/>
              </a:lnSpc>
              <a:buSzPct val="100000"/>
              <a:buFontTx/>
              <a:buChar char="•"/>
            </a:pPr>
            <a:r>
              <a:rPr lang="en-US" dirty="0" err="1">
                <a:latin typeface="Inter" pitchFamily="34" charset="0"/>
                <a:ea typeface="Inter" pitchFamily="34" charset="-122"/>
              </a:rPr>
              <a:t>Nghiên</a:t>
            </a:r>
            <a:r>
              <a:rPr lang="en-US" dirty="0">
                <a:latin typeface="Inter" pitchFamily="34" charset="0"/>
                <a:ea typeface="Inter" pitchFamily="34" charset="-122"/>
              </a:rPr>
              <a:t> </a:t>
            </a:r>
            <a:r>
              <a:rPr lang="en-US" dirty="0" err="1">
                <a:latin typeface="Inter" pitchFamily="34" charset="0"/>
                <a:ea typeface="Inter" pitchFamily="34" charset="-122"/>
              </a:rPr>
              <a:t>cứu</a:t>
            </a:r>
            <a:r>
              <a:rPr lang="en-US" dirty="0">
                <a:latin typeface="Inter" pitchFamily="34" charset="0"/>
                <a:ea typeface="Inter" pitchFamily="34" charset="-122"/>
              </a:rPr>
              <a:t> </a:t>
            </a:r>
            <a:r>
              <a:rPr lang="en-US" dirty="0" err="1">
                <a:latin typeface="Inter" pitchFamily="34" charset="0"/>
                <a:ea typeface="Inter" pitchFamily="34" charset="-122"/>
              </a:rPr>
              <a:t>khả</a:t>
            </a:r>
            <a:r>
              <a:rPr lang="en-US" dirty="0">
                <a:latin typeface="Inter" pitchFamily="34" charset="0"/>
                <a:ea typeface="Inter" pitchFamily="34" charset="-122"/>
              </a:rPr>
              <a:t> </a:t>
            </a:r>
            <a:r>
              <a:rPr lang="en-US" dirty="0" err="1">
                <a:latin typeface="Inter" pitchFamily="34" charset="0"/>
                <a:ea typeface="Inter" pitchFamily="34" charset="-122"/>
              </a:rPr>
              <a:t>năng</a:t>
            </a:r>
            <a:r>
              <a:rPr lang="en-US" dirty="0">
                <a:latin typeface="Inter" pitchFamily="34" charset="0"/>
                <a:ea typeface="Inter" pitchFamily="34" charset="-122"/>
              </a:rPr>
              <a:t> </a:t>
            </a:r>
            <a:r>
              <a:rPr lang="en-US" dirty="0" err="1">
                <a:latin typeface="Inter" pitchFamily="34" charset="0"/>
                <a:ea typeface="Inter" pitchFamily="34" charset="-122"/>
              </a:rPr>
              <a:t>chắn</a:t>
            </a:r>
            <a:r>
              <a:rPr lang="en-US" dirty="0">
                <a:latin typeface="Inter" pitchFamily="34" charset="0"/>
                <a:ea typeface="Inter" pitchFamily="34" charset="-122"/>
              </a:rPr>
              <a:t> </a:t>
            </a:r>
            <a:r>
              <a:rPr lang="en-US" dirty="0" err="1">
                <a:latin typeface="Inter" pitchFamily="34" charset="0"/>
                <a:ea typeface="Inter" pitchFamily="34" charset="-122"/>
              </a:rPr>
              <a:t>đứt</a:t>
            </a:r>
            <a:r>
              <a:rPr lang="en-US" dirty="0">
                <a:latin typeface="Inter" pitchFamily="34" charset="0"/>
                <a:ea typeface="Inter" pitchFamily="34" charset="-122"/>
              </a:rPr>
              <a:t> </a:t>
            </a:r>
            <a:r>
              <a:rPr lang="en-US" dirty="0" err="1">
                <a:latin typeface="Inter" pitchFamily="34" charset="0"/>
                <a:ea typeface="Inter" pitchFamily="34" charset="-122"/>
              </a:rPr>
              <a:t>gãy</a:t>
            </a:r>
            <a:r>
              <a:rPr lang="en-US" dirty="0">
                <a:latin typeface="Inter" pitchFamily="34" charset="0"/>
                <a:ea typeface="Inter" pitchFamily="34" charset="-122"/>
              </a:rPr>
              <a:t> </a:t>
            </a:r>
            <a:r>
              <a:rPr lang="en-US" dirty="0" err="1">
                <a:latin typeface="Inter" pitchFamily="34" charset="0"/>
                <a:ea typeface="Inter" pitchFamily="34" charset="-122"/>
              </a:rPr>
              <a:t>lô</a:t>
            </a:r>
            <a:r>
              <a:rPr lang="en-US" dirty="0">
                <a:latin typeface="Inter" pitchFamily="34" charset="0"/>
                <a:ea typeface="Inter" pitchFamily="34" charset="-122"/>
              </a:rPr>
              <a:t> 05-</a:t>
            </a:r>
            <a:r>
              <a:rPr lang="vi-VN" dirty="0">
                <a:latin typeface="Inter" pitchFamily="34" charset="0"/>
                <a:ea typeface="Inter" pitchFamily="34" charset="-122"/>
              </a:rPr>
              <a:t>1a.</a:t>
            </a:r>
          </a:p>
          <a:p>
            <a:pPr marL="342900" indent="-342900">
              <a:lnSpc>
                <a:spcPts val="2600"/>
              </a:lnSpc>
              <a:buSzPct val="100000"/>
              <a:buFontTx/>
              <a:buChar char="•"/>
            </a:pPr>
            <a:r>
              <a:rPr lang="en-US" dirty="0">
                <a:latin typeface="Inter" pitchFamily="34" charset="0"/>
                <a:ea typeface="Inter" pitchFamily="34" charset="-122"/>
              </a:rPr>
              <a:t>Minh </a:t>
            </a:r>
            <a:r>
              <a:rPr lang="en-US" dirty="0" err="1">
                <a:latin typeface="Inter" pitchFamily="34" charset="0"/>
                <a:ea typeface="Inter" pitchFamily="34" charset="-122"/>
              </a:rPr>
              <a:t>giải</a:t>
            </a:r>
            <a:r>
              <a:rPr lang="en-US" dirty="0">
                <a:latin typeface="Inter" pitchFamily="34" charset="0"/>
                <a:ea typeface="Inter" pitchFamily="34" charset="-122"/>
              </a:rPr>
              <a:t> </a:t>
            </a:r>
            <a:r>
              <a:rPr lang="en-US" dirty="0" err="1">
                <a:latin typeface="Inter" pitchFamily="34" charset="0"/>
                <a:ea typeface="Inter" pitchFamily="34" charset="-122"/>
              </a:rPr>
              <a:t>cấu</a:t>
            </a:r>
            <a:r>
              <a:rPr lang="en-US" dirty="0">
                <a:latin typeface="Inter" pitchFamily="34" charset="0"/>
                <a:ea typeface="Inter" pitchFamily="34" charset="-122"/>
              </a:rPr>
              <a:t> </a:t>
            </a:r>
            <a:r>
              <a:rPr lang="en-US" dirty="0" err="1">
                <a:latin typeface="Inter" pitchFamily="34" charset="0"/>
                <a:ea typeface="Inter" pitchFamily="34" charset="-122"/>
              </a:rPr>
              <a:t>trúc</a:t>
            </a:r>
            <a:r>
              <a:rPr lang="en-US" dirty="0">
                <a:latin typeface="Inter" pitchFamily="34" charset="0"/>
                <a:ea typeface="Inter" pitchFamily="34" charset="-122"/>
              </a:rPr>
              <a:t> </a:t>
            </a:r>
            <a:r>
              <a:rPr lang="en-US" dirty="0" err="1">
                <a:latin typeface="Inter" pitchFamily="34" charset="0"/>
                <a:ea typeface="Inter" pitchFamily="34" charset="-122"/>
              </a:rPr>
              <a:t>toàn</a:t>
            </a:r>
            <a:r>
              <a:rPr lang="en-US" dirty="0">
                <a:latin typeface="Inter" pitchFamily="34" charset="0"/>
                <a:ea typeface="Inter" pitchFamily="34" charset="-122"/>
              </a:rPr>
              <a:t> </a:t>
            </a:r>
            <a:r>
              <a:rPr lang="en-US" dirty="0" err="1">
                <a:latin typeface="Inter" pitchFamily="34" charset="0"/>
                <a:ea typeface="Inter" pitchFamily="34" charset="-122"/>
              </a:rPr>
              <a:t>lô</a:t>
            </a:r>
            <a:r>
              <a:rPr lang="en-US" dirty="0">
                <a:latin typeface="Inter" pitchFamily="34" charset="0"/>
                <a:ea typeface="Inter" pitchFamily="34" charset="-122"/>
              </a:rPr>
              <a:t> 01-02/10 </a:t>
            </a:r>
            <a:r>
              <a:rPr lang="en-US" dirty="0" err="1">
                <a:latin typeface="Inter" pitchFamily="34" charset="0"/>
                <a:ea typeface="Inter" pitchFamily="34" charset="-122"/>
              </a:rPr>
              <a:t>sau</a:t>
            </a:r>
            <a:r>
              <a:rPr lang="en-US" dirty="0">
                <a:latin typeface="Inter" pitchFamily="34" charset="0"/>
                <a:ea typeface="Inter" pitchFamily="34" charset="-122"/>
              </a:rPr>
              <a:t> </a:t>
            </a:r>
            <a:r>
              <a:rPr lang="en-US" dirty="0" err="1">
                <a:latin typeface="Inter" pitchFamily="34" charset="0"/>
                <a:ea typeface="Inter" pitchFamily="34" charset="-122"/>
              </a:rPr>
              <a:t>khi</a:t>
            </a:r>
            <a:r>
              <a:rPr lang="en-US" dirty="0">
                <a:latin typeface="Inter" pitchFamily="34" charset="0"/>
                <a:ea typeface="Inter" pitchFamily="34" charset="-122"/>
              </a:rPr>
              <a:t> </a:t>
            </a:r>
            <a:r>
              <a:rPr lang="en-US" dirty="0" err="1">
                <a:latin typeface="Inter" pitchFamily="34" charset="0"/>
                <a:ea typeface="Inter" pitchFamily="34" charset="-122"/>
              </a:rPr>
              <a:t>có</a:t>
            </a:r>
            <a:r>
              <a:rPr lang="en-US" dirty="0">
                <a:latin typeface="Inter" pitchFamily="34" charset="0"/>
                <a:ea typeface="Inter" pitchFamily="34" charset="-122"/>
              </a:rPr>
              <a:t> </a:t>
            </a:r>
            <a:r>
              <a:rPr lang="en-US" dirty="0" err="1">
                <a:latin typeface="Inter" pitchFamily="34" charset="0"/>
                <a:ea typeface="Inter" pitchFamily="34" charset="-122"/>
              </a:rPr>
              <a:t>tài</a:t>
            </a:r>
            <a:r>
              <a:rPr lang="en-US" dirty="0">
                <a:latin typeface="Inter" pitchFamily="34" charset="0"/>
                <a:ea typeface="Inter" pitchFamily="34" charset="-122"/>
              </a:rPr>
              <a:t> </a:t>
            </a:r>
            <a:r>
              <a:rPr lang="en-US" dirty="0" err="1">
                <a:latin typeface="Inter" pitchFamily="34" charset="0"/>
                <a:ea typeface="Inter" pitchFamily="34" charset="-122"/>
              </a:rPr>
              <a:t>liệu</a:t>
            </a:r>
            <a:r>
              <a:rPr lang="en-US" dirty="0">
                <a:latin typeface="Inter" pitchFamily="34" charset="0"/>
                <a:ea typeface="Inter" pitchFamily="34" charset="-122"/>
              </a:rPr>
              <a:t> </a:t>
            </a:r>
            <a:r>
              <a:rPr lang="en-US" dirty="0" err="1">
                <a:latin typeface="Inter" pitchFamily="34" charset="0"/>
                <a:ea typeface="Inter" pitchFamily="34" charset="-122"/>
              </a:rPr>
              <a:t>tái</a:t>
            </a:r>
            <a:r>
              <a:rPr lang="en-US" dirty="0">
                <a:latin typeface="Inter" pitchFamily="34" charset="0"/>
                <a:ea typeface="Inter" pitchFamily="34" charset="-122"/>
              </a:rPr>
              <a:t> </a:t>
            </a:r>
            <a:r>
              <a:rPr lang="en-US" dirty="0" err="1">
                <a:latin typeface="Inter" pitchFamily="34" charset="0"/>
                <a:ea typeface="Inter" pitchFamily="34" charset="-122"/>
              </a:rPr>
              <a:t>xử</a:t>
            </a:r>
            <a:r>
              <a:rPr lang="en-US" dirty="0">
                <a:latin typeface="Inter" pitchFamily="34" charset="0"/>
                <a:ea typeface="Inter" pitchFamily="34" charset="-122"/>
              </a:rPr>
              <a:t> </a:t>
            </a:r>
            <a:r>
              <a:rPr lang="en-US" dirty="0" err="1">
                <a:latin typeface="Inter" pitchFamily="34" charset="0"/>
                <a:ea typeface="Inter" pitchFamily="34" charset="-122"/>
              </a:rPr>
              <a:t>lý</a:t>
            </a:r>
            <a:r>
              <a:rPr lang="en-US" dirty="0">
                <a:latin typeface="Inter" pitchFamily="34" charset="0"/>
                <a:ea typeface="Inter" pitchFamily="34" charset="-122"/>
              </a:rPr>
              <a:t>.</a:t>
            </a:r>
          </a:p>
          <a:p>
            <a:pPr marL="342900" indent="-342900">
              <a:lnSpc>
                <a:spcPts val="2600"/>
              </a:lnSpc>
              <a:buSzPct val="100000"/>
              <a:buFontTx/>
              <a:buChar char="•"/>
            </a:pPr>
            <a:r>
              <a:rPr lang="en-US" dirty="0">
                <a:latin typeface="Inter" pitchFamily="34" charset="0"/>
                <a:ea typeface="Inter" pitchFamily="34" charset="-122"/>
              </a:rPr>
              <a:t>Minh </a:t>
            </a:r>
            <a:r>
              <a:rPr lang="en-US" dirty="0" err="1">
                <a:latin typeface="Inter" pitchFamily="34" charset="0"/>
                <a:ea typeface="Inter" pitchFamily="34" charset="-122"/>
              </a:rPr>
              <a:t>giải</a:t>
            </a:r>
            <a:r>
              <a:rPr lang="en-US" dirty="0">
                <a:latin typeface="Inter" pitchFamily="34" charset="0"/>
                <a:ea typeface="Inter" pitchFamily="34" charset="-122"/>
              </a:rPr>
              <a:t> </a:t>
            </a:r>
            <a:r>
              <a:rPr lang="en-US" dirty="0" err="1">
                <a:latin typeface="Inter" pitchFamily="34" charset="0"/>
                <a:ea typeface="Inter" pitchFamily="34" charset="-122"/>
              </a:rPr>
              <a:t>cấu</a:t>
            </a:r>
            <a:r>
              <a:rPr lang="en-US" dirty="0">
                <a:latin typeface="Inter" pitchFamily="34" charset="0"/>
                <a:ea typeface="Inter" pitchFamily="34" charset="-122"/>
              </a:rPr>
              <a:t> </a:t>
            </a:r>
            <a:r>
              <a:rPr lang="en-US" dirty="0" err="1">
                <a:latin typeface="Inter" pitchFamily="34" charset="0"/>
                <a:ea typeface="Inter" pitchFamily="34" charset="-122"/>
              </a:rPr>
              <a:t>trúc</a:t>
            </a:r>
            <a:r>
              <a:rPr lang="en-US" dirty="0">
                <a:latin typeface="Inter" pitchFamily="34" charset="0"/>
                <a:ea typeface="Inter" pitchFamily="34" charset="-122"/>
              </a:rPr>
              <a:t> </a:t>
            </a:r>
            <a:r>
              <a:rPr lang="en-US" dirty="0" err="1">
                <a:latin typeface="Inter" pitchFamily="34" charset="0"/>
                <a:ea typeface="Inter" pitchFamily="34" charset="-122"/>
              </a:rPr>
              <a:t>toàn</a:t>
            </a:r>
            <a:r>
              <a:rPr lang="en-US" dirty="0">
                <a:latin typeface="Inter" pitchFamily="34" charset="0"/>
                <a:ea typeface="Inter" pitchFamily="34" charset="-122"/>
              </a:rPr>
              <a:t> </a:t>
            </a:r>
            <a:r>
              <a:rPr lang="en-US" dirty="0" err="1">
                <a:latin typeface="Inter" pitchFamily="34" charset="0"/>
                <a:ea typeface="Inter" pitchFamily="34" charset="-122"/>
              </a:rPr>
              <a:t>lô</a:t>
            </a:r>
            <a:r>
              <a:rPr lang="en-US" dirty="0">
                <a:latin typeface="Inter" pitchFamily="34" charset="0"/>
                <a:ea typeface="Inter" pitchFamily="34" charset="-122"/>
              </a:rPr>
              <a:t> 46/13 </a:t>
            </a:r>
            <a:r>
              <a:rPr lang="en-US" dirty="0" err="1">
                <a:latin typeface="Inter" pitchFamily="34" charset="0"/>
                <a:ea typeface="Inter" pitchFamily="34" charset="-122"/>
              </a:rPr>
              <a:t>sau</a:t>
            </a:r>
            <a:r>
              <a:rPr lang="en-US" dirty="0">
                <a:latin typeface="Inter" pitchFamily="34" charset="0"/>
                <a:ea typeface="Inter" pitchFamily="34" charset="-122"/>
              </a:rPr>
              <a:t> </a:t>
            </a:r>
            <a:r>
              <a:rPr lang="en-US" dirty="0" err="1">
                <a:latin typeface="Inter" pitchFamily="34" charset="0"/>
                <a:ea typeface="Inter" pitchFamily="34" charset="-122"/>
              </a:rPr>
              <a:t>khi</a:t>
            </a:r>
            <a:r>
              <a:rPr lang="en-US" dirty="0">
                <a:latin typeface="Inter" pitchFamily="34" charset="0"/>
                <a:ea typeface="Inter" pitchFamily="34" charset="-122"/>
              </a:rPr>
              <a:t> </a:t>
            </a:r>
            <a:r>
              <a:rPr lang="en-US" dirty="0" err="1">
                <a:latin typeface="Inter" pitchFamily="34" charset="0"/>
                <a:ea typeface="Inter" pitchFamily="34" charset="-122"/>
              </a:rPr>
              <a:t>có</a:t>
            </a:r>
            <a:r>
              <a:rPr lang="en-US" dirty="0">
                <a:latin typeface="Inter" pitchFamily="34" charset="0"/>
                <a:ea typeface="Inter" pitchFamily="34" charset="-122"/>
              </a:rPr>
              <a:t> </a:t>
            </a:r>
            <a:r>
              <a:rPr lang="en-US" dirty="0" err="1">
                <a:latin typeface="Inter" pitchFamily="34" charset="0"/>
                <a:ea typeface="Inter" pitchFamily="34" charset="-122"/>
              </a:rPr>
              <a:t>tài</a:t>
            </a:r>
            <a:r>
              <a:rPr lang="en-US" dirty="0">
                <a:latin typeface="Inter" pitchFamily="34" charset="0"/>
                <a:ea typeface="Inter" pitchFamily="34" charset="-122"/>
              </a:rPr>
              <a:t> </a:t>
            </a:r>
            <a:r>
              <a:rPr lang="en-US" dirty="0" err="1">
                <a:latin typeface="Inter" pitchFamily="34" charset="0"/>
                <a:ea typeface="Inter" pitchFamily="34" charset="-122"/>
              </a:rPr>
              <a:t>liệu</a:t>
            </a:r>
            <a:r>
              <a:rPr lang="en-US" dirty="0">
                <a:latin typeface="Inter" pitchFamily="34" charset="0"/>
                <a:ea typeface="Inter" pitchFamily="34" charset="-122"/>
              </a:rPr>
              <a:t> </a:t>
            </a:r>
            <a:r>
              <a:rPr lang="en-US" dirty="0" err="1">
                <a:latin typeface="Inter" pitchFamily="34" charset="0"/>
                <a:ea typeface="Inter" pitchFamily="34" charset="-122"/>
              </a:rPr>
              <a:t>tái</a:t>
            </a:r>
            <a:r>
              <a:rPr lang="en-US" dirty="0">
                <a:latin typeface="Inter" pitchFamily="34" charset="0"/>
                <a:ea typeface="Inter" pitchFamily="34" charset="-122"/>
              </a:rPr>
              <a:t> </a:t>
            </a:r>
            <a:r>
              <a:rPr lang="en-US" dirty="0" err="1">
                <a:latin typeface="Inter" pitchFamily="34" charset="0"/>
                <a:ea typeface="Inter" pitchFamily="34" charset="-122"/>
              </a:rPr>
              <a:t>xử</a:t>
            </a:r>
            <a:r>
              <a:rPr lang="en-US" dirty="0">
                <a:latin typeface="Inter" pitchFamily="34" charset="0"/>
                <a:ea typeface="Inter" pitchFamily="34" charset="-122"/>
              </a:rPr>
              <a:t> </a:t>
            </a:r>
            <a:r>
              <a:rPr lang="en-US" dirty="0" err="1">
                <a:latin typeface="Inter" pitchFamily="34" charset="0"/>
                <a:ea typeface="Inter" pitchFamily="34" charset="-122"/>
              </a:rPr>
              <a:t>lý</a:t>
            </a:r>
            <a:r>
              <a:rPr lang="en-US" dirty="0">
                <a:latin typeface="Inter" pitchFamily="34" charset="0"/>
                <a:ea typeface="Inter" pitchFamily="34" charset="-122"/>
              </a:rPr>
              <a:t>.</a:t>
            </a:r>
          </a:p>
          <a:p>
            <a:pPr marL="342900" indent="-342900">
              <a:lnSpc>
                <a:spcPts val="2600"/>
              </a:lnSpc>
              <a:buSzPct val="100000"/>
              <a:buFontTx/>
              <a:buChar char="•"/>
            </a:pPr>
            <a:endParaRPr lang="en-US" dirty="0">
              <a:latin typeface="Inter" pitchFamily="34" charset="0"/>
              <a:ea typeface="Inter" pitchFamily="34" charset="-122"/>
            </a:endParaRPr>
          </a:p>
          <a:p>
            <a:pPr>
              <a:lnSpc>
                <a:spcPts val="2600"/>
              </a:lnSpc>
              <a:buSzPct val="100000"/>
            </a:pPr>
            <a:endParaRPr lang="en-US" dirty="0"/>
          </a:p>
          <a:p>
            <a:pPr marL="342900" indent="-342900" algn="l">
              <a:lnSpc>
                <a:spcPts val="2600"/>
              </a:lnSpc>
              <a:buSzPct val="100000"/>
              <a:buChar char="•"/>
            </a:pPr>
            <a:endParaRPr lang="en-US" dirty="0"/>
          </a:p>
        </p:txBody>
      </p:sp>
    </p:spTree>
    <p:extLst>
      <p:ext uri="{BB962C8B-B14F-4D97-AF65-F5344CB8AC3E}">
        <p14:creationId xmlns:p14="http://schemas.microsoft.com/office/powerpoint/2010/main" val="834778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7" name="AutoShape 1">
            <a:extLst>
              <a:ext uri="{FF2B5EF4-FFF2-40B4-BE49-F238E27FC236}">
                <a16:creationId xmlns:a16="http://schemas.microsoft.com/office/drawing/2014/main" id="{E2F7547D-D3B5-EF66-7ACC-DCD33EA63AEC}"/>
              </a:ext>
            </a:extLst>
          </p:cNvPr>
          <p:cNvSpPr>
            <a:spLocks/>
          </p:cNvSpPr>
          <p:nvPr/>
        </p:nvSpPr>
        <p:spPr bwMode="auto">
          <a:xfrm>
            <a:off x="1499533" y="174763"/>
            <a:ext cx="12943667" cy="945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endParaRPr kumimoji="0" lang="vi-VN" sz="2800" b="1" i="0" u="none" strike="noStrike" kern="1200" cap="all"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2" name="Text 0"/>
          <p:cNvSpPr/>
          <p:nvPr/>
        </p:nvSpPr>
        <p:spPr>
          <a:xfrm>
            <a:off x="3409367" y="264062"/>
            <a:ext cx="9123998" cy="708779"/>
          </a:xfrm>
          <a:prstGeom prst="rect">
            <a:avLst/>
          </a:prstGeom>
          <a:noFill/>
          <a:ln/>
        </p:spPr>
        <p:txBody>
          <a:bodyPr wrap="none" lIns="0" tIns="0" rIns="0" bIns="0" rtlCol="0" anchor="t"/>
          <a:lstStyle/>
          <a:p>
            <a:pPr marL="0" indent="0" algn="ctr">
              <a:lnSpc>
                <a:spcPts val="5550"/>
              </a:lnSpc>
              <a:buNone/>
            </a:pPr>
            <a:r>
              <a:rPr lang="en-US" sz="4450" b="1" dirty="0">
                <a:solidFill>
                  <a:schemeClr val="bg1"/>
                </a:solidFill>
                <a:latin typeface="Inter Bold" pitchFamily="34" charset="0"/>
                <a:ea typeface="Inter Bold" pitchFamily="34" charset="-122"/>
                <a:cs typeface="Inter Bold" pitchFamily="34" charset="-120"/>
              </a:rPr>
              <a:t>Năng lực nhảy bậc &amp; Giá trị tạo ra</a:t>
            </a:r>
            <a:endParaRPr lang="en-US" sz="4450" dirty="0">
              <a:solidFill>
                <a:schemeClr val="bg1"/>
              </a:solidFill>
            </a:endParaRPr>
          </a:p>
        </p:txBody>
      </p:sp>
      <p:sp>
        <p:nvSpPr>
          <p:cNvPr id="3" name="Text 1"/>
          <p:cNvSpPr/>
          <p:nvPr/>
        </p:nvSpPr>
        <p:spPr>
          <a:xfrm>
            <a:off x="786171" y="1611565"/>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Năng lực nhảy bậc:</a:t>
            </a:r>
            <a:endParaRPr lang="en-US" sz="2650" dirty="0"/>
          </a:p>
        </p:txBody>
      </p:sp>
      <p:sp>
        <p:nvSpPr>
          <p:cNvPr id="4" name="Text 2"/>
          <p:cNvSpPr/>
          <p:nvPr/>
        </p:nvSpPr>
        <p:spPr>
          <a:xfrm>
            <a:off x="786171" y="2263670"/>
            <a:ext cx="5775403" cy="2131696"/>
          </a:xfrm>
          <a:prstGeom prst="rect">
            <a:avLst/>
          </a:prstGeom>
          <a:noFill/>
          <a:ln/>
        </p:spPr>
        <p:txBody>
          <a:bodyPr wrap="none" lIns="0" tIns="0" rIns="0" bIns="0" rtlCol="0" anchor="t"/>
          <a:lstStyle/>
          <a:p>
            <a:pPr marL="342900" indent="-342900" algn="l">
              <a:lnSpc>
                <a:spcPts val="2850"/>
              </a:lnSpc>
              <a:buSzPct val="100000"/>
              <a:buChar char="•"/>
            </a:pPr>
            <a:r>
              <a:rPr lang="vi-VN" dirty="0">
                <a:solidFill>
                  <a:srgbClr val="020202"/>
                </a:solidFill>
                <a:latin typeface="Inter" pitchFamily="34" charset="0"/>
                <a:ea typeface="Inter" pitchFamily="34" charset="-122"/>
                <a:cs typeface="Inter" pitchFamily="34" charset="-120"/>
              </a:rPr>
              <a:t>Thực hiện độc lập toàn bộ quy trình minh giải móng </a:t>
            </a:r>
          </a:p>
          <a:p>
            <a:pPr algn="l">
              <a:lnSpc>
                <a:spcPts val="2850"/>
              </a:lnSpc>
              <a:buSzPct val="100000"/>
            </a:pPr>
            <a:r>
              <a:rPr lang="vi-VN" dirty="0">
                <a:solidFill>
                  <a:srgbClr val="020202"/>
                </a:solidFill>
                <a:latin typeface="Inter" pitchFamily="34" charset="0"/>
                <a:ea typeface="Inter" pitchFamily="34" charset="-122"/>
                <a:cs typeface="Inter" pitchFamily="34" charset="-120"/>
              </a:rPr>
              <a:t>nứt nẻ và đề xuất giếng khoan.</a:t>
            </a:r>
          </a:p>
          <a:p>
            <a:pPr marL="342900" indent="-342900">
              <a:lnSpc>
                <a:spcPts val="2850"/>
              </a:lnSpc>
              <a:buSzPct val="100000"/>
              <a:buFontTx/>
              <a:buChar char="•"/>
            </a:pPr>
            <a:r>
              <a:rPr lang="en-US" dirty="0" err="1">
                <a:solidFill>
                  <a:srgbClr val="020202"/>
                </a:solidFill>
                <a:latin typeface="Inter" pitchFamily="34" charset="0"/>
                <a:ea typeface="Inter" pitchFamily="34" charset="-122"/>
                <a:cs typeface="Inter" pitchFamily="34" charset="-120"/>
              </a:rPr>
              <a:t>Tối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ưu</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hoá</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lựa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chọn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phương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pháp</a:t>
            </a:r>
            <a:r>
              <a:rPr lang="en-US" dirty="0">
                <a:solidFill>
                  <a:srgbClr val="020202"/>
                </a:solidFill>
                <a:latin typeface="Inter" pitchFamily="34" charset="0"/>
                <a:ea typeface="Inter" pitchFamily="34" charset="-122"/>
                <a:cs typeface="Inter" pitchFamily="34" charset="-120"/>
              </a:rPr>
              <a:t> &amp; </a:t>
            </a:r>
            <a:r>
              <a:rPr lang="en-US" dirty="0" err="1">
                <a:solidFill>
                  <a:srgbClr val="020202"/>
                </a:solidFill>
                <a:latin typeface="Inter" pitchFamily="34" charset="0"/>
                <a:ea typeface="Inter" pitchFamily="34" charset="-122"/>
                <a:cs typeface="Inter" pitchFamily="34" charset="-120"/>
              </a:rPr>
              <a:t>thông</a:t>
            </a:r>
            <a:r>
              <a:rPr lang="en-US" dirty="0">
                <a:solidFill>
                  <a:srgbClr val="020202"/>
                </a:solidFill>
                <a:latin typeface="Inter" pitchFamily="34" charset="0"/>
                <a:ea typeface="Inter" pitchFamily="34" charset="-122"/>
                <a:cs typeface="Inter" pitchFamily="34" charset="-120"/>
              </a:rPr>
              <a:t> </a:t>
            </a:r>
            <a:r>
              <a:rPr lang="vi-VN" dirty="0">
                <a:solidFill>
                  <a:srgbClr val="020202"/>
                </a:solidFill>
                <a:latin typeface="Inter" pitchFamily="34" charset="0"/>
                <a:ea typeface="Inter" pitchFamily="34" charset="-122"/>
                <a:cs typeface="Inter" pitchFamily="34" charset="-120"/>
              </a:rPr>
              <a:t>số, quy </a:t>
            </a:r>
          </a:p>
          <a:p>
            <a:pPr>
              <a:lnSpc>
                <a:spcPts val="2850"/>
              </a:lnSpc>
              <a:buSzPct val="100000"/>
            </a:pPr>
            <a:r>
              <a:rPr lang="vi-VN" dirty="0">
                <a:solidFill>
                  <a:srgbClr val="020202"/>
                </a:solidFill>
                <a:latin typeface="Inter" pitchFamily="34" charset="0"/>
                <a:ea typeface="Inter" pitchFamily="34" charset="-122"/>
                <a:cs typeface="Inter" pitchFamily="34" charset="-120"/>
              </a:rPr>
              <a:t>trình minh giải móng nứt nẻ.</a:t>
            </a:r>
          </a:p>
          <a:p>
            <a:pPr marL="342900" indent="-342900">
              <a:lnSpc>
                <a:spcPts val="2850"/>
              </a:lnSpc>
              <a:buSzPct val="100000"/>
              <a:buFontTx/>
              <a:buChar char="•"/>
            </a:pPr>
            <a:r>
              <a:rPr lang="en-US" dirty="0" err="1">
                <a:solidFill>
                  <a:srgbClr val="020202"/>
                </a:solidFill>
                <a:latin typeface="Inter" pitchFamily="34" charset="0"/>
                <a:ea typeface="Inter" pitchFamily="34" charset="-122"/>
                <a:cs typeface="Inter" pitchFamily="34" charset="-120"/>
              </a:rPr>
              <a:t>Ứng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dụng</a:t>
            </a:r>
            <a:r>
              <a:rPr lang="en-US" dirty="0">
                <a:solidFill>
                  <a:srgbClr val="020202"/>
                </a:solidFill>
                <a:latin typeface="Inter" pitchFamily="34" charset="0"/>
                <a:ea typeface="Inter" pitchFamily="34" charset="-122"/>
                <a:cs typeface="Inter" pitchFamily="34" charset="-120"/>
              </a:rPr>
              <a:t> AI/ML </a:t>
            </a:r>
            <a:r>
              <a:rPr lang="en-US" dirty="0" err="1">
                <a:solidFill>
                  <a:srgbClr val="020202"/>
                </a:solidFill>
                <a:latin typeface="Inter" pitchFamily="34" charset="0"/>
                <a:ea typeface="Inter" pitchFamily="34" charset="-122"/>
                <a:cs typeface="Inter" pitchFamily="34" charset="-120"/>
              </a:rPr>
              <a:t>vào</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phân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tích</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thuộc</a:t>
            </a:r>
            <a:r>
              <a:rPr lang="en-US" dirty="0">
                <a:solidFill>
                  <a:srgbClr val="020202"/>
                </a:solidFill>
                <a:latin typeface="Inter" pitchFamily="34" charset="0"/>
                <a:ea typeface="Inter" pitchFamily="34" charset="-122"/>
                <a:cs typeface="Inter" pitchFamily="34" charset="-120"/>
              </a:rPr>
              <a:t> </a:t>
            </a:r>
            <a:r>
              <a:rPr lang="vi-VN" dirty="0">
                <a:solidFill>
                  <a:srgbClr val="020202"/>
                </a:solidFill>
                <a:latin typeface="Inter" pitchFamily="34" charset="0"/>
                <a:ea typeface="Inter" pitchFamily="34" charset="-122"/>
                <a:cs typeface="Inter" pitchFamily="34" charset="-120"/>
              </a:rPr>
              <a:t>tính, nhằm tối </a:t>
            </a:r>
          </a:p>
          <a:p>
            <a:pPr>
              <a:lnSpc>
                <a:spcPts val="2850"/>
              </a:lnSpc>
              <a:buSzPct val="100000"/>
            </a:pPr>
            <a:r>
              <a:rPr lang="vi-VN" dirty="0">
                <a:solidFill>
                  <a:srgbClr val="020202"/>
                </a:solidFill>
                <a:latin typeface="Inter" pitchFamily="34" charset="0"/>
                <a:ea typeface="Inter" pitchFamily="34" charset="-122"/>
                <a:cs typeface="Inter" pitchFamily="34" charset="-120"/>
              </a:rPr>
              <a:t>ưu hóa kết quả phân tích nứt nẻ trong móng</a:t>
            </a:r>
            <a:r>
              <a:rPr lang="en-US" dirty="0">
                <a:solidFill>
                  <a:srgbClr val="020202"/>
                </a:solidFill>
                <a:latin typeface="Inter" pitchFamily="34" charset="0"/>
                <a:ea typeface="Inter" pitchFamily="34" charset="-122"/>
                <a:cs typeface="Inter" pitchFamily="34" charset="-120"/>
              </a:rPr>
              <a:t>.</a:t>
            </a:r>
            <a:endParaRPr lang="vi-VN" dirty="0">
              <a:solidFill>
                <a:srgbClr val="020202"/>
              </a:solidFill>
              <a:latin typeface="Inter" pitchFamily="34" charset="0"/>
              <a:ea typeface="Inter" pitchFamily="34" charset="-122"/>
              <a:cs typeface="Inter" pitchFamily="34" charset="-120"/>
            </a:endParaRPr>
          </a:p>
          <a:p>
            <a:pPr marL="342900" indent="-342900" algn="l">
              <a:lnSpc>
                <a:spcPts val="2850"/>
              </a:lnSpc>
              <a:buSzPct val="100000"/>
              <a:buChar char="•"/>
            </a:pPr>
            <a:endParaRPr lang="en-US" dirty="0"/>
          </a:p>
        </p:txBody>
      </p:sp>
      <p:sp>
        <p:nvSpPr>
          <p:cNvPr id="7" name="Text 5"/>
          <p:cNvSpPr/>
          <p:nvPr/>
        </p:nvSpPr>
        <p:spPr>
          <a:xfrm>
            <a:off x="7591902" y="1611565"/>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Giá trị tạo ra:</a:t>
            </a:r>
            <a:endParaRPr lang="en-US" sz="2650" dirty="0"/>
          </a:p>
        </p:txBody>
      </p:sp>
      <p:sp>
        <p:nvSpPr>
          <p:cNvPr id="8" name="Text 6"/>
          <p:cNvSpPr/>
          <p:nvPr/>
        </p:nvSpPr>
        <p:spPr>
          <a:xfrm>
            <a:off x="7591902" y="2263670"/>
            <a:ext cx="6244709" cy="1685332"/>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020202"/>
                </a:solidFill>
                <a:latin typeface="Inter" pitchFamily="34" charset="0"/>
                <a:ea typeface="Inter" pitchFamily="34" charset="-122"/>
                <a:cs typeface="Inter" pitchFamily="34" charset="-120"/>
              </a:rPr>
              <a:t>Nâng cao độ tin cậy báo cáo minh </a:t>
            </a:r>
            <a:r>
              <a:rPr lang="en-US" dirty="0" err="1">
                <a:solidFill>
                  <a:srgbClr val="020202"/>
                </a:solidFill>
                <a:latin typeface="Inter" pitchFamily="34" charset="0"/>
                <a:ea typeface="Inter" pitchFamily="34" charset="-122"/>
                <a:cs typeface="Inter" pitchFamily="34" charset="-120"/>
              </a:rPr>
              <a:t>giải</a:t>
            </a:r>
            <a:r>
              <a:rPr lang="en-US" dirty="0">
                <a:solidFill>
                  <a:srgbClr val="020202"/>
                </a:solidFill>
                <a:latin typeface="Inter" pitchFamily="34" charset="0"/>
                <a:ea typeface="Inter" pitchFamily="34" charset="-122"/>
                <a:cs typeface="Inter" pitchFamily="34" charset="-120"/>
              </a:rPr>
              <a:t>.</a:t>
            </a:r>
            <a:endParaRPr lang="vi-VN" dirty="0">
              <a:solidFill>
                <a:srgbClr val="020202"/>
              </a:solidFill>
              <a:latin typeface="Inter" pitchFamily="34" charset="0"/>
              <a:ea typeface="Inter" pitchFamily="34" charset="-122"/>
              <a:cs typeface="Inter" pitchFamily="34" charset="-120"/>
            </a:endParaRPr>
          </a:p>
          <a:p>
            <a:pPr marL="342900" indent="-342900">
              <a:lnSpc>
                <a:spcPts val="2850"/>
              </a:lnSpc>
              <a:buSzPct val="100000"/>
              <a:buFontTx/>
              <a:buChar char="•"/>
            </a:pPr>
            <a:r>
              <a:rPr lang="en-US" dirty="0" err="1">
                <a:solidFill>
                  <a:srgbClr val="020202"/>
                </a:solidFill>
                <a:latin typeface="Inter" pitchFamily="34" charset="0"/>
                <a:ea typeface="Inter" pitchFamily="34" charset="-122"/>
                <a:cs typeface="Inter" pitchFamily="34" charset="-120"/>
              </a:rPr>
              <a:t>Đề</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xuất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giếng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khoan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tiềm</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năng</a:t>
            </a:r>
            <a:r>
              <a:rPr lang="en-US" dirty="0">
                <a:solidFill>
                  <a:srgbClr val="020202"/>
                </a:solidFill>
                <a:latin typeface="Inter" pitchFamily="34" charset="0"/>
                <a:ea typeface="Inter" pitchFamily="34" charset="-122"/>
                <a:cs typeface="Inter" pitchFamily="34" charset="-120"/>
              </a:rPr>
              <a:t>.</a:t>
            </a:r>
            <a:endParaRPr lang="vi-VN" dirty="0">
              <a:solidFill>
                <a:srgbClr val="020202"/>
              </a:solidFill>
              <a:latin typeface="Inter" pitchFamily="34" charset="0"/>
              <a:ea typeface="Inter" pitchFamily="34" charset="-122"/>
              <a:cs typeface="Inter" pitchFamily="34" charset="-120"/>
            </a:endParaRPr>
          </a:p>
          <a:p>
            <a:pPr marL="342900" indent="-342900">
              <a:lnSpc>
                <a:spcPts val="2850"/>
              </a:lnSpc>
              <a:buSzPct val="100000"/>
              <a:buFontTx/>
              <a:buChar char="•"/>
            </a:pPr>
            <a:r>
              <a:rPr lang="en-US" dirty="0">
                <a:solidFill>
                  <a:srgbClr val="020202"/>
                </a:solidFill>
                <a:latin typeface="Inter" pitchFamily="34" charset="0"/>
                <a:ea typeface="Inter" pitchFamily="34" charset="-122"/>
                <a:cs typeface="Inter" pitchFamily="34" charset="-120"/>
              </a:rPr>
              <a:t>Rút </a:t>
            </a:r>
            <a:r>
              <a:rPr lang="en-US" dirty="0" err="1">
                <a:solidFill>
                  <a:srgbClr val="020202"/>
                </a:solidFill>
                <a:latin typeface="Inter" pitchFamily="34" charset="0"/>
                <a:ea typeface="Inter" pitchFamily="34" charset="-122"/>
                <a:cs typeface="Inter" pitchFamily="34" charset="-120"/>
              </a:rPr>
              <a:t>ngắn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thời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gian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phân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tích</a:t>
            </a:r>
            <a:r>
              <a:rPr lang="en-US" dirty="0">
                <a:solidFill>
                  <a:srgbClr val="020202"/>
                </a:solidFill>
                <a:latin typeface="Inter" pitchFamily="34" charset="0"/>
                <a:ea typeface="Inter" pitchFamily="34" charset="-122"/>
                <a:cs typeface="Inter" pitchFamily="34" charset="-120"/>
              </a:rPr>
              <a:t>.</a:t>
            </a:r>
            <a:endParaRPr lang="vi-VN" dirty="0">
              <a:solidFill>
                <a:srgbClr val="020202"/>
              </a:solidFill>
              <a:latin typeface="Inter" pitchFamily="34" charset="0"/>
              <a:ea typeface="Inter" pitchFamily="34" charset="-122"/>
              <a:cs typeface="Inter" pitchFamily="34" charset="-120"/>
            </a:endParaRPr>
          </a:p>
          <a:p>
            <a:pPr marL="342900" indent="-342900">
              <a:lnSpc>
                <a:spcPts val="2850"/>
              </a:lnSpc>
              <a:buSzPct val="100000"/>
              <a:buFontTx/>
              <a:buChar char="•"/>
            </a:pPr>
            <a:r>
              <a:rPr lang="en-US" dirty="0" err="1">
                <a:solidFill>
                  <a:srgbClr val="020202"/>
                </a:solidFill>
                <a:latin typeface="Inter" pitchFamily="34" charset="0"/>
                <a:ea typeface="Inter" pitchFamily="34" charset="-122"/>
                <a:cs typeface="Inter" pitchFamily="34" charset="-120"/>
              </a:rPr>
              <a:t>Giảm</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phụ</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thuộc</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chuyên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gia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chuẩn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hóa</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quy</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trình</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nội</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bộ</a:t>
            </a:r>
            <a:r>
              <a:rPr lang="en-US" dirty="0">
                <a:solidFill>
                  <a:srgbClr val="020202"/>
                </a:solidFill>
                <a:latin typeface="Inter" pitchFamily="34" charset="0"/>
                <a:ea typeface="Inter" pitchFamily="34" charset="-122"/>
                <a:cs typeface="Inter" pitchFamily="34" charset="-120"/>
              </a:rPr>
              <a:t>.</a:t>
            </a:r>
            <a:endParaRPr lang="en-US" dirty="0"/>
          </a:p>
          <a:p>
            <a:pPr marL="342900" indent="-342900">
              <a:lnSpc>
                <a:spcPts val="2850"/>
              </a:lnSpc>
              <a:buSzPct val="100000"/>
              <a:buFontTx/>
              <a:buChar char="•"/>
            </a:pPr>
            <a:endParaRPr lang="en-US" dirty="0"/>
          </a:p>
          <a:p>
            <a:pPr marL="342900" indent="-342900">
              <a:lnSpc>
                <a:spcPts val="2850"/>
              </a:lnSpc>
              <a:buSzPct val="100000"/>
              <a:buFontTx/>
              <a:buChar char="•"/>
            </a:pPr>
            <a:endParaRPr lang="en-US" dirty="0"/>
          </a:p>
          <a:p>
            <a:pPr marL="342900" indent="-342900" algn="l">
              <a:lnSpc>
                <a:spcPts val="2850"/>
              </a:lnSpc>
              <a:buSzPct val="100000"/>
              <a:buChar char="•"/>
            </a:pPr>
            <a:endParaRPr lang="en-US" dirty="0"/>
          </a:p>
        </p:txBody>
      </p:sp>
      <p:sp>
        <p:nvSpPr>
          <p:cNvPr id="12" name="Text 10"/>
          <p:cNvSpPr/>
          <p:nvPr/>
        </p:nvSpPr>
        <p:spPr>
          <a:xfrm>
            <a:off x="786171" y="4906347"/>
            <a:ext cx="5629394"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Năng lực lãnh đạo cần hình thành:</a:t>
            </a:r>
            <a:endParaRPr lang="en-US" sz="2650" dirty="0"/>
          </a:p>
        </p:txBody>
      </p:sp>
      <p:sp>
        <p:nvSpPr>
          <p:cNvPr id="13" name="Text 11"/>
          <p:cNvSpPr/>
          <p:nvPr/>
        </p:nvSpPr>
        <p:spPr>
          <a:xfrm>
            <a:off x="786171" y="5671799"/>
            <a:ext cx="5775403" cy="1117056"/>
          </a:xfrm>
          <a:prstGeom prst="rect">
            <a:avLst/>
          </a:prstGeom>
          <a:noFill/>
          <a:ln/>
        </p:spPr>
        <p:txBody>
          <a:bodyPr wrap="none" lIns="0" tIns="0" rIns="0" bIns="0" rtlCol="0" anchor="t"/>
          <a:lstStyle/>
          <a:p>
            <a:pPr marL="342900" indent="-342900" algn="l">
              <a:lnSpc>
                <a:spcPts val="2850"/>
              </a:lnSpc>
              <a:buSzPct val="100000"/>
              <a:buChar char="•"/>
            </a:pPr>
            <a:r>
              <a:rPr lang="vi-VN" dirty="0">
                <a:solidFill>
                  <a:srgbClr val="020202"/>
                </a:solidFill>
                <a:latin typeface="Inter" pitchFamily="34" charset="0"/>
                <a:ea typeface="Inter" pitchFamily="34" charset="-122"/>
              </a:rPr>
              <a:t>Khả năng phối hợp đội nhóm.</a:t>
            </a:r>
          </a:p>
          <a:p>
            <a:pPr marL="342900" indent="-342900">
              <a:lnSpc>
                <a:spcPts val="2850"/>
              </a:lnSpc>
              <a:buSzPct val="100000"/>
              <a:buFontTx/>
              <a:buChar char="•"/>
            </a:pPr>
            <a:r>
              <a:rPr lang="en-US" dirty="0" err="1">
                <a:solidFill>
                  <a:srgbClr val="020202"/>
                </a:solidFill>
                <a:latin typeface="Inter" pitchFamily="34" charset="0"/>
                <a:ea typeface="Inter" pitchFamily="34" charset="-122"/>
                <a:cs typeface="Inter" pitchFamily="34" charset="-120"/>
              </a:rPr>
              <a:t>Tư</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duy</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hệ</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thống</a:t>
            </a:r>
            <a:r>
              <a:rPr lang="en-US" dirty="0">
                <a:solidFill>
                  <a:srgbClr val="020202"/>
                </a:solidFill>
                <a:latin typeface="Inter" pitchFamily="34" charset="0"/>
                <a:ea typeface="Inter" pitchFamily="34" charset="-122"/>
                <a:cs typeface="Inter" pitchFamily="34" charset="-120"/>
              </a:rPr>
              <a:t>.</a:t>
            </a:r>
            <a:endParaRPr lang="vi-VN" dirty="0">
              <a:solidFill>
                <a:srgbClr val="020202"/>
              </a:solidFill>
              <a:latin typeface="Inter" pitchFamily="34" charset="0"/>
              <a:ea typeface="Inter" pitchFamily="34" charset="-122"/>
              <a:cs typeface="Inter" pitchFamily="34" charset="-120"/>
            </a:endParaRPr>
          </a:p>
          <a:p>
            <a:pPr marL="342900" indent="-342900">
              <a:lnSpc>
                <a:spcPts val="2850"/>
              </a:lnSpc>
              <a:buSzPct val="100000"/>
              <a:buFontTx/>
              <a:buChar char="•"/>
            </a:pPr>
            <a:r>
              <a:rPr lang="en-US" dirty="0" err="1">
                <a:solidFill>
                  <a:srgbClr val="020202"/>
                </a:solidFill>
                <a:latin typeface="Inter" pitchFamily="34" charset="0"/>
                <a:ea typeface="Inter" pitchFamily="34" charset="-122"/>
                <a:cs typeface="Inter" pitchFamily="34" charset="-120"/>
              </a:rPr>
              <a:t>Dẫn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dắt</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sáng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kiến</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công</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nghệ</a:t>
            </a:r>
            <a:r>
              <a:rPr lang="en-US" dirty="0">
                <a:solidFill>
                  <a:srgbClr val="020202"/>
                </a:solidFill>
                <a:latin typeface="Inter" pitchFamily="34" charset="0"/>
                <a:ea typeface="Inter" pitchFamily="34" charset="-122"/>
                <a:cs typeface="Inter" pitchFamily="34" charset="-120"/>
              </a:rPr>
              <a:t> </a:t>
            </a:r>
            <a:r>
              <a:rPr lang="en-US" dirty="0" err="1">
                <a:solidFill>
                  <a:srgbClr val="020202"/>
                </a:solidFill>
                <a:latin typeface="Inter" pitchFamily="34" charset="0"/>
                <a:ea typeface="Inter" pitchFamily="34" charset="-122"/>
                <a:cs typeface="Inter" pitchFamily="34" charset="-120"/>
              </a:rPr>
              <a:t>mới</a:t>
            </a:r>
            <a:r>
              <a:rPr lang="en-US" dirty="0">
                <a:solidFill>
                  <a:srgbClr val="020202"/>
                </a:solidFill>
                <a:latin typeface="Inter" pitchFamily="34" charset="0"/>
                <a:ea typeface="Inter" pitchFamily="34" charset="-122"/>
                <a:cs typeface="Inter" pitchFamily="34" charset="-120"/>
              </a:rPr>
              <a:t>.</a:t>
            </a:r>
            <a:endParaRPr lang="en-US" dirty="0"/>
          </a:p>
          <a:p>
            <a:pPr marL="342900" indent="-342900">
              <a:lnSpc>
                <a:spcPts val="2850"/>
              </a:lnSpc>
              <a:buSzPct val="100000"/>
              <a:buFontTx/>
              <a:buChar char="•"/>
            </a:pPr>
            <a:endParaRPr lang="en-US" dirty="0"/>
          </a:p>
          <a:p>
            <a:pPr marL="342900" indent="-342900" algn="l">
              <a:lnSpc>
                <a:spcPts val="2850"/>
              </a:lnSpc>
              <a:buSzPct val="100000"/>
              <a:buChar char="•"/>
            </a:pPr>
            <a:endParaRPr lang="en-US" dirty="0"/>
          </a:p>
        </p:txBody>
      </p:sp>
      <p:pic>
        <p:nvPicPr>
          <p:cNvPr id="16" name="Picture 15" descr="A green and blue logo&#10;&#10;AI-generated content may be incorrect.">
            <a:extLst>
              <a:ext uri="{FF2B5EF4-FFF2-40B4-BE49-F238E27FC236}">
                <a16:creationId xmlns:a16="http://schemas.microsoft.com/office/drawing/2014/main" id="{4040AA26-F3F5-185E-42A1-445585AB95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200" y="107955"/>
            <a:ext cx="988853" cy="10119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
            <a:extLst>
              <a:ext uri="{FF2B5EF4-FFF2-40B4-BE49-F238E27FC236}">
                <a16:creationId xmlns:a16="http://schemas.microsoft.com/office/drawing/2014/main" id="{70F1AD20-D14E-4461-DC86-BDC83656E7B0}"/>
              </a:ext>
            </a:extLst>
          </p:cNvPr>
          <p:cNvSpPr>
            <a:spLocks/>
          </p:cNvSpPr>
          <p:nvPr/>
        </p:nvSpPr>
        <p:spPr bwMode="auto">
          <a:xfrm>
            <a:off x="1499533" y="174763"/>
            <a:ext cx="12943667" cy="945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endParaRPr kumimoji="0" lang="vi-VN" sz="2800" b="1" i="0" u="none" strike="noStrike" kern="1200" cap="all"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graphicFrame>
        <p:nvGraphicFramePr>
          <p:cNvPr id="2" name="Table 1">
            <a:extLst>
              <a:ext uri="{FF2B5EF4-FFF2-40B4-BE49-F238E27FC236}">
                <a16:creationId xmlns:a16="http://schemas.microsoft.com/office/drawing/2014/main" id="{637CFF1B-BF0F-B5E6-484F-4BBC0179B8B6}"/>
              </a:ext>
            </a:extLst>
          </p:cNvPr>
          <p:cNvGraphicFramePr>
            <a:graphicFrameLocks noGrp="1"/>
          </p:cNvGraphicFramePr>
          <p:nvPr>
            <p:extLst>
              <p:ext uri="{D42A27DB-BD31-4B8C-83A1-F6EECF244321}">
                <p14:modId xmlns:p14="http://schemas.microsoft.com/office/powerpoint/2010/main" val="3179722546"/>
              </p:ext>
            </p:extLst>
          </p:nvPr>
        </p:nvGraphicFramePr>
        <p:xfrm>
          <a:off x="80328" y="1428486"/>
          <a:ext cx="14469743" cy="6432864"/>
        </p:xfrm>
        <a:graphic>
          <a:graphicData uri="http://schemas.openxmlformats.org/drawingml/2006/table">
            <a:tbl>
              <a:tblPr firstRow="1" bandRow="1">
                <a:tableStyleId>{93296810-A885-4BE3-A3E7-6D5BEEA58F35}</a:tableStyleId>
              </a:tblPr>
              <a:tblGrid>
                <a:gridCol w="1598381">
                  <a:extLst>
                    <a:ext uri="{9D8B030D-6E8A-4147-A177-3AD203B41FA5}">
                      <a16:colId xmlns:a16="http://schemas.microsoft.com/office/drawing/2014/main" val="4074275783"/>
                    </a:ext>
                  </a:extLst>
                </a:gridCol>
                <a:gridCol w="2089068">
                  <a:extLst>
                    <a:ext uri="{9D8B030D-6E8A-4147-A177-3AD203B41FA5}">
                      <a16:colId xmlns:a16="http://schemas.microsoft.com/office/drawing/2014/main" val="2139743141"/>
                    </a:ext>
                  </a:extLst>
                </a:gridCol>
                <a:gridCol w="2987353">
                  <a:extLst>
                    <a:ext uri="{9D8B030D-6E8A-4147-A177-3AD203B41FA5}">
                      <a16:colId xmlns:a16="http://schemas.microsoft.com/office/drawing/2014/main" val="1536398812"/>
                    </a:ext>
                  </a:extLst>
                </a:gridCol>
                <a:gridCol w="1028700">
                  <a:extLst>
                    <a:ext uri="{9D8B030D-6E8A-4147-A177-3AD203B41FA5}">
                      <a16:colId xmlns:a16="http://schemas.microsoft.com/office/drawing/2014/main" val="4069662491"/>
                    </a:ext>
                  </a:extLst>
                </a:gridCol>
                <a:gridCol w="2632029">
                  <a:extLst>
                    <a:ext uri="{9D8B030D-6E8A-4147-A177-3AD203B41FA5}">
                      <a16:colId xmlns:a16="http://schemas.microsoft.com/office/drawing/2014/main" val="1905121515"/>
                    </a:ext>
                  </a:extLst>
                </a:gridCol>
                <a:gridCol w="2067106">
                  <a:extLst>
                    <a:ext uri="{9D8B030D-6E8A-4147-A177-3AD203B41FA5}">
                      <a16:colId xmlns:a16="http://schemas.microsoft.com/office/drawing/2014/main" val="3506943254"/>
                    </a:ext>
                  </a:extLst>
                </a:gridCol>
                <a:gridCol w="2067106">
                  <a:extLst>
                    <a:ext uri="{9D8B030D-6E8A-4147-A177-3AD203B41FA5}">
                      <a16:colId xmlns:a16="http://schemas.microsoft.com/office/drawing/2014/main" val="3261391073"/>
                    </a:ext>
                  </a:extLst>
                </a:gridCol>
              </a:tblGrid>
              <a:tr h="466088">
                <a:tc>
                  <a:txBody>
                    <a:bodyPr/>
                    <a:lstStyle/>
                    <a:p>
                      <a:pPr marL="0" marR="0" algn="ctr">
                        <a:lnSpc>
                          <a:spcPct val="115000"/>
                        </a:lnSpc>
                        <a:spcAft>
                          <a:spcPts val="800"/>
                        </a:spcAft>
                        <a:buNone/>
                      </a:pPr>
                      <a:r>
                        <a:rPr lang="en-US" sz="1150" kern="100" dirty="0" err="1">
                          <a:solidFill>
                            <a:schemeClr val="bg1"/>
                          </a:solidFill>
                          <a:effectLst/>
                          <a:latin typeface="Inter" panose="020B0604020202020204" charset="0"/>
                          <a:ea typeface="Inter" panose="020B0604020202020204" charset="0"/>
                        </a:rPr>
                        <a:t>Hạng</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mục</a:t>
                      </a:r>
                      <a:endParaRPr lang="en-US" sz="1200" kern="100" dirty="0">
                        <a:solidFill>
                          <a:schemeClr val="bg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150" kern="100" dirty="0" err="1">
                          <a:solidFill>
                            <a:schemeClr val="bg1"/>
                          </a:solidFill>
                          <a:effectLst/>
                          <a:latin typeface="Inter" panose="020B0604020202020204" charset="0"/>
                          <a:ea typeface="Inter" panose="020B0604020202020204" charset="0"/>
                        </a:rPr>
                        <a:t>Mục</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tiêu</a:t>
                      </a:r>
                      <a:endParaRPr lang="en-US" sz="1200" kern="100" dirty="0">
                        <a:solidFill>
                          <a:schemeClr val="bg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150" kern="100" dirty="0" err="1">
                          <a:solidFill>
                            <a:schemeClr val="bg1"/>
                          </a:solidFill>
                          <a:effectLst/>
                          <a:latin typeface="Inter" panose="020B0604020202020204" charset="0"/>
                          <a:ea typeface="Inter" panose="020B0604020202020204" charset="0"/>
                        </a:rPr>
                        <a:t>Hành</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động</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cụ</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thể</a:t>
                      </a:r>
                      <a:endParaRPr lang="en-US" sz="1200" kern="100" dirty="0">
                        <a:solidFill>
                          <a:schemeClr val="bg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150" kern="100" dirty="0" err="1">
                          <a:solidFill>
                            <a:schemeClr val="bg1"/>
                          </a:solidFill>
                          <a:effectLst/>
                          <a:latin typeface="Inter" panose="020B0604020202020204" charset="0"/>
                          <a:ea typeface="Inter" panose="020B0604020202020204" charset="0"/>
                        </a:rPr>
                        <a:t>Thời</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gian</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thực</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hiện</a:t>
                      </a:r>
                      <a:endParaRPr lang="en-US" sz="1200" kern="100" dirty="0">
                        <a:solidFill>
                          <a:schemeClr val="bg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150" kern="100" dirty="0">
                          <a:solidFill>
                            <a:schemeClr val="bg1"/>
                          </a:solidFill>
                          <a:effectLst/>
                          <a:latin typeface="Inter" panose="020B0604020202020204" charset="0"/>
                          <a:ea typeface="Inter" panose="020B0604020202020204" charset="0"/>
                        </a:rPr>
                        <a:t>Checkpoint (</a:t>
                      </a:r>
                      <a:r>
                        <a:rPr lang="en-US" sz="1150" kern="100" dirty="0" err="1">
                          <a:solidFill>
                            <a:schemeClr val="bg1"/>
                          </a:solidFill>
                          <a:effectLst/>
                          <a:latin typeface="Inter" panose="020B0604020202020204" charset="0"/>
                          <a:ea typeface="Inter" panose="020B0604020202020204" charset="0"/>
                        </a:rPr>
                        <a:t>Mốc</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kiểm</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tra</a:t>
                      </a:r>
                      <a:r>
                        <a:rPr lang="en-US" sz="1150" kern="100" dirty="0">
                          <a:solidFill>
                            <a:schemeClr val="bg1"/>
                          </a:solidFill>
                          <a:effectLst/>
                          <a:latin typeface="Inter" panose="020B0604020202020204" charset="0"/>
                          <a:ea typeface="Inter" panose="020B0604020202020204" charset="0"/>
                        </a:rPr>
                        <a:t>)</a:t>
                      </a:r>
                      <a:endParaRPr lang="en-US" sz="1200" kern="100" dirty="0">
                        <a:solidFill>
                          <a:schemeClr val="bg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150" kern="100" dirty="0" err="1">
                          <a:solidFill>
                            <a:schemeClr val="bg1"/>
                          </a:solidFill>
                          <a:effectLst/>
                          <a:latin typeface="Inter" panose="020B0604020202020204" charset="0"/>
                          <a:ea typeface="Inter" panose="020B0604020202020204" charset="0"/>
                        </a:rPr>
                        <a:t>Kết</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quả</a:t>
                      </a:r>
                      <a:r>
                        <a:rPr lang="en-US" sz="1150" kern="100" dirty="0">
                          <a:solidFill>
                            <a:schemeClr val="bg1"/>
                          </a:solidFill>
                          <a:effectLst/>
                          <a:latin typeface="Inter" panose="020B0604020202020204" charset="0"/>
                          <a:ea typeface="Inter" panose="020B0604020202020204" charset="0"/>
                        </a:rPr>
                        <a:t>/</a:t>
                      </a:r>
                      <a:r>
                        <a:rPr lang="en-US" sz="1150" kern="100" dirty="0" err="1">
                          <a:solidFill>
                            <a:schemeClr val="bg1"/>
                          </a:solidFill>
                          <a:effectLst/>
                          <a:latin typeface="Inter" panose="020B0604020202020204" charset="0"/>
                          <a:ea typeface="Inter" panose="020B0604020202020204" charset="0"/>
                        </a:rPr>
                        <a:t>Kiểm</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chứng</a:t>
                      </a:r>
                      <a:endParaRPr lang="en-US" sz="1200" kern="100" dirty="0">
                        <a:solidFill>
                          <a:schemeClr val="bg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150" kern="100" dirty="0" err="1">
                          <a:solidFill>
                            <a:schemeClr val="bg1"/>
                          </a:solidFill>
                          <a:effectLst/>
                          <a:latin typeface="Inter" panose="020B0604020202020204" charset="0"/>
                          <a:ea typeface="Inter" panose="020B0604020202020204" charset="0"/>
                        </a:rPr>
                        <a:t>Người</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đồng</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hành</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Hỗ</a:t>
                      </a:r>
                      <a:r>
                        <a:rPr lang="en-US" sz="1150" kern="100" dirty="0">
                          <a:solidFill>
                            <a:schemeClr val="bg1"/>
                          </a:solidFill>
                          <a:effectLst/>
                          <a:latin typeface="Inter" panose="020B0604020202020204" charset="0"/>
                          <a:ea typeface="Inter" panose="020B0604020202020204" charset="0"/>
                        </a:rPr>
                        <a:t> </a:t>
                      </a:r>
                      <a:r>
                        <a:rPr lang="en-US" sz="1150" kern="100" dirty="0" err="1">
                          <a:solidFill>
                            <a:schemeClr val="bg1"/>
                          </a:solidFill>
                          <a:effectLst/>
                          <a:latin typeface="Inter" panose="020B0604020202020204" charset="0"/>
                          <a:ea typeface="Inter" panose="020B0604020202020204" charset="0"/>
                        </a:rPr>
                        <a:t>trợ</a:t>
                      </a:r>
                      <a:endParaRPr lang="en-US" sz="1200" kern="100" dirty="0">
                        <a:solidFill>
                          <a:schemeClr val="bg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4258327"/>
                  </a:ext>
                </a:extLst>
              </a:tr>
              <a:tr h="1117302">
                <a:tc>
                  <a:txBody>
                    <a:bodyPr/>
                    <a:lstStyle/>
                    <a:p>
                      <a:pPr marL="0" marR="0" algn="l">
                        <a:lnSpc>
                          <a:spcPct val="115000"/>
                        </a:lnSpc>
                        <a:spcAft>
                          <a:spcPts val="800"/>
                        </a:spcAft>
                        <a:buNone/>
                      </a:pPr>
                      <a:r>
                        <a:rPr lang="vi-VN" sz="1150" b="1" kern="100" dirty="0">
                          <a:solidFill>
                            <a:srgbClr val="0F1115"/>
                          </a:solidFill>
                          <a:effectLst/>
                          <a:latin typeface="Inter" panose="020B0604020202020204" charset="0"/>
                          <a:ea typeface="Inter" panose="020B0604020202020204" charset="0"/>
                        </a:rPr>
                        <a:t>1. Đào tạo chuyên môn</a:t>
                      </a:r>
                      <a:endParaRPr lang="en-US" sz="1150" b="1" kern="100" dirty="0">
                        <a:solidFill>
                          <a:srgbClr val="0F1115"/>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defTabSz="914400" rtl="0" eaLnBrk="1" latinLnBrk="0" hangingPunct="1">
                        <a:lnSpc>
                          <a:spcPct val="115000"/>
                        </a:lnSpc>
                        <a:spcAft>
                          <a:spcPts val="800"/>
                        </a:spcAft>
                        <a:buNone/>
                      </a:pPr>
                      <a:r>
                        <a:rPr lang="en-US" sz="1200" kern="100" dirty="0">
                          <a:solidFill>
                            <a:schemeClr val="dk1"/>
                          </a:solidFill>
                          <a:effectLst/>
                          <a:latin typeface="Inter" panose="020B0604020202020204" charset="0"/>
                          <a:ea typeface="Inter" panose="020B0604020202020204" charset="0"/>
                        </a:rPr>
                        <a:t>Thành </a:t>
                      </a:r>
                      <a:r>
                        <a:rPr lang="en-US" sz="1200" kern="100" dirty="0" err="1">
                          <a:solidFill>
                            <a:schemeClr val="dk1"/>
                          </a:solidFill>
                          <a:effectLst/>
                          <a:latin typeface="Inter" panose="020B0604020202020204" charset="0"/>
                          <a:ea typeface="Inter" panose="020B0604020202020204" charset="0"/>
                        </a:rPr>
                        <a:t>thạo</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toàn</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bộ</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quy</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trình</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nghiên</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cứu</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móng</a:t>
                      </a:r>
                      <a:r>
                        <a:rPr lang="en-US" sz="1200" kern="100" dirty="0">
                          <a:solidFill>
                            <a:schemeClr val="dk1"/>
                          </a:solidFill>
                          <a:effectLst/>
                          <a:latin typeface="Inter" panose="020B0604020202020204" charset="0"/>
                          <a:ea typeface="Inter" panose="020B0604020202020204" charset="0"/>
                        </a:rPr>
                        <a:t> (QC -&gt; Hiệu </a:t>
                      </a:r>
                      <a:r>
                        <a:rPr lang="en-US" sz="1200" kern="100" dirty="0" err="1">
                          <a:solidFill>
                            <a:schemeClr val="dk1"/>
                          </a:solidFill>
                          <a:effectLst/>
                          <a:latin typeface="Inter" panose="020B0604020202020204" charset="0"/>
                          <a:ea typeface="Inter" panose="020B0604020202020204" charset="0"/>
                        </a:rPr>
                        <a:t>chỉnh</a:t>
                      </a:r>
                      <a:r>
                        <a:rPr lang="en-US" sz="1200" kern="100" dirty="0">
                          <a:solidFill>
                            <a:schemeClr val="dk1"/>
                          </a:solidFill>
                          <a:effectLst/>
                          <a:latin typeface="Inter" panose="020B0604020202020204" charset="0"/>
                          <a:ea typeface="Inter" panose="020B0604020202020204" charset="0"/>
                        </a:rPr>
                        <a:t> -&gt; </a:t>
                      </a:r>
                      <a:r>
                        <a:rPr lang="en-US" sz="1200" kern="100" dirty="0" err="1">
                          <a:solidFill>
                            <a:schemeClr val="dk1"/>
                          </a:solidFill>
                          <a:effectLst/>
                          <a:latin typeface="Inter" panose="020B0604020202020204" charset="0"/>
                          <a:ea typeface="Inter" panose="020B0604020202020204" charset="0"/>
                        </a:rPr>
                        <a:t>Thuộc</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tính</a:t>
                      </a:r>
                      <a:r>
                        <a:rPr lang="en-US" sz="1200" kern="100" dirty="0">
                          <a:solidFill>
                            <a:schemeClr val="dk1"/>
                          </a:solidFill>
                          <a:effectLst/>
                          <a:latin typeface="Inter" panose="020B0604020202020204" charset="0"/>
                          <a:ea typeface="Inter" panose="020B0604020202020204" charset="0"/>
                        </a:rPr>
                        <a:t> -&gt; Minh </a:t>
                      </a:r>
                      <a:r>
                        <a:rPr lang="en-US" sz="1200" kern="100" dirty="0" err="1">
                          <a:solidFill>
                            <a:schemeClr val="dk1"/>
                          </a:solidFill>
                          <a:effectLst/>
                          <a:latin typeface="Inter" panose="020B0604020202020204" charset="0"/>
                          <a:ea typeface="Inter" panose="020B0604020202020204" charset="0"/>
                        </a:rPr>
                        <a:t>giải</a:t>
                      </a:r>
                      <a:r>
                        <a:rPr lang="en-US" sz="1200" kern="100" dirty="0">
                          <a:solidFill>
                            <a:schemeClr val="dk1"/>
                          </a:solidFill>
                          <a:effectLst/>
                          <a:latin typeface="Inter" panose="020B0604020202020204" charset="0"/>
                          <a:ea typeface="Inter" panose="020B0604020202020204" charset="0"/>
                        </a:rPr>
                        <a:t>).</a:t>
                      </a:r>
                      <a:endParaRPr lang="en-US" sz="12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just">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Trực tiếp tham gia dự án móng Kình Ngư Vàng 2026 tại TTKT.</a:t>
                      </a:r>
                    </a:p>
                    <a:p>
                      <a:pPr marL="171450" marR="0" indent="-171450" algn="just"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Tham gia các buổi thảo luận kỹ thuật về cơ chế kiến tạo, địa chất móng và phương pháp đề xuất giếng.</a:t>
                      </a:r>
                      <a:endParaRPr lang="en-US" sz="12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200" kern="100" dirty="0">
                          <a:effectLst/>
                          <a:latin typeface="Inter" panose="020B0604020202020204" charset="0"/>
                          <a:ea typeface="Inter" panose="020B0604020202020204" charset="0"/>
                        </a:rPr>
                        <a:t>01/2026 – 12/2026</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15000"/>
                        </a:lnSpc>
                        <a:spcBef>
                          <a:spcPts val="0"/>
                        </a:spcBef>
                        <a:spcAft>
                          <a:spcPts val="800"/>
                        </a:spcAft>
                        <a:buClrTx/>
                        <a:buSzTx/>
                        <a:buFontTx/>
                        <a:buNone/>
                        <a:tabLst/>
                        <a:defRPr/>
                      </a:pPr>
                      <a:r>
                        <a:rPr lang="vi-VN" sz="1200" kern="100" dirty="0">
                          <a:solidFill>
                            <a:schemeClr val="dk1"/>
                          </a:solidFill>
                          <a:effectLst/>
                          <a:latin typeface="Inter" panose="020B0604020202020204" charset="0"/>
                          <a:ea typeface="Inter" panose="020B0604020202020204" charset="0"/>
                        </a:rPr>
                        <a:t>Tháng 01 – Tháng 06/2026 </a:t>
                      </a:r>
                      <a:r>
                        <a:rPr lang="en-US" sz="1200" kern="100" dirty="0">
                          <a:solidFill>
                            <a:schemeClr val="dk1"/>
                          </a:solidFill>
                          <a:effectLst/>
                          <a:latin typeface="Inter" panose="020B0604020202020204" charset="0"/>
                          <a:ea typeface="Inter" panose="020B0604020202020204" charset="0"/>
                        </a:rPr>
                        <a:t>: </a:t>
                      </a:r>
                      <a:r>
                        <a:rPr lang="vi-VN" sz="1200" kern="100" dirty="0">
                          <a:solidFill>
                            <a:schemeClr val="dk1"/>
                          </a:solidFill>
                          <a:effectLst/>
                          <a:latin typeface="Inter" panose="020B0604020202020204" charset="0"/>
                          <a:ea typeface="Inter" panose="020B0604020202020204" charset="0"/>
                        </a:rPr>
                        <a:t>Nắm vững quy trình đánh giá tài liệu địa chấn cho nghiên cứu móng.</a:t>
                      </a:r>
                    </a:p>
                    <a:p>
                      <a:pPr marL="0" marR="0" lvl="0" indent="0" algn="just" defTabSz="914400" rtl="0" eaLnBrk="1" fontAlgn="auto" latinLnBrk="0" hangingPunct="1">
                        <a:lnSpc>
                          <a:spcPct val="115000"/>
                        </a:lnSpc>
                        <a:spcBef>
                          <a:spcPts val="0"/>
                        </a:spcBef>
                        <a:spcAft>
                          <a:spcPts val="800"/>
                        </a:spcAft>
                        <a:buClrTx/>
                        <a:buSzTx/>
                        <a:buFontTx/>
                        <a:buNone/>
                        <a:tabLst/>
                        <a:defRPr/>
                      </a:pPr>
                      <a:r>
                        <a:rPr lang="vi-VN" sz="1200" kern="100" dirty="0">
                          <a:solidFill>
                            <a:schemeClr val="dk1"/>
                          </a:solidFill>
                          <a:effectLst/>
                          <a:latin typeface="Inter" panose="020B0604020202020204" charset="0"/>
                          <a:ea typeface="Inter" panose="020B0604020202020204" charset="0"/>
                        </a:rPr>
                        <a:t>Tháng 06 – Tháng 12/2026</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cs typeface="+mn-cs"/>
                        </a:rPr>
                        <a:t>Tự</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chủ</a:t>
                      </a:r>
                      <a:r>
                        <a:rPr lang="vi-VN"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công</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việc</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trong</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dự</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án</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móng</a:t>
                      </a:r>
                      <a:r>
                        <a:rPr lang="en-US" sz="1200" kern="100" dirty="0">
                          <a:solidFill>
                            <a:schemeClr val="dk1"/>
                          </a:solidFill>
                          <a:effectLst/>
                          <a:latin typeface="Inter" panose="020B0604020202020204" charset="0"/>
                          <a:ea typeface="Inter" panose="020B0604020202020204" charset="0"/>
                          <a:cs typeface="+mn-cs"/>
                        </a:rPr>
                        <a:t>.</a:t>
                      </a:r>
                      <a:r>
                        <a:rPr lang="vi-VN"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Tự</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mình</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lập</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báo</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cáo</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minh</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giải</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và</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đề</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xuất</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cho</a:t>
                      </a:r>
                      <a:r>
                        <a:rPr lang="en-US" sz="1200" kern="100" dirty="0">
                          <a:solidFill>
                            <a:schemeClr val="dk1"/>
                          </a:solidFill>
                          <a:effectLst/>
                          <a:latin typeface="Inter" panose="020B0604020202020204" charset="0"/>
                          <a:ea typeface="Inter" panose="020B0604020202020204" charset="0"/>
                          <a:cs typeface="+mn-cs"/>
                        </a:rPr>
                        <a:t> </a:t>
                      </a:r>
                      <a:r>
                        <a:rPr lang="vi-VN" sz="1200" kern="100" dirty="0">
                          <a:solidFill>
                            <a:schemeClr val="dk1"/>
                          </a:solidFill>
                          <a:effectLst/>
                          <a:latin typeface="Inter" panose="020B0604020202020204" charset="0"/>
                          <a:ea typeface="Inter" panose="020B0604020202020204" charset="0"/>
                          <a:cs typeface="+mn-cs"/>
                        </a:rPr>
                        <a:t>dự án móng KNV.</a:t>
                      </a:r>
                      <a:endParaRPr lang="en-US" sz="1200" kern="100" dirty="0">
                        <a:solidFill>
                          <a:schemeClr val="dk1"/>
                        </a:solidFill>
                        <a:effectLst/>
                        <a:latin typeface="Inter" panose="020B0604020202020204" charset="0"/>
                        <a:ea typeface="Inter" panose="020B0604020202020204" charset="0"/>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l" defTabSz="914400" rtl="0" eaLnBrk="1" latinLnBrk="0" hangingPunct="1">
                        <a:lnSpc>
                          <a:spcPct val="115000"/>
                        </a:lnSpc>
                        <a:spcAft>
                          <a:spcPts val="800"/>
                        </a:spcAft>
                        <a:buFont typeface="Arial" panose="020B0604020202020204" pitchFamily="34" charset="0"/>
                        <a:buChar char="•"/>
                      </a:pPr>
                      <a:r>
                        <a:rPr lang="en-US" sz="1200" kern="100" dirty="0">
                          <a:solidFill>
                            <a:schemeClr val="dk1"/>
                          </a:solidFill>
                          <a:effectLst/>
                          <a:latin typeface="Inter" panose="020B0604020202020204" charset="0"/>
                          <a:ea typeface="Inter" panose="020B0604020202020204" charset="0"/>
                          <a:cs typeface="+mn-cs"/>
                        </a:rPr>
                        <a:t>Báo </a:t>
                      </a:r>
                      <a:r>
                        <a:rPr lang="en-US" sz="1200" kern="100" dirty="0" err="1">
                          <a:solidFill>
                            <a:schemeClr val="dk1"/>
                          </a:solidFill>
                          <a:effectLst/>
                          <a:latin typeface="Inter" panose="020B0604020202020204" charset="0"/>
                          <a:ea typeface="Inter" panose="020B0604020202020204" charset="0"/>
                          <a:cs typeface="+mn-cs"/>
                        </a:rPr>
                        <a:t>cáo</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minh</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giải</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cấu</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trúc</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và</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thuộc</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tính</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cho</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khu</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vực</a:t>
                      </a:r>
                      <a:r>
                        <a:rPr lang="en-US" sz="1200" kern="100" dirty="0">
                          <a:solidFill>
                            <a:schemeClr val="dk1"/>
                          </a:solidFill>
                          <a:effectLst/>
                          <a:latin typeface="Inter" panose="020B0604020202020204" charset="0"/>
                          <a:ea typeface="Inter" panose="020B0604020202020204" charset="0"/>
                          <a:cs typeface="+mn-cs"/>
                        </a:rPr>
                        <a:t> X </a:t>
                      </a:r>
                      <a:r>
                        <a:rPr lang="en-US" sz="1200" kern="100" dirty="0" err="1">
                          <a:solidFill>
                            <a:schemeClr val="dk1"/>
                          </a:solidFill>
                          <a:effectLst/>
                          <a:latin typeface="Inter" panose="020B0604020202020204" charset="0"/>
                          <a:ea typeface="Inter" panose="020B0604020202020204" charset="0"/>
                          <a:cs typeface="+mn-cs"/>
                        </a:rPr>
                        <a:t>trong</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dự</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án</a:t>
                      </a:r>
                      <a:r>
                        <a:rPr lang="en-US" sz="1200" kern="100" dirty="0">
                          <a:solidFill>
                            <a:schemeClr val="dk1"/>
                          </a:solidFill>
                          <a:effectLst/>
                          <a:latin typeface="Inter" panose="020B0604020202020204" charset="0"/>
                          <a:ea typeface="Inter" panose="020B0604020202020204" charset="0"/>
                          <a:cs typeface="+mn-cs"/>
                        </a:rPr>
                        <a:t> KNV, </a:t>
                      </a:r>
                      <a:r>
                        <a:rPr lang="en-US" sz="1200" kern="100" dirty="0" err="1">
                          <a:solidFill>
                            <a:schemeClr val="dk1"/>
                          </a:solidFill>
                          <a:effectLst/>
                          <a:latin typeface="Inter" panose="020B0604020202020204" charset="0"/>
                          <a:ea typeface="Inter" panose="020B0604020202020204" charset="0"/>
                          <a:cs typeface="+mn-cs"/>
                        </a:rPr>
                        <a:t>đáp</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ứng</a:t>
                      </a:r>
                      <a:r>
                        <a:rPr lang="en-US" sz="1200" kern="100" dirty="0">
                          <a:solidFill>
                            <a:schemeClr val="dk1"/>
                          </a:solidFill>
                          <a:effectLst/>
                          <a:latin typeface="Inter" panose="020B0604020202020204" charset="0"/>
                          <a:ea typeface="Inter" panose="020B0604020202020204" charset="0"/>
                          <a:cs typeface="+mn-cs"/>
                        </a:rPr>
                        <a:t> &gt;90% </a:t>
                      </a:r>
                      <a:r>
                        <a:rPr lang="en-US" sz="1200" kern="100" dirty="0" err="1">
                          <a:solidFill>
                            <a:schemeClr val="dk1"/>
                          </a:solidFill>
                          <a:effectLst/>
                          <a:latin typeface="Inter" panose="020B0604020202020204" charset="0"/>
                          <a:ea typeface="Inter" panose="020B0604020202020204" charset="0"/>
                          <a:cs typeface="+mn-cs"/>
                        </a:rPr>
                        <a:t>yêu</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cầu</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kỹ</a:t>
                      </a:r>
                      <a:r>
                        <a:rPr lang="en-US" sz="1200" kern="100" dirty="0">
                          <a:solidFill>
                            <a:schemeClr val="dk1"/>
                          </a:solidFill>
                          <a:effectLst/>
                          <a:latin typeface="Inter" panose="020B0604020202020204" charset="0"/>
                          <a:ea typeface="Inter" panose="020B0604020202020204" charset="0"/>
                          <a:cs typeface="+mn-cs"/>
                        </a:rPr>
                        <a:t> </a:t>
                      </a:r>
                      <a:r>
                        <a:rPr lang="en-US" sz="1200" kern="100" dirty="0" err="1">
                          <a:solidFill>
                            <a:schemeClr val="dk1"/>
                          </a:solidFill>
                          <a:effectLst/>
                          <a:latin typeface="Inter" panose="020B0604020202020204" charset="0"/>
                          <a:ea typeface="Inter" panose="020B0604020202020204" charset="0"/>
                          <a:cs typeface="+mn-cs"/>
                        </a:rPr>
                        <a:t>thuật</a:t>
                      </a:r>
                      <a:r>
                        <a:rPr lang="en-US" sz="1200" kern="100" dirty="0">
                          <a:solidFill>
                            <a:schemeClr val="dk1"/>
                          </a:solidFill>
                          <a:effectLst/>
                          <a:latin typeface="Inter" panose="020B0604020202020204" charset="0"/>
                          <a:ea typeface="Inter" panose="020B0604020202020204" charset="0"/>
                          <a:cs typeface="+mn-cs"/>
                        </a:rPr>
                        <a:t>.</a:t>
                      </a:r>
                      <a:r>
                        <a:rPr lang="vi-VN" sz="1200" kern="100" dirty="0">
                          <a:solidFill>
                            <a:schemeClr val="dk1"/>
                          </a:solidFill>
                          <a:effectLst/>
                          <a:latin typeface="Inter" panose="020B0604020202020204" charset="0"/>
                          <a:ea typeface="Inter" panose="020B0604020202020204" charset="0"/>
                          <a:cs typeface="+mn-cs"/>
                        </a:rPr>
                        <a:t>.</a:t>
                      </a:r>
                    </a:p>
                    <a:p>
                      <a:pPr marL="171450" marR="0" indent="-171450" algn="l"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cs typeface="+mn-cs"/>
                        </a:rPr>
                        <a:t>Tự tin trình bày, giải </a:t>
                      </a:r>
                      <a:r>
                        <a:rPr lang="vi-VN" sz="1200" kern="100" dirty="0">
                          <a:solidFill>
                            <a:schemeClr val="dk1"/>
                          </a:solidFill>
                          <a:effectLst/>
                          <a:latin typeface="Inter" panose="020B0604020202020204" charset="0"/>
                          <a:ea typeface="Inter" panose="020B0604020202020204" charset="0"/>
                        </a:rPr>
                        <a:t>thích và bảo vệ được toàn bộ quy trình công việc đã thực hiện.</a:t>
                      </a:r>
                      <a:endParaRPr lang="en-US" sz="12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l"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Chuyên gia Nguyễn Huy Ngọc.</a:t>
                      </a:r>
                    </a:p>
                    <a:p>
                      <a:pPr marL="171450" marR="0" indent="-171450" algn="l"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Anh Lê Văn Trường/Chị Tạ Thị Thu Hoài (TTKT).</a:t>
                      </a:r>
                    </a:p>
                    <a:p>
                      <a:pPr marL="171450" marR="0" indent="-171450" algn="l"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Lãnh đạo hướng dẫn/ kèm cặp.</a:t>
                      </a:r>
                      <a:endParaRPr lang="vi-VN" sz="12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2748413"/>
                  </a:ext>
                </a:extLst>
              </a:tr>
              <a:tr h="1504312">
                <a:tc>
                  <a:txBody>
                    <a:bodyPr/>
                    <a:lstStyle/>
                    <a:p>
                      <a:pPr marL="0" marR="0" algn="l">
                        <a:lnSpc>
                          <a:spcPct val="115000"/>
                        </a:lnSpc>
                        <a:spcAft>
                          <a:spcPts val="800"/>
                        </a:spcAft>
                        <a:buNone/>
                      </a:pPr>
                      <a:r>
                        <a:rPr lang="vi-VN" sz="1150" b="1" kern="100" dirty="0">
                          <a:solidFill>
                            <a:srgbClr val="0F1115"/>
                          </a:solidFill>
                          <a:effectLst/>
                          <a:latin typeface="Inter" panose="020B0604020202020204" charset="0"/>
                          <a:ea typeface="Inter" panose="020B0604020202020204" charset="0"/>
                        </a:rPr>
                        <a:t>2. Chia sẻ nội bộ</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150" b="0" kern="100" dirty="0">
                          <a:solidFill>
                            <a:srgbClr val="0F1115"/>
                          </a:solidFill>
                          <a:effectLst/>
                          <a:latin typeface="Inter" panose="020B0604020202020204" charset="0"/>
                          <a:ea typeface="Inter" panose="020B0604020202020204" charset="0"/>
                        </a:rPr>
                        <a:t>Chia </a:t>
                      </a:r>
                      <a:r>
                        <a:rPr lang="en-US" sz="1150" b="0" kern="100" dirty="0" err="1">
                          <a:solidFill>
                            <a:srgbClr val="0F1115"/>
                          </a:solidFill>
                          <a:effectLst/>
                          <a:latin typeface="Inter" panose="020B0604020202020204" charset="0"/>
                          <a:ea typeface="Inter" panose="020B0604020202020204" charset="0"/>
                        </a:rPr>
                        <a:t>sẻ</a:t>
                      </a:r>
                      <a:r>
                        <a:rPr lang="en-US" sz="1150" b="0" kern="100" dirty="0">
                          <a:solidFill>
                            <a:srgbClr val="0F1115"/>
                          </a:solidFill>
                          <a:effectLst/>
                          <a:latin typeface="Inter" panose="020B0604020202020204" charset="0"/>
                          <a:ea typeface="Inter" panose="020B0604020202020204" charset="0"/>
                        </a:rPr>
                        <a:t> </a:t>
                      </a:r>
                      <a:r>
                        <a:rPr lang="en-US" sz="1150" b="0" kern="100" dirty="0" err="1">
                          <a:solidFill>
                            <a:srgbClr val="0F1115"/>
                          </a:solidFill>
                          <a:effectLst/>
                          <a:latin typeface="Inter" panose="020B0604020202020204" charset="0"/>
                          <a:ea typeface="Inter" panose="020B0604020202020204" charset="0"/>
                        </a:rPr>
                        <a:t>kiến</a:t>
                      </a:r>
                      <a:r>
                        <a:rPr lang="en-US" sz="1150" b="0" kern="100" dirty="0">
                          <a:solidFill>
                            <a:srgbClr val="0F1115"/>
                          </a:solidFill>
                          <a:effectLst/>
                          <a:latin typeface="Inter" panose="020B0604020202020204" charset="0"/>
                          <a:ea typeface="Inter" panose="020B0604020202020204" charset="0"/>
                        </a:rPr>
                        <a:t> </a:t>
                      </a:r>
                      <a:r>
                        <a:rPr lang="en-US" sz="1150" b="0" kern="100" dirty="0" err="1">
                          <a:solidFill>
                            <a:srgbClr val="0F1115"/>
                          </a:solidFill>
                          <a:effectLst/>
                          <a:latin typeface="Inter" panose="020B0604020202020204" charset="0"/>
                          <a:ea typeface="Inter" panose="020B0604020202020204" charset="0"/>
                        </a:rPr>
                        <a:t>thức</a:t>
                      </a:r>
                      <a:r>
                        <a:rPr lang="en-US" sz="1150" b="0" kern="100" dirty="0">
                          <a:solidFill>
                            <a:srgbClr val="0F1115"/>
                          </a:solidFill>
                          <a:effectLst/>
                          <a:latin typeface="Inter" panose="020B0604020202020204" charset="0"/>
                          <a:ea typeface="Inter" panose="020B0604020202020204" charset="0"/>
                        </a:rPr>
                        <a:t>, </a:t>
                      </a:r>
                      <a:r>
                        <a:rPr lang="en-US" sz="1150" b="0" kern="100" dirty="0" err="1">
                          <a:solidFill>
                            <a:srgbClr val="0F1115"/>
                          </a:solidFill>
                          <a:effectLst/>
                          <a:latin typeface="Inter" panose="020B0604020202020204" charset="0"/>
                          <a:ea typeface="Inter" panose="020B0604020202020204" charset="0"/>
                        </a:rPr>
                        <a:t>nâng</a:t>
                      </a:r>
                      <a:r>
                        <a:rPr lang="en-US" sz="1150" b="0" kern="100" dirty="0">
                          <a:solidFill>
                            <a:srgbClr val="0F1115"/>
                          </a:solidFill>
                          <a:effectLst/>
                          <a:latin typeface="Inter" panose="020B0604020202020204" charset="0"/>
                          <a:ea typeface="Inter" panose="020B0604020202020204" charset="0"/>
                        </a:rPr>
                        <a:t> </a:t>
                      </a:r>
                      <a:r>
                        <a:rPr lang="en-US" sz="1150" b="0" kern="100" dirty="0" err="1">
                          <a:solidFill>
                            <a:srgbClr val="0F1115"/>
                          </a:solidFill>
                          <a:effectLst/>
                          <a:latin typeface="Inter" panose="020B0604020202020204" charset="0"/>
                          <a:ea typeface="Inter" panose="020B0604020202020204" charset="0"/>
                        </a:rPr>
                        <a:t>cao</a:t>
                      </a:r>
                      <a:r>
                        <a:rPr lang="en-US" sz="1150" b="0" kern="100" dirty="0">
                          <a:solidFill>
                            <a:srgbClr val="0F1115"/>
                          </a:solidFill>
                          <a:effectLst/>
                          <a:latin typeface="Inter" panose="020B0604020202020204" charset="0"/>
                          <a:ea typeface="Inter" panose="020B0604020202020204" charset="0"/>
                        </a:rPr>
                        <a:t> </a:t>
                      </a:r>
                      <a:r>
                        <a:rPr lang="en-US" sz="1150" b="0" kern="100" dirty="0" err="1">
                          <a:solidFill>
                            <a:srgbClr val="0F1115"/>
                          </a:solidFill>
                          <a:effectLst/>
                          <a:latin typeface="Inter" panose="020B0604020202020204" charset="0"/>
                          <a:ea typeface="Inter" panose="020B0604020202020204" charset="0"/>
                        </a:rPr>
                        <a:t>năng</a:t>
                      </a:r>
                      <a:r>
                        <a:rPr lang="en-US" sz="1150" b="0" kern="100" dirty="0">
                          <a:solidFill>
                            <a:srgbClr val="0F1115"/>
                          </a:solidFill>
                          <a:effectLst/>
                          <a:latin typeface="Inter" panose="020B0604020202020204" charset="0"/>
                          <a:ea typeface="Inter" panose="020B0604020202020204" charset="0"/>
                        </a:rPr>
                        <a:t> </a:t>
                      </a:r>
                      <a:r>
                        <a:rPr lang="en-US" sz="1150" b="0" kern="100" dirty="0" err="1">
                          <a:solidFill>
                            <a:srgbClr val="0F1115"/>
                          </a:solidFill>
                          <a:effectLst/>
                          <a:latin typeface="Inter" panose="020B0604020202020204" charset="0"/>
                          <a:ea typeface="Inter" panose="020B0604020202020204" charset="0"/>
                        </a:rPr>
                        <a:t>lực</a:t>
                      </a:r>
                      <a:r>
                        <a:rPr lang="en-US" sz="1150" b="0" kern="100" dirty="0">
                          <a:solidFill>
                            <a:srgbClr val="0F1115"/>
                          </a:solidFill>
                          <a:effectLst/>
                          <a:latin typeface="Inter" panose="020B0604020202020204" charset="0"/>
                          <a:ea typeface="Inter" panose="020B0604020202020204" charset="0"/>
                        </a:rPr>
                        <a:t> </a:t>
                      </a:r>
                      <a:r>
                        <a:rPr lang="en-US" sz="1150" b="0" kern="100" dirty="0" err="1">
                          <a:solidFill>
                            <a:srgbClr val="0F1115"/>
                          </a:solidFill>
                          <a:effectLst/>
                          <a:latin typeface="Inter" panose="020B0604020202020204" charset="0"/>
                          <a:ea typeface="Inter" panose="020B0604020202020204" charset="0"/>
                        </a:rPr>
                        <a:t>chung</a:t>
                      </a:r>
                      <a:r>
                        <a:rPr lang="en-US" sz="1150" b="0" kern="100" dirty="0">
                          <a:solidFill>
                            <a:srgbClr val="0F1115"/>
                          </a:solidFill>
                          <a:effectLst/>
                          <a:latin typeface="Inter" panose="020B0604020202020204" charset="0"/>
                          <a:ea typeface="Inter" panose="020B0604020202020204" charset="0"/>
                        </a:rPr>
                        <a:t> </a:t>
                      </a:r>
                      <a:r>
                        <a:rPr lang="en-US" sz="1150" b="0" kern="100" dirty="0" err="1">
                          <a:solidFill>
                            <a:srgbClr val="0F1115"/>
                          </a:solidFill>
                          <a:effectLst/>
                          <a:latin typeface="Inter" panose="020B0604020202020204" charset="0"/>
                          <a:ea typeface="Inter" panose="020B0604020202020204" charset="0"/>
                        </a:rPr>
                        <a:t>cho</a:t>
                      </a:r>
                      <a:r>
                        <a:rPr lang="en-US" sz="1150" b="0" kern="100" dirty="0">
                          <a:solidFill>
                            <a:srgbClr val="0F1115"/>
                          </a:solidFill>
                          <a:effectLst/>
                          <a:latin typeface="Inter" panose="020B0604020202020204" charset="0"/>
                          <a:ea typeface="Inter" panose="020B0604020202020204" charset="0"/>
                        </a:rPr>
                        <a:t> CBNV.</a:t>
                      </a:r>
                      <a:endParaRPr lang="en-US" sz="1200" b="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vi-VN" sz="1200" kern="100" dirty="0">
                          <a:effectLst/>
                          <a:latin typeface="Inter" panose="020B0604020202020204" charset="0"/>
                          <a:ea typeface="Inter" panose="020B0604020202020204" charset="0"/>
                        </a:rPr>
                        <a:t>Đã đăng ký chia sẻ 2 chủ đề:</a:t>
                      </a:r>
                    </a:p>
                    <a:p>
                      <a:pPr marL="228600" marR="0" indent="-228600" algn="just">
                        <a:lnSpc>
                          <a:spcPct val="115000"/>
                        </a:lnSpc>
                        <a:spcAft>
                          <a:spcPts val="800"/>
                        </a:spcAft>
                        <a:buFont typeface="Arial" panose="020B0604020202020204" pitchFamily="34" charset="0"/>
                        <a:buChar char="•"/>
                      </a:pPr>
                      <a:r>
                        <a:rPr lang="vi-VN" sz="1200" kern="100" dirty="0">
                          <a:effectLst/>
                          <a:latin typeface="Inter" panose="020B0604020202020204" charset="0"/>
                          <a:ea typeface="Inter" panose="020B0604020202020204" charset="0"/>
                        </a:rPr>
                        <a:t>“Minh giải cấu trúc, thuộc tính địa chấn”.</a:t>
                      </a:r>
                    </a:p>
                    <a:p>
                      <a:pPr marL="228600" marR="0" indent="-228600" algn="just">
                        <a:lnSpc>
                          <a:spcPct val="115000"/>
                        </a:lnSpc>
                        <a:spcAft>
                          <a:spcPts val="800"/>
                        </a:spcAft>
                        <a:buFont typeface="Arial" panose="020B0604020202020204" pitchFamily="34" charset="0"/>
                        <a:buChar char="•"/>
                      </a:pPr>
                      <a:r>
                        <a:rPr lang="vi-VN" sz="1200" kern="100" dirty="0">
                          <a:effectLst/>
                          <a:latin typeface="Inter" panose="020B0604020202020204" charset="0"/>
                          <a:ea typeface="Inter" panose="020B0604020202020204" charset="0"/>
                        </a:rPr>
                        <a:t>“Địa chấn địa tầng”.</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200" kern="100" dirty="0">
                          <a:effectLst/>
                          <a:latin typeface="Inter" panose="020B0604020202020204" charset="0"/>
                          <a:ea typeface="Inter" panose="020B0604020202020204" charset="0"/>
                        </a:rPr>
                        <a:t>06/2026 – 07/2026</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vi-VN" sz="1200" kern="100" dirty="0">
                          <a:effectLst/>
                          <a:latin typeface="Inter" panose="020B0604020202020204" charset="0"/>
                          <a:ea typeface="Inter" panose="020B0604020202020204" charset="0"/>
                        </a:rPr>
                        <a:t>Tháng 06/2026: 1 khóa.</a:t>
                      </a:r>
                    </a:p>
                    <a:p>
                      <a:pPr marL="0" marR="0" algn="just">
                        <a:lnSpc>
                          <a:spcPct val="115000"/>
                        </a:lnSpc>
                        <a:spcAft>
                          <a:spcPts val="800"/>
                        </a:spcAft>
                        <a:buNone/>
                      </a:pPr>
                      <a:r>
                        <a:rPr lang="vi-VN" sz="1200" kern="100" dirty="0">
                          <a:effectLst/>
                          <a:latin typeface="Inter" panose="020B0604020202020204" charset="0"/>
                          <a:ea typeface="Inter" panose="020B0604020202020204" charset="0"/>
                        </a:rPr>
                        <a:t>Tháng 07/2026: 1 khóa.</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l">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Ít nhất 10 người tham dự.</a:t>
                      </a:r>
                    </a:p>
                    <a:p>
                      <a:pPr marL="171450" marR="0" indent="-171450" algn="l"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cs typeface="+mn-cs"/>
                        </a:rPr>
                        <a:t>Giải đáp được &gt;85% câu hỏi từ người nghe.</a:t>
                      </a:r>
                      <a:endParaRPr lang="en-US" sz="1200" kern="100" dirty="0">
                        <a:solidFill>
                          <a:schemeClr val="dk1"/>
                        </a:solidFill>
                        <a:effectLst/>
                        <a:latin typeface="Inter" panose="020B0604020202020204" charset="0"/>
                        <a:ea typeface="Inter" panose="020B0604020202020204" charset="0"/>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l"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Chuyên gia Nguyễn Huy Ngọc.</a:t>
                      </a:r>
                    </a:p>
                    <a:p>
                      <a:pPr marL="171450" marR="0" indent="-171450" algn="l"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Anh Lê Văn Trường/Chị Tạ Thị Thu Hoài (TTKT).</a:t>
                      </a:r>
                    </a:p>
                    <a:p>
                      <a:pPr marL="171450" marR="0" indent="-171450" algn="l"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Lãnh đạo hướng dẫn/ kèm cặp.</a:t>
                      </a:r>
                      <a:endParaRPr lang="vi-VN" sz="12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9646754"/>
                  </a:ext>
                </a:extLst>
              </a:tr>
              <a:tr h="894224">
                <a:tc>
                  <a:txBody>
                    <a:bodyPr/>
                    <a:lstStyle/>
                    <a:p>
                      <a:pPr marL="0" marR="0" algn="l">
                        <a:lnSpc>
                          <a:spcPct val="115000"/>
                        </a:lnSpc>
                        <a:spcAft>
                          <a:spcPts val="800"/>
                        </a:spcAft>
                        <a:buNone/>
                      </a:pPr>
                      <a:r>
                        <a:rPr lang="vi-VN" sz="1150" b="1" kern="100" dirty="0">
                          <a:solidFill>
                            <a:srgbClr val="0F1115"/>
                          </a:solidFill>
                          <a:effectLst/>
                          <a:latin typeface="Inter" panose="020B0604020202020204" charset="0"/>
                          <a:ea typeface="Inter" panose="020B0604020202020204" charset="0"/>
                        </a:rPr>
                        <a:t>3. Đề xuất sáng kiến</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vi-VN" sz="1200" kern="100" dirty="0">
                          <a:effectLst/>
                          <a:latin typeface="Inter" panose="020B0604020202020204" charset="0"/>
                          <a:ea typeface="Inter" panose="020B0604020202020204" charset="0"/>
                        </a:rPr>
                        <a:t>Đề xuất 2 sáng kiến, sáng chế góp phần giải quyết các công việc thực tiễn của TTKT.</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l" defTabSz="914400" rtl="0" eaLnBrk="1" latinLnBrk="0" hangingPunct="1">
                        <a:lnSpc>
                          <a:spcPct val="115000"/>
                        </a:lnSpc>
                        <a:spcAft>
                          <a:spcPts val="800"/>
                        </a:spcAft>
                        <a:buFont typeface="Arial" panose="020B0604020202020204" pitchFamily="34" charset="0"/>
                        <a:buChar char="•"/>
                      </a:pPr>
                      <a:r>
                        <a:rPr lang="vi-VN" sz="1200" b="0" kern="100" dirty="0">
                          <a:solidFill>
                            <a:srgbClr val="0F1115"/>
                          </a:solidFill>
                          <a:effectLst/>
                          <a:latin typeface="Inter" panose="020B0604020202020204" charset="0"/>
                          <a:ea typeface="Inter" panose="020B0604020202020204" charset="0"/>
                        </a:rPr>
                        <a:t>Đã đề xuất ý tưởng “</a:t>
                      </a:r>
                      <a:r>
                        <a:rPr lang="vi-VN" sz="1200" kern="100" dirty="0">
                          <a:solidFill>
                            <a:schemeClr val="dk1"/>
                          </a:solidFill>
                          <a:effectLst/>
                          <a:latin typeface="Inter" panose="020B0604020202020204" charset="0"/>
                          <a:ea typeface="Inter" panose="020B0604020202020204" charset="0"/>
                        </a:rPr>
                        <a:t>Ứng dụng trí tuệ nhân tạo để tối ưu phân tích thuộc tính địa chấn” cho tháng 12/2025.</a:t>
                      </a:r>
                    </a:p>
                    <a:p>
                      <a:pPr marL="171450" marR="0" indent="-171450" algn="l" defTabSz="914400" rtl="0" eaLnBrk="1" latinLnBrk="0" hangingPunct="1">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Tiếp tục đề xuất 1 ý tưởng vào quý 1/2026.</a:t>
                      </a:r>
                      <a:endParaRPr lang="vi-VN" sz="12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200" kern="100" dirty="0">
                          <a:effectLst/>
                          <a:latin typeface="Inter" panose="020B0604020202020204" charset="0"/>
                          <a:ea typeface="Inter" panose="020B0604020202020204" charset="0"/>
                        </a:rPr>
                        <a:t>12/2025 – 03/2026</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vi-VN" sz="1200" kern="100" dirty="0">
                          <a:effectLst/>
                          <a:latin typeface="Inter" panose="020B0604020202020204" charset="0"/>
                          <a:ea typeface="Inter" panose="020B0604020202020204" charset="0"/>
                        </a:rPr>
                        <a:t>Tháng 12/2025: 1 đề xuất.</a:t>
                      </a:r>
                    </a:p>
                    <a:p>
                      <a:pPr marL="0" marR="0" algn="just">
                        <a:lnSpc>
                          <a:spcPct val="115000"/>
                        </a:lnSpc>
                        <a:spcAft>
                          <a:spcPts val="800"/>
                        </a:spcAft>
                        <a:buNone/>
                      </a:pPr>
                      <a:r>
                        <a:rPr lang="vi-VN" sz="1200" kern="100" dirty="0">
                          <a:effectLst/>
                          <a:latin typeface="Inter" panose="020B0604020202020204" charset="0"/>
                          <a:ea typeface="Inter" panose="020B0604020202020204" charset="0"/>
                        </a:rPr>
                        <a:t>Tháng 03/2026: 1 đề xuất.</a:t>
                      </a:r>
                      <a:endParaRPr lang="vi-VN"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just">
                        <a:lnSpc>
                          <a:spcPct val="115000"/>
                        </a:lnSpc>
                        <a:spcAft>
                          <a:spcPts val="800"/>
                        </a:spcAft>
                        <a:buFont typeface="Arial" panose="020B0604020202020204" pitchFamily="34" charset="0"/>
                        <a:buChar char="•"/>
                      </a:pPr>
                      <a:r>
                        <a:rPr lang="vi-VN" sz="1200" kern="100" dirty="0">
                          <a:effectLst/>
                          <a:latin typeface="Inter" panose="020B0604020202020204" charset="0"/>
                          <a:ea typeface="Inter" panose="020B0604020202020204" charset="0"/>
                        </a:rPr>
                        <a:t>02 đề xuất đạt chứng nhận cấp cơ sở.</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just"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lang="vi-VN" sz="1200" kern="100" dirty="0">
                          <a:solidFill>
                            <a:schemeClr val="dk1"/>
                          </a:solidFill>
                          <a:effectLst/>
                          <a:latin typeface="Inter" panose="020B0604020202020204" charset="0"/>
                          <a:ea typeface="Inter" panose="020B0604020202020204" charset="0"/>
                        </a:rPr>
                        <a:t>Lãnh đạo hướng dẫn/ kèm cặp.</a:t>
                      </a:r>
                    </a:p>
                    <a:p>
                      <a:pPr marL="171450" marR="0" indent="-171450" algn="just">
                        <a:lnSpc>
                          <a:spcPct val="115000"/>
                        </a:lnSpc>
                        <a:spcAft>
                          <a:spcPts val="800"/>
                        </a:spcAft>
                        <a:buFont typeface="Arial" panose="020B0604020202020204" pitchFamily="34" charset="0"/>
                        <a:buChar char="•"/>
                      </a:pPr>
                      <a:r>
                        <a:rPr lang="vi-VN" sz="1200" kern="100" dirty="0">
                          <a:effectLst/>
                          <a:latin typeface="Inter" panose="020B0604020202020204" charset="0"/>
                          <a:ea typeface="Inter" panose="020B0604020202020204" charset="0"/>
                        </a:rPr>
                        <a:t>Lãnh đạo phòng.</a:t>
                      </a:r>
                    </a:p>
                    <a:p>
                      <a:pPr marL="171450" marR="0" indent="-171450" algn="just">
                        <a:lnSpc>
                          <a:spcPct val="115000"/>
                        </a:lnSpc>
                        <a:spcAft>
                          <a:spcPts val="800"/>
                        </a:spcAft>
                        <a:buFont typeface="Arial" panose="020B0604020202020204" pitchFamily="34" charset="0"/>
                        <a:buChar char="•"/>
                      </a:pPr>
                      <a:r>
                        <a:rPr lang="vi-VN" sz="1200" kern="100" dirty="0">
                          <a:effectLst/>
                          <a:latin typeface="Inter" panose="020B0604020202020204" charset="0"/>
                          <a:ea typeface="Inter" panose="020B0604020202020204" charset="0"/>
                        </a:rPr>
                        <a:t>Đồng nghiệp tại TTKT.</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943587"/>
                  </a:ext>
                </a:extLst>
              </a:tr>
              <a:tr h="698445">
                <a:tc>
                  <a:txBody>
                    <a:bodyPr/>
                    <a:lstStyle/>
                    <a:p>
                      <a:pPr marL="0" marR="0" algn="l">
                        <a:lnSpc>
                          <a:spcPct val="115000"/>
                        </a:lnSpc>
                        <a:spcAft>
                          <a:spcPts val="800"/>
                        </a:spcAft>
                        <a:buNone/>
                      </a:pPr>
                      <a:r>
                        <a:rPr lang="vi-VN" sz="1150" b="1" kern="100" dirty="0">
                          <a:solidFill>
                            <a:srgbClr val="0F1115"/>
                          </a:solidFill>
                          <a:effectLst/>
                          <a:latin typeface="Inter" panose="020B0604020202020204" charset="0"/>
                          <a:ea typeface="Inter" panose="020B0604020202020204" charset="0"/>
                        </a:rPr>
                        <a:t>4. Tiếng Anh</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vi-VN" sz="1200" kern="100" dirty="0">
                          <a:effectLst/>
                          <a:latin typeface="Inter" panose="020B0604020202020204" charset="0"/>
                          <a:ea typeface="Inter" panose="020B0604020202020204" charset="0"/>
                        </a:rPr>
                        <a:t>Đạt 800 TOEIC ở cả 4 kỹ năng.</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l" defTabSz="914400" rtl="0" eaLnBrk="1" latinLnBrk="0" hangingPunct="1">
                        <a:lnSpc>
                          <a:spcPct val="115000"/>
                        </a:lnSpc>
                        <a:spcAft>
                          <a:spcPts val="800"/>
                        </a:spcAft>
                        <a:buFont typeface="Arial" panose="020B0604020202020204" pitchFamily="34" charset="0"/>
                        <a:buChar char="•"/>
                      </a:pPr>
                      <a:r>
                        <a:rPr lang="en-US" sz="1150" b="0" kern="100" dirty="0" err="1">
                          <a:solidFill>
                            <a:srgbClr val="0F1115"/>
                          </a:solidFill>
                          <a:effectLst/>
                          <a:latin typeface="Inter" panose="020B0604020202020204" charset="0"/>
                          <a:ea typeface="Inter" panose="020B0604020202020204" charset="0"/>
                        </a:rPr>
                        <a:t>Luyện</a:t>
                      </a:r>
                      <a:r>
                        <a:rPr lang="en-US" sz="1150" b="0" kern="100" dirty="0">
                          <a:solidFill>
                            <a:srgbClr val="0F1115"/>
                          </a:solidFill>
                          <a:effectLst/>
                          <a:latin typeface="Inter" panose="020B0604020202020204" charset="0"/>
                          <a:ea typeface="Inter" panose="020B0604020202020204" charset="0"/>
                        </a:rPr>
                        <a:t> </a:t>
                      </a:r>
                      <a:r>
                        <a:rPr lang="en-US" sz="1150" b="0" kern="100" dirty="0" err="1">
                          <a:solidFill>
                            <a:srgbClr val="0F1115"/>
                          </a:solidFill>
                          <a:effectLst/>
                          <a:latin typeface="Inter" panose="020B0604020202020204" charset="0"/>
                          <a:ea typeface="Inter" panose="020B0604020202020204" charset="0"/>
                        </a:rPr>
                        <a:t>tập</a:t>
                      </a:r>
                      <a:r>
                        <a:rPr lang="en-US" sz="1150" b="0" kern="100" dirty="0">
                          <a:solidFill>
                            <a:srgbClr val="0F1115"/>
                          </a:solidFill>
                          <a:effectLst/>
                          <a:latin typeface="Inter" panose="020B0604020202020204" charset="0"/>
                          <a:ea typeface="Inter" panose="020B0604020202020204" charset="0"/>
                        </a:rPr>
                        <a:t> 5h/</a:t>
                      </a:r>
                      <a:r>
                        <a:rPr lang="vi-VN" sz="1150" b="0" kern="100" dirty="0">
                          <a:solidFill>
                            <a:srgbClr val="0F1115"/>
                          </a:solidFill>
                          <a:effectLst/>
                          <a:latin typeface="Inter" panose="020B0604020202020204" charset="0"/>
                          <a:ea typeface="Inter" panose="020B0604020202020204" charset="0"/>
                        </a:rPr>
                        <a:t>tuần.</a:t>
                      </a:r>
                    </a:p>
                    <a:p>
                      <a:pPr marL="171450" marR="0" indent="-171450" algn="l" defTabSz="914400" rtl="0" eaLnBrk="1" latinLnBrk="0" hangingPunct="1">
                        <a:lnSpc>
                          <a:spcPct val="115000"/>
                        </a:lnSpc>
                        <a:spcAft>
                          <a:spcPts val="800"/>
                        </a:spcAft>
                        <a:buFont typeface="Arial" panose="020B0604020202020204" pitchFamily="34" charset="0"/>
                        <a:buChar char="•"/>
                      </a:pPr>
                      <a:r>
                        <a:rPr lang="vi-VN" sz="1150" b="0" kern="100" dirty="0">
                          <a:solidFill>
                            <a:srgbClr val="0F1115"/>
                          </a:solidFill>
                          <a:effectLst/>
                          <a:latin typeface="Inter" panose="020B0604020202020204" charset="0"/>
                          <a:ea typeface="Inter" panose="020B0604020202020204" charset="0"/>
                        </a:rPr>
                        <a:t>Đã đăng kỹ thi TOEIC L&amp;R vảo 29/12/2025.</a:t>
                      </a:r>
                    </a:p>
                    <a:p>
                      <a:pPr marL="171450" marR="0" indent="-171450" algn="l" defTabSz="914400" rtl="0" eaLnBrk="1" latinLnBrk="0" hangingPunct="1">
                        <a:lnSpc>
                          <a:spcPct val="115000"/>
                        </a:lnSpc>
                        <a:spcAft>
                          <a:spcPts val="800"/>
                        </a:spcAft>
                        <a:buFont typeface="Arial" panose="020B0604020202020204" pitchFamily="34" charset="0"/>
                        <a:buChar char="•"/>
                      </a:pPr>
                      <a:r>
                        <a:rPr lang="vi-VN" sz="1150" b="0" kern="100" dirty="0">
                          <a:solidFill>
                            <a:srgbClr val="0F1115"/>
                          </a:solidFill>
                          <a:effectLst/>
                          <a:latin typeface="Inter" panose="020B0604020202020204" charset="0"/>
                          <a:ea typeface="Inter" panose="020B0604020202020204" charset="0"/>
                        </a:rPr>
                        <a:t>Kế hoạch thi TOEIC S&amp;W vào quý 02/2026.</a:t>
                      </a:r>
                      <a:endParaRPr lang="vi-VN" sz="1150" b="0" kern="100" dirty="0">
                        <a:solidFill>
                          <a:srgbClr val="0F1115"/>
                        </a:solidFill>
                        <a:effectLst/>
                        <a:latin typeface="Inter" panose="020B0604020202020204" charset="0"/>
                        <a:ea typeface="Inter" panose="020B0604020202020204" charset="0"/>
                        <a:cs typeface="Cordia New" panose="020B0304020202020204" pitchFamily="34" charset="-34"/>
                      </a:endParaRP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vi-VN" sz="1200" kern="100" dirty="0">
                          <a:effectLst/>
                          <a:latin typeface="Inter" panose="020B0604020202020204" charset="0"/>
                          <a:ea typeface="Inter" panose="020B0604020202020204" charset="0"/>
                        </a:rPr>
                        <a:t>10/2025 –11/2026</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vi-VN" sz="1200" kern="100" dirty="0">
                          <a:effectLst/>
                          <a:latin typeface="Inter" panose="020B0604020202020204" charset="0"/>
                          <a:ea typeface="Inter" panose="020B0604020202020204" charset="0"/>
                        </a:rPr>
                        <a:t>Tháng 12/2025 tháng 5/2026: Hoàn thành 1 chứng chỉ TOEIC L&amp;R.</a:t>
                      </a:r>
                    </a:p>
                    <a:p>
                      <a:pPr marL="0" marR="0" algn="just">
                        <a:lnSpc>
                          <a:spcPct val="115000"/>
                        </a:lnSpc>
                        <a:spcAft>
                          <a:spcPts val="800"/>
                        </a:spcAft>
                        <a:buNone/>
                      </a:pPr>
                      <a:r>
                        <a:rPr lang="vi-VN" sz="1200" kern="100" dirty="0">
                          <a:effectLst/>
                          <a:latin typeface="Inter" panose="020B0604020202020204" charset="0"/>
                          <a:ea typeface="Inter" panose="020B0604020202020204" charset="0"/>
                        </a:rPr>
                        <a:t>Tháng 05 – Tháng 11/2026: Hoàn thành 1 chứng chỉ TOEIC S&amp;W.</a:t>
                      </a:r>
                      <a:endParaRPr lang="en-US" sz="1200" kern="100" dirty="0">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l">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Đạt chứng chỉ TOEIC 4 kỹ năng với tổng điểm &gt;= 800.</a:t>
                      </a:r>
                    </a:p>
                    <a:p>
                      <a:pPr marL="171450" marR="0" indent="-171450" algn="l">
                        <a:lnSpc>
                          <a:spcPct val="115000"/>
                        </a:lnSpc>
                        <a:spcAft>
                          <a:spcPts val="800"/>
                        </a:spcAft>
                        <a:buFont typeface="Arial" panose="020B0604020202020204" pitchFamily="34" charset="0"/>
                        <a:buChar char="•"/>
                      </a:pPr>
                      <a:r>
                        <a:rPr lang="vi-VN" sz="1200" kern="100" dirty="0">
                          <a:solidFill>
                            <a:schemeClr val="dk1"/>
                          </a:solidFill>
                          <a:effectLst/>
                          <a:latin typeface="Inter" panose="020B0604020202020204" charset="0"/>
                          <a:ea typeface="Inter" panose="020B0604020202020204" charset="0"/>
                        </a:rPr>
                        <a:t>Đáp ứng chuẩn đầu ra của chương trình NVTN.</a:t>
                      </a:r>
                      <a:br>
                        <a:rPr lang="vi-VN" sz="1200" kern="100" dirty="0">
                          <a:solidFill>
                            <a:schemeClr val="dk1"/>
                          </a:solidFill>
                          <a:effectLst/>
                          <a:latin typeface="Inter" panose="020B0604020202020204" charset="0"/>
                          <a:ea typeface="Inter" panose="020B0604020202020204" charset="0"/>
                        </a:rPr>
                      </a:br>
                      <a:endParaRPr lang="en-US" sz="12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indent="-171450" algn="just">
                        <a:lnSpc>
                          <a:spcPct val="115000"/>
                        </a:lnSpc>
                        <a:spcAft>
                          <a:spcPts val="800"/>
                        </a:spcAft>
                        <a:buFont typeface="Arial" panose="020B0604020202020204" pitchFamily="34" charset="0"/>
                        <a:buChar char="•"/>
                      </a:pPr>
                      <a:r>
                        <a:rPr lang="en-US" sz="1200" kern="100" dirty="0" err="1">
                          <a:solidFill>
                            <a:schemeClr val="dk1"/>
                          </a:solidFill>
                          <a:effectLst/>
                          <a:latin typeface="Inter" panose="020B0604020202020204" charset="0"/>
                          <a:ea typeface="Inter" panose="020B0604020202020204" charset="0"/>
                        </a:rPr>
                        <a:t>Giảng</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viên</a:t>
                      </a:r>
                      <a:r>
                        <a:rPr lang="en-US" sz="1200" kern="100" dirty="0">
                          <a:solidFill>
                            <a:schemeClr val="dk1"/>
                          </a:solidFill>
                          <a:effectLst/>
                          <a:latin typeface="Inter" panose="020B0604020202020204" charset="0"/>
                          <a:ea typeface="Inter" panose="020B0604020202020204" charset="0"/>
                        </a:rPr>
                        <a:t>/Trung </a:t>
                      </a:r>
                      <a:r>
                        <a:rPr lang="en-US" sz="1200" kern="100" dirty="0" err="1">
                          <a:solidFill>
                            <a:schemeClr val="dk1"/>
                          </a:solidFill>
                          <a:effectLst/>
                          <a:latin typeface="Inter" panose="020B0604020202020204" charset="0"/>
                          <a:ea typeface="Inter" panose="020B0604020202020204" charset="0"/>
                        </a:rPr>
                        <a:t>tâm</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luyện</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thi</a:t>
                      </a:r>
                      <a:r>
                        <a:rPr lang="en-US" sz="1200" kern="100" dirty="0">
                          <a:solidFill>
                            <a:schemeClr val="dk1"/>
                          </a:solidFill>
                          <a:effectLst/>
                          <a:latin typeface="Inter" panose="020B0604020202020204" charset="0"/>
                          <a:ea typeface="Inter" panose="020B0604020202020204" charset="0"/>
                        </a:rPr>
                        <a:t> (</a:t>
                      </a:r>
                      <a:r>
                        <a:rPr lang="en-US" sz="1200" kern="100" dirty="0" err="1">
                          <a:solidFill>
                            <a:schemeClr val="dk1"/>
                          </a:solidFill>
                          <a:effectLst/>
                          <a:latin typeface="Inter" panose="020B0604020202020204" charset="0"/>
                          <a:ea typeface="Inter" panose="020B0604020202020204" charset="0"/>
                        </a:rPr>
                        <a:t>nếu</a:t>
                      </a:r>
                      <a:r>
                        <a:rPr lang="en-US" sz="1200" kern="100" dirty="0">
                          <a:solidFill>
                            <a:schemeClr val="dk1"/>
                          </a:solidFill>
                          <a:effectLst/>
                          <a:latin typeface="Inter" panose="020B0604020202020204" charset="0"/>
                          <a:ea typeface="Inter" panose="020B0604020202020204" charset="0"/>
                        </a:rPr>
                        <a:t> </a:t>
                      </a:r>
                      <a:r>
                        <a:rPr lang="vi-VN" sz="1200" kern="100" dirty="0">
                          <a:solidFill>
                            <a:schemeClr val="dk1"/>
                          </a:solidFill>
                          <a:effectLst/>
                          <a:latin typeface="Inter" panose="020B0604020202020204" charset="0"/>
                          <a:ea typeface="Inter" panose="020B0604020202020204" charset="0"/>
                        </a:rPr>
                        <a:t>cần).</a:t>
                      </a:r>
                      <a:endParaRPr lang="en-US" sz="1200" kern="100" dirty="0">
                        <a:solidFill>
                          <a:schemeClr val="dk1"/>
                        </a:solidFill>
                        <a:effectLst/>
                        <a:latin typeface="Inter" panose="020B0604020202020204" charset="0"/>
                        <a:ea typeface="Inter" panose="020B0604020202020204" charset="0"/>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64319"/>
                  </a:ext>
                </a:extLst>
              </a:tr>
            </a:tbl>
          </a:graphicData>
        </a:graphic>
      </p:graphicFrame>
      <p:sp>
        <p:nvSpPr>
          <p:cNvPr id="3" name="Text 0">
            <a:extLst>
              <a:ext uri="{FF2B5EF4-FFF2-40B4-BE49-F238E27FC236}">
                <a16:creationId xmlns:a16="http://schemas.microsoft.com/office/drawing/2014/main" id="{B68F8FEC-DC26-073D-E307-9C94633F67C1}"/>
              </a:ext>
            </a:extLst>
          </p:cNvPr>
          <p:cNvSpPr/>
          <p:nvPr/>
        </p:nvSpPr>
        <p:spPr>
          <a:xfrm>
            <a:off x="1499533" y="259557"/>
            <a:ext cx="12869610" cy="708779"/>
          </a:xfrm>
          <a:prstGeom prst="rect">
            <a:avLst/>
          </a:prstGeom>
          <a:noFill/>
          <a:ln/>
        </p:spPr>
        <p:txBody>
          <a:bodyPr wrap="none" lIns="0" tIns="0" rIns="0" bIns="0" rtlCol="0" anchor="t"/>
          <a:lstStyle/>
          <a:p>
            <a:pPr marL="0" indent="0" algn="ctr">
              <a:lnSpc>
                <a:spcPts val="5550"/>
              </a:lnSpc>
              <a:buNone/>
            </a:pPr>
            <a:r>
              <a:rPr lang="vi-VN" sz="4450" b="1" dirty="0">
                <a:solidFill>
                  <a:schemeClr val="bg1"/>
                </a:solidFill>
                <a:latin typeface="Inter Bold" pitchFamily="34" charset="0"/>
                <a:ea typeface="Inter Bold" pitchFamily="34" charset="-122"/>
                <a:cs typeface="Inter Bold" pitchFamily="34" charset="-120"/>
              </a:rPr>
              <a:t>Bảng kế hoạch hành động</a:t>
            </a:r>
            <a:endParaRPr lang="en-US" sz="4450" dirty="0">
              <a:solidFill>
                <a:schemeClr val="bg1"/>
              </a:solidFill>
            </a:endParaRPr>
          </a:p>
        </p:txBody>
      </p:sp>
      <p:pic>
        <p:nvPicPr>
          <p:cNvPr id="4" name="Picture 3" descr="A green and blue logo&#10;&#10;AI-generated content may be incorrect.">
            <a:extLst>
              <a:ext uri="{FF2B5EF4-FFF2-40B4-BE49-F238E27FC236}">
                <a16:creationId xmlns:a16="http://schemas.microsoft.com/office/drawing/2014/main" id="{6EC1FA95-8953-EC38-8F0E-6B994E8B6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200" y="107955"/>
            <a:ext cx="988853" cy="1011984"/>
          </a:xfrm>
          <a:prstGeom prst="rect">
            <a:avLst/>
          </a:prstGeom>
        </p:spPr>
      </p:pic>
    </p:spTree>
    <p:extLst>
      <p:ext uri="{BB962C8B-B14F-4D97-AF65-F5344CB8AC3E}">
        <p14:creationId xmlns:p14="http://schemas.microsoft.com/office/powerpoint/2010/main" val="2685286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
            <a:extLst>
              <a:ext uri="{FF2B5EF4-FFF2-40B4-BE49-F238E27FC236}">
                <a16:creationId xmlns:a16="http://schemas.microsoft.com/office/drawing/2014/main" id="{88E3357F-0C17-204C-FF48-5EE09C4D0025}"/>
              </a:ext>
            </a:extLst>
          </p:cNvPr>
          <p:cNvSpPr>
            <a:spLocks/>
          </p:cNvSpPr>
          <p:nvPr/>
        </p:nvSpPr>
        <p:spPr bwMode="auto">
          <a:xfrm>
            <a:off x="1499533" y="174763"/>
            <a:ext cx="12943667" cy="945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solidFill>
            <a:srgbClr val="00B050"/>
          </a:solid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vert="horz" anchor="ctr"/>
          <a:lstStyle/>
          <a:p>
            <a:pPr marL="0" marR="0" lvl="0" indent="0" algn="ctr" defTabSz="914377" rtl="0" eaLnBrk="1" fontAlgn="auto" latinLnBrk="0" hangingPunct="1">
              <a:lnSpc>
                <a:spcPct val="105000"/>
              </a:lnSpc>
              <a:spcBef>
                <a:spcPts val="0"/>
              </a:spcBef>
              <a:spcAft>
                <a:spcPts val="0"/>
              </a:spcAft>
              <a:buClrTx/>
              <a:buSzTx/>
              <a:buFontTx/>
              <a:buNone/>
              <a:tabLst/>
              <a:defRPr/>
            </a:pPr>
            <a:endParaRPr kumimoji="0" lang="vi-VN" sz="2800" b="1" i="0" u="none" strike="noStrike" kern="1200" cap="all"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League Gothic" charset="0"/>
            </a:endParaRPr>
          </a:p>
        </p:txBody>
      </p:sp>
      <p:sp>
        <p:nvSpPr>
          <p:cNvPr id="3" name="Text 0">
            <a:extLst>
              <a:ext uri="{FF2B5EF4-FFF2-40B4-BE49-F238E27FC236}">
                <a16:creationId xmlns:a16="http://schemas.microsoft.com/office/drawing/2014/main" id="{09566E95-3999-29CE-280D-EE4158B34388}"/>
              </a:ext>
            </a:extLst>
          </p:cNvPr>
          <p:cNvSpPr/>
          <p:nvPr/>
        </p:nvSpPr>
        <p:spPr>
          <a:xfrm>
            <a:off x="1499533" y="259557"/>
            <a:ext cx="12869610" cy="708779"/>
          </a:xfrm>
          <a:prstGeom prst="rect">
            <a:avLst/>
          </a:prstGeom>
          <a:noFill/>
          <a:ln/>
        </p:spPr>
        <p:txBody>
          <a:bodyPr wrap="none" lIns="0" tIns="0" rIns="0" bIns="0" rtlCol="0" anchor="t"/>
          <a:lstStyle/>
          <a:p>
            <a:pPr marL="0" indent="0" algn="ctr">
              <a:lnSpc>
                <a:spcPts val="5550"/>
              </a:lnSpc>
              <a:buNone/>
            </a:pPr>
            <a:r>
              <a:rPr lang="vi-VN" sz="4450" b="1" dirty="0">
                <a:solidFill>
                  <a:schemeClr val="bg1"/>
                </a:solidFill>
                <a:latin typeface="Inter Bold" pitchFamily="34" charset="0"/>
                <a:ea typeface="Inter Bold" pitchFamily="34" charset="-122"/>
                <a:cs typeface="Inter Bold" pitchFamily="34" charset="-120"/>
              </a:rPr>
              <a:t>Các rủi ro và hành động/giải pháp dự phòng</a:t>
            </a:r>
            <a:endParaRPr lang="en-US" sz="4450" dirty="0">
              <a:solidFill>
                <a:schemeClr val="bg1"/>
              </a:solidFill>
            </a:endParaRPr>
          </a:p>
        </p:txBody>
      </p:sp>
      <p:pic>
        <p:nvPicPr>
          <p:cNvPr id="4" name="Picture 3" descr="A green and blue logo&#10;&#10;AI-generated content may be incorrect.">
            <a:extLst>
              <a:ext uri="{FF2B5EF4-FFF2-40B4-BE49-F238E27FC236}">
                <a16:creationId xmlns:a16="http://schemas.microsoft.com/office/drawing/2014/main" id="{5F33FEE7-7809-8C49-3FEE-362906212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200" y="107955"/>
            <a:ext cx="988853" cy="1011984"/>
          </a:xfrm>
          <a:prstGeom prst="rect">
            <a:avLst/>
          </a:prstGeom>
        </p:spPr>
      </p:pic>
      <p:graphicFrame>
        <p:nvGraphicFramePr>
          <p:cNvPr id="6" name="Table 5">
            <a:extLst>
              <a:ext uri="{FF2B5EF4-FFF2-40B4-BE49-F238E27FC236}">
                <a16:creationId xmlns:a16="http://schemas.microsoft.com/office/drawing/2014/main" id="{77DDAA43-01BC-38EB-DE23-0288F44AE38E}"/>
              </a:ext>
            </a:extLst>
          </p:cNvPr>
          <p:cNvGraphicFramePr>
            <a:graphicFrameLocks noGrp="1"/>
          </p:cNvGraphicFramePr>
          <p:nvPr>
            <p:extLst>
              <p:ext uri="{D42A27DB-BD31-4B8C-83A1-F6EECF244321}">
                <p14:modId xmlns:p14="http://schemas.microsoft.com/office/powerpoint/2010/main" val="3208413999"/>
              </p:ext>
            </p:extLst>
          </p:nvPr>
        </p:nvGraphicFramePr>
        <p:xfrm>
          <a:off x="187200" y="1391926"/>
          <a:ext cx="14256000" cy="6384892"/>
        </p:xfrm>
        <a:graphic>
          <a:graphicData uri="http://schemas.openxmlformats.org/drawingml/2006/table">
            <a:tbl>
              <a:tblPr firstRow="1" bandRow="1">
                <a:tableStyleId>{93296810-A885-4BE3-A3E7-6D5BEEA58F35}</a:tableStyleId>
              </a:tblPr>
              <a:tblGrid>
                <a:gridCol w="3357666">
                  <a:extLst>
                    <a:ext uri="{9D8B030D-6E8A-4147-A177-3AD203B41FA5}">
                      <a16:colId xmlns:a16="http://schemas.microsoft.com/office/drawing/2014/main" val="3119866760"/>
                    </a:ext>
                  </a:extLst>
                </a:gridCol>
                <a:gridCol w="1715596">
                  <a:extLst>
                    <a:ext uri="{9D8B030D-6E8A-4147-A177-3AD203B41FA5}">
                      <a16:colId xmlns:a16="http://schemas.microsoft.com/office/drawing/2014/main" val="1393556968"/>
                    </a:ext>
                  </a:extLst>
                </a:gridCol>
                <a:gridCol w="9182738">
                  <a:extLst>
                    <a:ext uri="{9D8B030D-6E8A-4147-A177-3AD203B41FA5}">
                      <a16:colId xmlns:a16="http://schemas.microsoft.com/office/drawing/2014/main" val="2670854256"/>
                    </a:ext>
                  </a:extLst>
                </a:gridCol>
              </a:tblGrid>
              <a:tr h="530844">
                <a:tc>
                  <a:txBody>
                    <a:bodyPr/>
                    <a:lstStyle/>
                    <a:p>
                      <a:pPr algn="ctr">
                        <a:lnSpc>
                          <a:spcPts val="1875"/>
                        </a:lnSpc>
                        <a:buNone/>
                      </a:pPr>
                      <a:r>
                        <a:rPr lang="en-US" sz="1800" b="1" dirty="0" err="1">
                          <a:effectLst/>
                          <a:latin typeface="Inter" panose="02000503000000020004" pitchFamily="2" charset="0"/>
                          <a:ea typeface="Inter" panose="02000503000000020004" pitchFamily="2" charset="0"/>
                        </a:rPr>
                        <a:t>Rủi</a:t>
                      </a:r>
                      <a:r>
                        <a:rPr lang="en-US" sz="1800" b="1" dirty="0">
                          <a:effectLst/>
                          <a:latin typeface="Inter" panose="02000503000000020004" pitchFamily="2" charset="0"/>
                          <a:ea typeface="Inter" panose="02000503000000020004" pitchFamily="2" charset="0"/>
                        </a:rPr>
                        <a:t> </a:t>
                      </a:r>
                      <a:r>
                        <a:rPr lang="en-US" sz="1800" b="1" dirty="0" err="1">
                          <a:effectLst/>
                          <a:latin typeface="Inter" panose="02000503000000020004" pitchFamily="2" charset="0"/>
                          <a:ea typeface="Inter" panose="02000503000000020004" pitchFamily="2" charset="0"/>
                        </a:rPr>
                        <a:t>ro</a:t>
                      </a:r>
                      <a:endParaRPr lang="en-US" sz="1800" b="1" dirty="0">
                        <a:effectLst/>
                        <a:latin typeface="Inter" panose="02000503000000020004" pitchFamily="2" charset="0"/>
                        <a:ea typeface="Inter" panose="02000503000000020004" pitchFamily="2" charset="0"/>
                      </a:endParaRP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75"/>
                        </a:lnSpc>
                        <a:buNone/>
                      </a:pPr>
                      <a:r>
                        <a:rPr lang="vi-VN" sz="1800" b="1">
                          <a:effectLst/>
                          <a:latin typeface="Inter" panose="02000503000000020004" pitchFamily="2" charset="0"/>
                          <a:ea typeface="Inter" panose="02000503000000020004" pitchFamily="2" charset="0"/>
                        </a:rPr>
                        <a:t>Mức độ ảnh hưởng</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75"/>
                        </a:lnSpc>
                        <a:buNone/>
                      </a:pPr>
                      <a:r>
                        <a:rPr lang="en-US" sz="1800" b="1" dirty="0" err="1">
                          <a:effectLst/>
                          <a:latin typeface="Inter" panose="02000503000000020004" pitchFamily="2" charset="0"/>
                          <a:ea typeface="Inter" panose="02000503000000020004" pitchFamily="2" charset="0"/>
                        </a:rPr>
                        <a:t>Giải</a:t>
                      </a:r>
                      <a:r>
                        <a:rPr lang="en-US" sz="1800" b="1" dirty="0">
                          <a:effectLst/>
                          <a:latin typeface="Inter" panose="02000503000000020004" pitchFamily="2" charset="0"/>
                          <a:ea typeface="Inter" panose="02000503000000020004" pitchFamily="2" charset="0"/>
                        </a:rPr>
                        <a:t> </a:t>
                      </a:r>
                      <a:r>
                        <a:rPr lang="en-US" sz="1800" b="1" dirty="0" err="1">
                          <a:effectLst/>
                          <a:latin typeface="Inter" panose="02000503000000020004" pitchFamily="2" charset="0"/>
                          <a:ea typeface="Inter" panose="02000503000000020004" pitchFamily="2" charset="0"/>
                        </a:rPr>
                        <a:t>pháp</a:t>
                      </a:r>
                      <a:r>
                        <a:rPr lang="en-US" sz="1800" b="1" dirty="0">
                          <a:effectLst/>
                          <a:latin typeface="Inter" panose="02000503000000020004" pitchFamily="2" charset="0"/>
                          <a:ea typeface="Inter" panose="02000503000000020004" pitchFamily="2" charset="0"/>
                        </a:rPr>
                        <a:t> </a:t>
                      </a:r>
                      <a:r>
                        <a:rPr lang="en-US" sz="1800" b="1" dirty="0" err="1">
                          <a:effectLst/>
                          <a:latin typeface="Inter" panose="02000503000000020004" pitchFamily="2" charset="0"/>
                          <a:ea typeface="Inter" panose="02000503000000020004" pitchFamily="2" charset="0"/>
                        </a:rPr>
                        <a:t>dự</a:t>
                      </a:r>
                      <a:r>
                        <a:rPr lang="en-US" sz="1800" b="1" dirty="0">
                          <a:effectLst/>
                          <a:latin typeface="Inter" panose="02000503000000020004" pitchFamily="2" charset="0"/>
                          <a:ea typeface="Inter" panose="02000503000000020004" pitchFamily="2" charset="0"/>
                        </a:rPr>
                        <a:t> </a:t>
                      </a:r>
                      <a:r>
                        <a:rPr lang="en-US" sz="1800" b="1" dirty="0" err="1">
                          <a:effectLst/>
                          <a:latin typeface="Inter" panose="02000503000000020004" pitchFamily="2" charset="0"/>
                          <a:ea typeface="Inter" panose="02000503000000020004" pitchFamily="2" charset="0"/>
                        </a:rPr>
                        <a:t>phòng</a:t>
                      </a:r>
                      <a:r>
                        <a:rPr lang="en-US" sz="1800" b="1" dirty="0">
                          <a:effectLst/>
                          <a:latin typeface="Inter" panose="02000503000000020004" pitchFamily="2" charset="0"/>
                          <a:ea typeface="Inter" panose="02000503000000020004" pitchFamily="2" charset="0"/>
                        </a:rPr>
                        <a:t> / </a:t>
                      </a:r>
                      <a:r>
                        <a:rPr lang="en-US" sz="1800" b="1" dirty="0" err="1">
                          <a:effectLst/>
                          <a:latin typeface="Inter" panose="02000503000000020004" pitchFamily="2" charset="0"/>
                          <a:ea typeface="Inter" panose="02000503000000020004" pitchFamily="2" charset="0"/>
                        </a:rPr>
                        <a:t>Hành</a:t>
                      </a:r>
                      <a:r>
                        <a:rPr lang="en-US" sz="1800" b="1" dirty="0">
                          <a:effectLst/>
                          <a:latin typeface="Inter" panose="02000503000000020004" pitchFamily="2" charset="0"/>
                          <a:ea typeface="Inter" panose="02000503000000020004" pitchFamily="2" charset="0"/>
                        </a:rPr>
                        <a:t> </a:t>
                      </a:r>
                      <a:r>
                        <a:rPr lang="en-US" sz="1800" b="1" dirty="0" err="1">
                          <a:effectLst/>
                          <a:latin typeface="Inter" panose="02000503000000020004" pitchFamily="2" charset="0"/>
                          <a:ea typeface="Inter" panose="02000503000000020004" pitchFamily="2" charset="0"/>
                        </a:rPr>
                        <a:t>động</a:t>
                      </a:r>
                      <a:r>
                        <a:rPr lang="en-US" sz="1800" b="1" dirty="0">
                          <a:effectLst/>
                          <a:latin typeface="Inter" panose="02000503000000020004" pitchFamily="2" charset="0"/>
                          <a:ea typeface="Inter" panose="02000503000000020004" pitchFamily="2" charset="0"/>
                        </a:rPr>
                        <a:t> </a:t>
                      </a:r>
                      <a:r>
                        <a:rPr lang="en-US" sz="1800" b="1" dirty="0" err="1">
                          <a:effectLst/>
                          <a:latin typeface="Inter" panose="02000503000000020004" pitchFamily="2" charset="0"/>
                          <a:ea typeface="Inter" panose="02000503000000020004" pitchFamily="2" charset="0"/>
                        </a:rPr>
                        <a:t>giảm</a:t>
                      </a:r>
                      <a:r>
                        <a:rPr lang="en-US" sz="1800" b="1" dirty="0">
                          <a:effectLst/>
                          <a:latin typeface="Inter" panose="02000503000000020004" pitchFamily="2" charset="0"/>
                          <a:ea typeface="Inter" panose="02000503000000020004" pitchFamily="2" charset="0"/>
                        </a:rPr>
                        <a:t> </a:t>
                      </a:r>
                      <a:r>
                        <a:rPr lang="en-US" sz="1800" b="1" dirty="0" err="1">
                          <a:effectLst/>
                          <a:latin typeface="Inter" panose="02000503000000020004" pitchFamily="2" charset="0"/>
                          <a:ea typeface="Inter" panose="02000503000000020004" pitchFamily="2" charset="0"/>
                        </a:rPr>
                        <a:t>thiểu</a:t>
                      </a:r>
                      <a:endParaRPr lang="en-US" sz="1800" b="1" dirty="0">
                        <a:effectLst/>
                        <a:latin typeface="Inter" panose="02000503000000020004" pitchFamily="2" charset="0"/>
                        <a:ea typeface="Inter" panose="02000503000000020004" pitchFamily="2" charset="0"/>
                      </a:endParaRP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486779"/>
                  </a:ext>
                </a:extLst>
              </a:tr>
              <a:tr h="951096">
                <a:tc>
                  <a:txBody>
                    <a:bodyPr/>
                    <a:lstStyle/>
                    <a:p>
                      <a:pPr algn="l">
                        <a:lnSpc>
                          <a:spcPts val="1875"/>
                        </a:lnSpc>
                        <a:buNone/>
                      </a:pPr>
                      <a:r>
                        <a:rPr lang="vi-VN" sz="1400" b="0" dirty="0">
                          <a:effectLst/>
                          <a:latin typeface="Inter" panose="02000503000000020004" pitchFamily="2" charset="0"/>
                          <a:ea typeface="Inter" panose="02000503000000020004" pitchFamily="2" charset="0"/>
                        </a:rPr>
                        <a:t>1. Tiến độ dự án trọng tâm (Kinh Ngư Vàng) bị chậm hoặc thay đổi.</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75"/>
                        </a:lnSpc>
                        <a:buNone/>
                      </a:pPr>
                      <a:r>
                        <a:rPr lang="en-US" sz="1400" b="0" dirty="0">
                          <a:effectLst/>
                          <a:latin typeface="Inter" panose="02000503000000020004" pitchFamily="2" charset="0"/>
                          <a:ea typeface="Inter" panose="02000503000000020004" pitchFamily="2" charset="0"/>
                        </a:rPr>
                        <a:t>Cao</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lnSpc>
                          <a:spcPts val="1875"/>
                        </a:lnSpc>
                        <a:buFont typeface="Arial" panose="020B0604020202020204" pitchFamily="34" charset="0"/>
                        <a:buChar char="•"/>
                      </a:pPr>
                      <a:r>
                        <a:rPr lang="en-US" sz="1400" b="0" dirty="0" err="1">
                          <a:effectLst/>
                          <a:latin typeface="Inter" panose="02000503000000020004" pitchFamily="2" charset="0"/>
                          <a:ea typeface="Inter" panose="02000503000000020004" pitchFamily="2" charset="0"/>
                        </a:rPr>
                        <a:t>Chủ</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động</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đề</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xuất</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tham</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gia</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phân</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tích</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dữ</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liệu</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móng</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từ</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các</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lô</a:t>
                      </a:r>
                      <a:r>
                        <a:rPr lang="en-US" sz="1400" b="0" dirty="0">
                          <a:effectLst/>
                          <a:latin typeface="Inter" panose="02000503000000020004" pitchFamily="2" charset="0"/>
                          <a:ea typeface="Inter" panose="02000503000000020004" pitchFamily="2" charset="0"/>
                        </a:rPr>
                        <a:t>/</a:t>
                      </a:r>
                      <a:r>
                        <a:rPr lang="en-US" sz="1400" b="0" dirty="0" err="1">
                          <a:effectLst/>
                          <a:latin typeface="Inter" panose="02000503000000020004" pitchFamily="2" charset="0"/>
                          <a:ea typeface="Inter" panose="02000503000000020004" pitchFamily="2" charset="0"/>
                        </a:rPr>
                        <a:t>dự</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án</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khác</a:t>
                      </a:r>
                      <a:r>
                        <a:rPr lang="en-US" sz="1400" b="0" dirty="0">
                          <a:effectLst/>
                          <a:latin typeface="Inter" panose="02000503000000020004" pitchFamily="2" charset="0"/>
                          <a:ea typeface="Inter" panose="02000503000000020004" pitchFamily="2" charset="0"/>
                        </a:rPr>
                        <a:t> (01-02/10, 46/13, 05-1a) </a:t>
                      </a:r>
                      <a:r>
                        <a:rPr lang="en-US" sz="1400" b="0" dirty="0" err="1">
                          <a:effectLst/>
                          <a:latin typeface="Inter" panose="02000503000000020004" pitchFamily="2" charset="0"/>
                          <a:ea typeface="Inter" panose="02000503000000020004" pitchFamily="2" charset="0"/>
                        </a:rPr>
                        <a:t>có</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sẵn</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tại</a:t>
                      </a:r>
                      <a:r>
                        <a:rPr lang="en-US" sz="1400" b="0" dirty="0">
                          <a:effectLst/>
                          <a:latin typeface="Inter" panose="02000503000000020004" pitchFamily="2" charset="0"/>
                          <a:ea typeface="Inter" panose="02000503000000020004" pitchFamily="2" charset="0"/>
                        </a:rPr>
                        <a:t> TTKT </a:t>
                      </a:r>
                      <a:r>
                        <a:rPr lang="en-US" sz="1400" b="0" dirty="0" err="1">
                          <a:effectLst/>
                          <a:latin typeface="Inter" panose="02000503000000020004" pitchFamily="2" charset="0"/>
                          <a:ea typeface="Inter" panose="02000503000000020004" pitchFamily="2" charset="0"/>
                        </a:rPr>
                        <a:t>để</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duy</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trì</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lộ</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trình</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thực</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hành</a:t>
                      </a:r>
                      <a:r>
                        <a:rPr lang="en-US" sz="1400" b="0" dirty="0">
                          <a:effectLst/>
                          <a:latin typeface="Inter" panose="02000503000000020004" pitchFamily="2" charset="0"/>
                          <a:ea typeface="Inter" panose="02000503000000020004" pitchFamily="2" charset="0"/>
                        </a:rPr>
                        <a:t>.</a:t>
                      </a:r>
                      <a:endParaRPr lang="vi-VN" sz="1400" b="0" dirty="0">
                        <a:effectLst/>
                        <a:latin typeface="Inter" panose="02000503000000020004" pitchFamily="2" charset="0"/>
                        <a:ea typeface="Inter" panose="02000503000000020004" pitchFamily="2" charset="0"/>
                      </a:endParaRPr>
                    </a:p>
                    <a:p>
                      <a:pPr marL="285750" indent="-285750" algn="l">
                        <a:lnSpc>
                          <a:spcPts val="1875"/>
                        </a:lnSpc>
                        <a:buFont typeface="Arial" panose="020B0604020202020204" pitchFamily="34" charset="0"/>
                        <a:buChar char="•"/>
                      </a:pPr>
                      <a:r>
                        <a:rPr lang="en-US" sz="1400" b="0" dirty="0" err="1">
                          <a:effectLst/>
                          <a:latin typeface="Inter" panose="02000503000000020004" pitchFamily="2" charset="0"/>
                          <a:ea typeface="Inter" panose="02000503000000020004" pitchFamily="2" charset="0"/>
                        </a:rPr>
                        <a:t>Tận</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dụng</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thời</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gian</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để</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học</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sâu</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lý</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thuyết</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nghiên</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cứu</a:t>
                      </a:r>
                      <a:r>
                        <a:rPr lang="en-US" sz="1400" b="0" dirty="0">
                          <a:effectLst/>
                          <a:latin typeface="Inter" panose="02000503000000020004" pitchFamily="2" charset="0"/>
                          <a:ea typeface="Inter" panose="02000503000000020004" pitchFamily="2" charset="0"/>
                        </a:rPr>
                        <a:t> case study </a:t>
                      </a:r>
                      <a:r>
                        <a:rPr lang="en-US" sz="1400" b="0" dirty="0" err="1">
                          <a:effectLst/>
                          <a:latin typeface="Inter" panose="02000503000000020004" pitchFamily="2" charset="0"/>
                          <a:ea typeface="Inter" panose="02000503000000020004" pitchFamily="2" charset="0"/>
                        </a:rPr>
                        <a:t>hoặc</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xây</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dựng</a:t>
                      </a:r>
                      <a:r>
                        <a:rPr lang="en-US" sz="1400" b="0" dirty="0">
                          <a:effectLst/>
                          <a:latin typeface="Inter" panose="02000503000000020004" pitchFamily="2" charset="0"/>
                          <a:ea typeface="Inter" panose="02000503000000020004" pitchFamily="2" charset="0"/>
                        </a:rPr>
                        <a:t> workflow </a:t>
                      </a:r>
                      <a:r>
                        <a:rPr lang="en-US" sz="1400" b="0" dirty="0" err="1">
                          <a:effectLst/>
                          <a:latin typeface="Inter" panose="02000503000000020004" pitchFamily="2" charset="0"/>
                          <a:ea typeface="Inter" panose="02000503000000020004" pitchFamily="2" charset="0"/>
                        </a:rPr>
                        <a:t>chuẩn</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trên</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dữ</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liệu</a:t>
                      </a:r>
                      <a:r>
                        <a:rPr lang="en-US" sz="1400" b="0" dirty="0">
                          <a:effectLst/>
                          <a:latin typeface="Inter" panose="02000503000000020004" pitchFamily="2" charset="0"/>
                          <a:ea typeface="Inter" panose="02000503000000020004" pitchFamily="2" charset="0"/>
                        </a:rPr>
                        <a:t> </a:t>
                      </a:r>
                      <a:r>
                        <a:rPr lang="en-US" sz="1400" b="0" dirty="0" err="1">
                          <a:effectLst/>
                          <a:latin typeface="Inter" panose="02000503000000020004" pitchFamily="2" charset="0"/>
                          <a:ea typeface="Inter" panose="02000503000000020004" pitchFamily="2" charset="0"/>
                        </a:rPr>
                        <a:t>mẫu</a:t>
                      </a:r>
                      <a:r>
                        <a:rPr lang="en-US" sz="1400" b="0" dirty="0">
                          <a:effectLst/>
                          <a:latin typeface="Inter" panose="02000503000000020004" pitchFamily="2" charset="0"/>
                          <a:ea typeface="Inter" panose="02000503000000020004" pitchFamily="2" charset="0"/>
                        </a:rPr>
                        <a:t>.</a:t>
                      </a:r>
                    </a:p>
                  </a:txBody>
                  <a:tcPr marL="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2799981"/>
                  </a:ext>
                </a:extLst>
              </a:tr>
              <a:tr h="995012">
                <a:tc>
                  <a:txBody>
                    <a:bodyPr/>
                    <a:lstStyle/>
                    <a:p>
                      <a:pPr algn="l">
                        <a:lnSpc>
                          <a:spcPts val="1875"/>
                        </a:lnSpc>
                        <a:buNone/>
                      </a:pPr>
                      <a:r>
                        <a:rPr lang="vi-VN" sz="1400" b="0" dirty="0">
                          <a:effectLst/>
                          <a:latin typeface="Inter" panose="02000503000000020004" pitchFamily="2" charset="0"/>
                          <a:ea typeface="Inter" panose="02000503000000020004" pitchFamily="2" charset="0"/>
                        </a:rPr>
                        <a:t>2. Hạn chế về nguồn lực hỗ trợ (chuyên gia/người hướng dẫn bận, thiếu thời gian kèm cặp chi tiết).</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75"/>
                        </a:lnSpc>
                        <a:buNone/>
                      </a:pPr>
                      <a:r>
                        <a:rPr lang="en-US" sz="1400" b="0" dirty="0">
                          <a:effectLst/>
                          <a:latin typeface="Inter" panose="02000503000000020004" pitchFamily="2" charset="0"/>
                          <a:ea typeface="Inter" panose="02000503000000020004" pitchFamily="2" charset="0"/>
                        </a:rPr>
                        <a:t>Trung </a:t>
                      </a:r>
                      <a:r>
                        <a:rPr lang="en-US" sz="1400" b="0" dirty="0" err="1">
                          <a:effectLst/>
                          <a:latin typeface="Inter" panose="02000503000000020004" pitchFamily="2" charset="0"/>
                          <a:ea typeface="Inter" panose="02000503000000020004" pitchFamily="2" charset="0"/>
                        </a:rPr>
                        <a:t>bình</a:t>
                      </a:r>
                      <a:r>
                        <a:rPr lang="en-US" sz="1400" b="0" dirty="0">
                          <a:effectLst/>
                          <a:latin typeface="Inter" panose="02000503000000020004" pitchFamily="2" charset="0"/>
                          <a:ea typeface="Inter" panose="02000503000000020004" pitchFamily="2" charset="0"/>
                        </a:rPr>
                        <a:t> - Cao</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lnSpc>
                          <a:spcPts val="1875"/>
                        </a:lnSpc>
                        <a:buFont typeface="Arial" panose="020B0604020202020204" pitchFamily="34" charset="0"/>
                        <a:buChar char="•"/>
                      </a:pPr>
                      <a:r>
                        <a:rPr lang="vi-VN" sz="1400" b="0" dirty="0">
                          <a:effectLst/>
                          <a:latin typeface="Inter" panose="02000503000000020004" pitchFamily="2" charset="0"/>
                          <a:ea typeface="Inter" panose="02000503000000020004" pitchFamily="2" charset="0"/>
                        </a:rPr>
                        <a:t>Chủ động chuẩn bị câu hỏi và vấn đề kỹ thuật cụ thể, tối ưu hóa thời gian trao đổi.</a:t>
                      </a:r>
                    </a:p>
                    <a:p>
                      <a:pPr marL="285750" indent="-285750" algn="l">
                        <a:lnSpc>
                          <a:spcPts val="1875"/>
                        </a:lnSpc>
                        <a:buFont typeface="Arial" panose="020B0604020202020204" pitchFamily="34" charset="0"/>
                        <a:buChar char="•"/>
                      </a:pPr>
                      <a:r>
                        <a:rPr lang="vi-VN" sz="1400" b="0" dirty="0">
                          <a:effectLst/>
                          <a:latin typeface="Inter" panose="02000503000000020004" pitchFamily="2" charset="0"/>
                          <a:ea typeface="Inter" panose="02000503000000020004" pitchFamily="2" charset="0"/>
                        </a:rPr>
                        <a:t>Mở rộng kênh học tập: Tăng cường tự nghiên cứu tài liệu nội bộ, và học hỏi từ các đồng nghiệp có kinh nghiệm khác trong TTKT.</a:t>
                      </a:r>
                    </a:p>
                  </a:txBody>
                  <a:tcPr marL="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3832729"/>
                  </a:ext>
                </a:extLst>
              </a:tr>
              <a:tr h="1161222">
                <a:tc>
                  <a:txBody>
                    <a:bodyPr/>
                    <a:lstStyle/>
                    <a:p>
                      <a:pPr algn="l">
                        <a:lnSpc>
                          <a:spcPts val="1875"/>
                        </a:lnSpc>
                        <a:buNone/>
                      </a:pPr>
                      <a:r>
                        <a:rPr lang="vi-VN" sz="1400" b="0" dirty="0">
                          <a:effectLst/>
                          <a:latin typeface="Inter" panose="02000503000000020004" pitchFamily="2" charset="0"/>
                          <a:ea typeface="Inter" panose="02000503000000020004" pitchFamily="2" charset="0"/>
                        </a:rPr>
                        <a:t>3. Hạn chế về công cụ/phần mềm (không được cấp quyền sử dụng đầy đủ module Petrel Geoscience Core hoặc phần mềm chuyên sâu khác).</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75"/>
                        </a:lnSpc>
                        <a:buNone/>
                      </a:pPr>
                      <a:r>
                        <a:rPr lang="en-US" sz="1400" b="0" dirty="0">
                          <a:effectLst/>
                          <a:latin typeface="Inter" panose="02000503000000020004" pitchFamily="2" charset="0"/>
                          <a:ea typeface="Inter" panose="02000503000000020004" pitchFamily="2" charset="0"/>
                        </a:rPr>
                        <a:t>Trung </a:t>
                      </a:r>
                      <a:r>
                        <a:rPr lang="en-US" sz="1400" b="0" dirty="0" err="1">
                          <a:effectLst/>
                          <a:latin typeface="Inter" panose="02000503000000020004" pitchFamily="2" charset="0"/>
                          <a:ea typeface="Inter" panose="02000503000000020004" pitchFamily="2" charset="0"/>
                        </a:rPr>
                        <a:t>bình</a:t>
                      </a:r>
                      <a:endParaRPr lang="en-US" sz="1400" b="0" dirty="0">
                        <a:effectLst/>
                        <a:latin typeface="Inter" panose="02000503000000020004" pitchFamily="2" charset="0"/>
                        <a:ea typeface="Inter" panose="02000503000000020004" pitchFamily="2" charset="0"/>
                      </a:endParaRP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lnSpc>
                          <a:spcPts val="1875"/>
                        </a:lnSpc>
                        <a:buFont typeface="Arial" panose="020B0604020202020204" pitchFamily="34" charset="0"/>
                        <a:buChar char="•"/>
                      </a:pPr>
                      <a:r>
                        <a:rPr lang="vi-VN" sz="1400" b="0" dirty="0">
                          <a:effectLst/>
                          <a:latin typeface="Inter" panose="02000503000000020004" pitchFamily="2" charset="0"/>
                          <a:ea typeface="Inter" panose="02000503000000020004" pitchFamily="2" charset="0"/>
                        </a:rPr>
                        <a:t>Đề xuất sớm nhu cầu phần mềm và lý do cụ thể với lãnh đạo.</a:t>
                      </a:r>
                    </a:p>
                    <a:p>
                      <a:pPr marL="285750" indent="-285750" algn="l">
                        <a:lnSpc>
                          <a:spcPts val="1875"/>
                        </a:lnSpc>
                        <a:buFont typeface="Arial" panose="020B0604020202020204" pitchFamily="34" charset="0"/>
                        <a:buChar char="•"/>
                      </a:pPr>
                      <a:r>
                        <a:rPr lang="vi-VN" sz="1400" b="0" dirty="0">
                          <a:effectLst/>
                          <a:latin typeface="Inter" panose="02000503000000020004" pitchFamily="2" charset="0"/>
                          <a:ea typeface="Inter" panose="02000503000000020004" pitchFamily="2" charset="0"/>
                        </a:rPr>
                        <a:t>Tập trung vào việc nắm vững nguyên lý và phương pháp luận, có thể thực hành trên dữ liệu mẫu quy mô nhỏ.</a:t>
                      </a:r>
                    </a:p>
                  </a:txBody>
                  <a:tcPr marL="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1771704"/>
                  </a:ext>
                </a:extLst>
              </a:tr>
              <a:tr h="916163">
                <a:tc>
                  <a:txBody>
                    <a:bodyPr/>
                    <a:lstStyle/>
                    <a:p>
                      <a:pPr algn="l">
                        <a:lnSpc>
                          <a:spcPts val="1875"/>
                        </a:lnSpc>
                        <a:buNone/>
                      </a:pPr>
                      <a:r>
                        <a:rPr lang="vi-VN" sz="1400" b="0" dirty="0">
                          <a:effectLst/>
                          <a:latin typeface="Inter" panose="02000503000000020004" pitchFamily="2" charset="0"/>
                          <a:ea typeface="Inter" panose="02000503000000020004" pitchFamily="2" charset="0"/>
                        </a:rPr>
                        <a:t>4. Khó khăn trong việc áp dụng AI/ML do thiếu dữ liệu huấn luyện chất lượng hoặc gặp vấn đề kỹ thuật khi tích hợp.</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75"/>
                        </a:lnSpc>
                        <a:buNone/>
                      </a:pPr>
                      <a:r>
                        <a:rPr lang="en-US" sz="1400" b="0" dirty="0">
                          <a:effectLst/>
                          <a:latin typeface="Inter" panose="02000503000000020004" pitchFamily="2" charset="0"/>
                          <a:ea typeface="Inter" panose="02000503000000020004" pitchFamily="2" charset="0"/>
                        </a:rPr>
                        <a:t>Trung </a:t>
                      </a:r>
                      <a:r>
                        <a:rPr lang="en-US" sz="1400" b="0" dirty="0" err="1">
                          <a:effectLst/>
                          <a:latin typeface="Inter" panose="02000503000000020004" pitchFamily="2" charset="0"/>
                          <a:ea typeface="Inter" panose="02000503000000020004" pitchFamily="2" charset="0"/>
                        </a:rPr>
                        <a:t>bình</a:t>
                      </a:r>
                      <a:endParaRPr lang="en-US" sz="1400" b="0" dirty="0">
                        <a:effectLst/>
                        <a:latin typeface="Inter" panose="02000503000000020004" pitchFamily="2" charset="0"/>
                        <a:ea typeface="Inter" panose="02000503000000020004" pitchFamily="2" charset="0"/>
                      </a:endParaRP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lnSpc>
                          <a:spcPts val="1875"/>
                        </a:lnSpc>
                        <a:buFont typeface="Arial" panose="020B0604020202020204" pitchFamily="34" charset="0"/>
                        <a:buChar char="•"/>
                      </a:pPr>
                      <a:r>
                        <a:rPr lang="vi-VN" sz="1400" b="0" dirty="0">
                          <a:effectLst/>
                          <a:latin typeface="Inter" panose="02000503000000020004" pitchFamily="2" charset="0"/>
                          <a:ea typeface="Inter" panose="02000503000000020004" pitchFamily="2" charset="0"/>
                        </a:rPr>
                        <a:t>Bắt đầu với các mô hình đơn giản để làm quen và chứng minh tính khả thi.</a:t>
                      </a:r>
                    </a:p>
                    <a:p>
                      <a:pPr marL="285750" indent="-285750" algn="l">
                        <a:lnSpc>
                          <a:spcPts val="1875"/>
                        </a:lnSpc>
                        <a:buFont typeface="Arial" panose="020B0604020202020204" pitchFamily="34" charset="0"/>
                        <a:buChar char="•"/>
                      </a:pPr>
                      <a:r>
                        <a:rPr lang="vi-VN" sz="1400" b="0" dirty="0">
                          <a:effectLst/>
                          <a:latin typeface="Inter" panose="02000503000000020004" pitchFamily="2" charset="0"/>
                          <a:ea typeface="Inter" panose="02000503000000020004" pitchFamily="2" charset="0"/>
                        </a:rPr>
                        <a:t>Hợp tác với bộ phận CNTT hoặc chuyên gia data science của SLB để được tư vấn.</a:t>
                      </a:r>
                    </a:p>
                  </a:txBody>
                  <a:tcPr marL="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4547117"/>
                  </a:ext>
                </a:extLst>
              </a:tr>
              <a:tr h="1161222">
                <a:tc>
                  <a:txBody>
                    <a:bodyPr/>
                    <a:lstStyle/>
                    <a:p>
                      <a:pPr algn="l">
                        <a:lnSpc>
                          <a:spcPts val="1875"/>
                        </a:lnSpc>
                        <a:buNone/>
                      </a:pPr>
                      <a:r>
                        <a:rPr lang="vi-VN" sz="1400" b="0" dirty="0">
                          <a:effectLst/>
                          <a:latin typeface="Inter" panose="02000503000000020004" pitchFamily="2" charset="0"/>
                          <a:ea typeface="Inter" panose="02000503000000020004" pitchFamily="2" charset="0"/>
                        </a:rPr>
                        <a:t>5. Không đạt được các chỉ tiêu định lượng đã đề ra (ví dụ: tỷ lệ % trong báo cáo, số người tham dự buổi chia sẻ).</a:t>
                      </a: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75"/>
                        </a:lnSpc>
                        <a:buNone/>
                      </a:pPr>
                      <a:r>
                        <a:rPr lang="en-US" sz="1400" b="0" dirty="0">
                          <a:effectLst/>
                          <a:latin typeface="Inter" panose="02000503000000020004" pitchFamily="2" charset="0"/>
                          <a:ea typeface="Inter" panose="02000503000000020004" pitchFamily="2" charset="0"/>
                        </a:rPr>
                        <a:t>Trung </a:t>
                      </a:r>
                      <a:r>
                        <a:rPr lang="en-US" sz="1400" b="0" dirty="0" err="1">
                          <a:effectLst/>
                          <a:latin typeface="Inter" panose="02000503000000020004" pitchFamily="2" charset="0"/>
                          <a:ea typeface="Inter" panose="02000503000000020004" pitchFamily="2" charset="0"/>
                        </a:rPr>
                        <a:t>bình</a:t>
                      </a:r>
                      <a:endParaRPr lang="en-US" sz="1400" b="0" dirty="0">
                        <a:effectLst/>
                        <a:latin typeface="Inter" panose="02000503000000020004" pitchFamily="2" charset="0"/>
                        <a:ea typeface="Inter" panose="02000503000000020004" pitchFamily="2" charset="0"/>
                      </a:endParaRPr>
                    </a:p>
                  </a:txBody>
                  <a:tcPr marL="101600" marR="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a:lnSpc>
                          <a:spcPts val="1875"/>
                        </a:lnSpc>
                        <a:buFont typeface="Arial" panose="020B0604020202020204" pitchFamily="34" charset="0"/>
                        <a:buChar char="•"/>
                      </a:pPr>
                      <a:r>
                        <a:rPr lang="vi-VN" sz="1400" b="0" dirty="0">
                          <a:effectLst/>
                          <a:latin typeface="Inter" panose="02000503000000020004" pitchFamily="2" charset="0"/>
                          <a:ea typeface="Inter" panose="02000503000000020004" pitchFamily="2" charset="0"/>
                        </a:rPr>
                        <a:t>Theo dõi và đánh giá định kỳ (hàng quý) để phát hiện chậm tiến độ sớm.</a:t>
                      </a:r>
                    </a:p>
                    <a:p>
                      <a:pPr marL="285750" indent="-285750" algn="l">
                        <a:lnSpc>
                          <a:spcPts val="1875"/>
                        </a:lnSpc>
                        <a:buFont typeface="Arial" panose="020B0604020202020204" pitchFamily="34" charset="0"/>
                        <a:buChar char="•"/>
                      </a:pPr>
                      <a:r>
                        <a:rPr lang="vi-VN" sz="1400" b="0" dirty="0">
                          <a:effectLst/>
                          <a:latin typeface="Inter" panose="02000503000000020004" pitchFamily="2" charset="0"/>
                          <a:ea typeface="Inter" panose="02000503000000020004" pitchFamily="2" charset="0"/>
                        </a:rPr>
                        <a:t>Điều chỉnh kịp thời kế hoạch hành động cá nhân (tăng cường độ luyện tập, tìm thêm tài liệu tham khảo, đổi mới hình thức chia sẻ).</a:t>
                      </a:r>
                    </a:p>
                    <a:p>
                      <a:pPr marL="285750" indent="-285750" algn="l">
                        <a:lnSpc>
                          <a:spcPts val="1875"/>
                        </a:lnSpc>
                        <a:buFont typeface="Arial" panose="020B0604020202020204" pitchFamily="34" charset="0"/>
                        <a:buChar char="•"/>
                      </a:pPr>
                      <a:r>
                        <a:rPr lang="vi-VN" sz="1400" b="0" dirty="0">
                          <a:effectLst/>
                          <a:latin typeface="Inter" panose="02000503000000020004" pitchFamily="2" charset="0"/>
                          <a:ea typeface="Inter" panose="02000503000000020004" pitchFamily="2" charset="0"/>
                        </a:rPr>
                        <a:t>Ghi nhận các bài học kinh nghiệm và kết quả đã đạt được dù chưa hoàn toàn đạt chỉ tiêu để làm cơ sở cải thiện cho giai đoạn tiếp theo.</a:t>
                      </a:r>
                    </a:p>
                  </a:txBody>
                  <a:tcPr marL="1016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1739910"/>
                  </a:ext>
                </a:extLst>
              </a:tr>
            </a:tbl>
          </a:graphicData>
        </a:graphic>
      </p:graphicFrame>
    </p:spTree>
    <p:extLst>
      <p:ext uri="{BB962C8B-B14F-4D97-AF65-F5344CB8AC3E}">
        <p14:creationId xmlns:p14="http://schemas.microsoft.com/office/powerpoint/2010/main" val="4070860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TotalTime>
  <Words>2397</Words>
  <Application>Microsoft Office PowerPoint</Application>
  <PresentationFormat>Custom</PresentationFormat>
  <Paragraphs>189</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Inter</vt:lpstr>
      <vt:lpstr>Inter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Hoang Minh Quan</dc:creator>
  <cp:lastModifiedBy>Quan Hoang</cp:lastModifiedBy>
  <cp:revision>34</cp:revision>
  <dcterms:created xsi:type="dcterms:W3CDTF">2025-12-03T05:57:56Z</dcterms:created>
  <dcterms:modified xsi:type="dcterms:W3CDTF">2025-12-03T14:41:46Z</dcterms:modified>
</cp:coreProperties>
</file>