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2"/>
  </p:notesMasterIdLst>
  <p:sldIdLst>
    <p:sldId id="257" r:id="rId3"/>
    <p:sldId id="270" r:id="rId4"/>
    <p:sldId id="2147481305" r:id="rId5"/>
    <p:sldId id="2147481309" r:id="rId6"/>
    <p:sldId id="2147481304" r:id="rId7"/>
    <p:sldId id="2147481312" r:id="rId8"/>
    <p:sldId id="2147481307" r:id="rId9"/>
    <p:sldId id="2147481311" r:id="rId10"/>
    <p:sldId id="2147481310" r:id="rId11"/>
  </p:sldIdLst>
  <p:sldSz cx="12192000" cy="6858000"/>
  <p:notesSz cx="6797675" cy="9926638"/>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B0"/>
    <a:srgbClr val="2CAEAB"/>
    <a:srgbClr val="00FFFF"/>
    <a:srgbClr val="89FFB0"/>
    <a:srgbClr val="66FF99"/>
    <a:srgbClr val="66FFCC"/>
    <a:srgbClr val="EBFFEB"/>
    <a:srgbClr val="F7FFF7"/>
    <a:srgbClr val="0033CC"/>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87" autoAdjust="0"/>
    <p:restoredTop sz="93509" autoAdjust="0"/>
  </p:normalViewPr>
  <p:slideViewPr>
    <p:cSldViewPr snapToGrid="0">
      <p:cViewPr varScale="1">
        <p:scale>
          <a:sx n="103" d="100"/>
          <a:sy n="103" d="100"/>
        </p:scale>
        <p:origin x="1182"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Trong Nguyen" userId="3a2798d5-50dd-4d58-a347-d6ff8b5347c3" providerId="ADAL" clId="{B5C886A9-86A1-4221-8161-32C85CECE612}"/>
    <pc:docChg chg="undo redo custSel addSld delSld modSld sldOrd delMainMaster modMainMaster">
      <pc:chgData name="Nguyen Trong Nguyen" userId="3a2798d5-50dd-4d58-a347-d6ff8b5347c3" providerId="ADAL" clId="{B5C886A9-86A1-4221-8161-32C85CECE612}" dt="2025-11-05T02:24:41.698" v="1954"/>
      <pc:docMkLst>
        <pc:docMk/>
      </pc:docMkLst>
    </pc:docChg>
  </pc:docChgLst>
  <pc:docChgLst>
    <pc:chgData name="Vu Thi Dung TTKT" userId="c9adaa4d-0a88-45f5-b5c1-370849f8847f" providerId="ADAL" clId="{BDA4BE97-7864-4CE7-B484-F5618EB65851}"/>
    <pc:docChg chg="modSld">
      <pc:chgData name="Vu Thi Dung TTKT" userId="c9adaa4d-0a88-45f5-b5c1-370849f8847f" providerId="ADAL" clId="{BDA4BE97-7864-4CE7-B484-F5618EB65851}" dt="2025-12-04T04:38:58.266" v="0" actId="14734"/>
      <pc:docMkLst>
        <pc:docMk/>
      </pc:docMkLst>
      <pc:sldChg chg="modSp mod">
        <pc:chgData name="Vu Thi Dung TTKT" userId="c9adaa4d-0a88-45f5-b5c1-370849f8847f" providerId="ADAL" clId="{BDA4BE97-7864-4CE7-B484-F5618EB65851}" dt="2025-12-04T04:38:58.266" v="0" actId="14734"/>
        <pc:sldMkLst>
          <pc:docMk/>
          <pc:sldMk cId="1077477742" sldId="2147481309"/>
        </pc:sldMkLst>
        <pc:graphicFrameChg chg="modGraphic">
          <ac:chgData name="Vu Thi Dung TTKT" userId="c9adaa4d-0a88-45f5-b5c1-370849f8847f" providerId="ADAL" clId="{BDA4BE97-7864-4CE7-B484-F5618EB65851}" dt="2025-12-04T04:38:58.266" v="0" actId="14734"/>
          <ac:graphicFrameMkLst>
            <pc:docMk/>
            <pc:sldMk cId="1077477742" sldId="2147481309"/>
            <ac:graphicFrameMk id="2" creationId="{B3A1EF31-FDBC-DEDE-75EA-C8F17B64E92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9A24A850-ECC0-4425-8093-5CC2A5E2FF06}" type="datetimeFigureOut">
              <a:rPr lang="en-US" smtClean="0"/>
              <a:t>12/4/2025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45790482-7E24-46F1-B67B-8E747BFFA61D}" type="slidenum">
              <a:rPr lang="en-US" smtClean="0"/>
              <a:t>‹#›</a:t>
            </a:fld>
            <a:endParaRPr lang="en-US"/>
          </a:p>
        </p:txBody>
      </p:sp>
    </p:spTree>
    <p:extLst>
      <p:ext uri="{BB962C8B-B14F-4D97-AF65-F5344CB8AC3E}">
        <p14:creationId xmlns:p14="http://schemas.microsoft.com/office/powerpoint/2010/main" val="1901648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3CD14-44E1-4AA2-8FF0-B249F2CF2D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6124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3CD14-44E1-4AA2-8FF0-B249F2CF2D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4423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3CD14-44E1-4AA2-8FF0-B249F2CF2D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177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3CD14-44E1-4AA2-8FF0-B249F2CF2D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0313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3CD14-44E1-4AA2-8FF0-B249F2CF2D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9467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3CD14-44E1-4AA2-8FF0-B249F2CF2D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3819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3CD14-44E1-4AA2-8FF0-B249F2CF2D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526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3CD14-44E1-4AA2-8FF0-B249F2CF2D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2228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6C91-BB56-A24B-FA6A-6623D3856F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2B064CB-5BDD-406B-001C-0176594CAE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8D0B542-7C0A-FCB0-8C11-FD82C8E6F27F}"/>
              </a:ext>
            </a:extLst>
          </p:cNvPr>
          <p:cNvSpPr>
            <a:spLocks noGrp="1"/>
          </p:cNvSpPr>
          <p:nvPr>
            <p:ph type="dt" sz="half" idx="10"/>
          </p:nvPr>
        </p:nvSpPr>
        <p:spPr/>
        <p:txBody>
          <a:bodyPr/>
          <a:lstStyle/>
          <a:p>
            <a:fld id="{402B9795-92DC-40DC-A1CA-9A4B349D7824}" type="datetimeFigureOut">
              <a:rPr lang="en-US" smtClean="0"/>
              <a:pPr/>
              <a:t>12/4/2025</a:t>
            </a:fld>
            <a:endParaRPr lang="en-US" dirty="0"/>
          </a:p>
        </p:txBody>
      </p:sp>
      <p:sp>
        <p:nvSpPr>
          <p:cNvPr id="5" name="Footer Placeholder 4">
            <a:extLst>
              <a:ext uri="{FF2B5EF4-FFF2-40B4-BE49-F238E27FC236}">
                <a16:creationId xmlns:a16="http://schemas.microsoft.com/office/drawing/2014/main" id="{D6825AFC-C26B-81F7-91F9-AFBCD9716F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946305-A08E-0168-715F-8E9901B91F8B}"/>
              </a:ext>
            </a:extLst>
          </p:cNvPr>
          <p:cNvSpPr>
            <a:spLocks noGrp="1"/>
          </p:cNvSpPr>
          <p:nvPr>
            <p:ph type="sldNum" sz="quarter" idx="12"/>
          </p:nvPr>
        </p:nvSpPr>
        <p:spPr/>
        <p:txBody>
          <a:bodyPr/>
          <a:lstStyle/>
          <a:p>
            <a:fld id="{0FF54DE5-C571-48E8-A5BC-B369434E2F44}" type="slidenum">
              <a:rPr lang="en-US" smtClean="0"/>
              <a:pPr/>
              <a:t>‹#›</a:t>
            </a:fld>
            <a:endParaRPr lang="en-US"/>
          </a:p>
        </p:txBody>
      </p:sp>
    </p:spTree>
    <p:extLst>
      <p:ext uri="{BB962C8B-B14F-4D97-AF65-F5344CB8AC3E}">
        <p14:creationId xmlns:p14="http://schemas.microsoft.com/office/powerpoint/2010/main" val="363465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92251-FD30-D12C-49E6-148CA8B59AA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A3DB24C-73A7-7383-D6F2-BBD235D562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4A80AAE-8431-6025-40D9-938AA0879427}"/>
              </a:ext>
            </a:extLst>
          </p:cNvPr>
          <p:cNvSpPr>
            <a:spLocks noGrp="1"/>
          </p:cNvSpPr>
          <p:nvPr>
            <p:ph type="dt" sz="half" idx="10"/>
          </p:nvPr>
        </p:nvSpPr>
        <p:spPr/>
        <p:txBody>
          <a:bodyPr/>
          <a:lstStyle/>
          <a:p>
            <a:fld id="{402B9795-92DC-40DC-A1CA-9A4B349D7824}" type="datetimeFigureOut">
              <a:rPr lang="en-US" smtClean="0"/>
              <a:t>12/4/2025</a:t>
            </a:fld>
            <a:endParaRPr lang="en-US"/>
          </a:p>
        </p:txBody>
      </p:sp>
      <p:sp>
        <p:nvSpPr>
          <p:cNvPr id="5" name="Footer Placeholder 4">
            <a:extLst>
              <a:ext uri="{FF2B5EF4-FFF2-40B4-BE49-F238E27FC236}">
                <a16:creationId xmlns:a16="http://schemas.microsoft.com/office/drawing/2014/main" id="{DB603D92-A194-CA89-9C8E-5562E72B0B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351AFA-28E3-9B39-17B4-1441878B84BA}"/>
              </a:ext>
            </a:extLst>
          </p:cNvPr>
          <p:cNvSpPr>
            <a:spLocks noGrp="1"/>
          </p:cNvSpPr>
          <p:nvPr>
            <p:ph type="sldNum" sz="quarter" idx="12"/>
          </p:nvPr>
        </p:nvSpPr>
        <p:spPr/>
        <p:txBody>
          <a:bodyPr/>
          <a:lstStyle/>
          <a:p>
            <a:fld id="{0FF54DE5-C571-48E8-A5BC-B369434E2F44}" type="slidenum">
              <a:rPr lang="en-GB" smtClean="0"/>
              <a:t>‹#›</a:t>
            </a:fld>
            <a:endParaRPr lang="en-GB"/>
          </a:p>
        </p:txBody>
      </p:sp>
    </p:spTree>
    <p:extLst>
      <p:ext uri="{BB962C8B-B14F-4D97-AF65-F5344CB8AC3E}">
        <p14:creationId xmlns:p14="http://schemas.microsoft.com/office/powerpoint/2010/main" val="877070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6EFBD-5885-9FC6-DEA9-10EA26660A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4E4BACD-379B-4EFB-749D-745763710F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1F04FD-8CFA-088D-2BDB-25CB7C784717}"/>
              </a:ext>
            </a:extLst>
          </p:cNvPr>
          <p:cNvSpPr>
            <a:spLocks noGrp="1"/>
          </p:cNvSpPr>
          <p:nvPr>
            <p:ph type="dt" sz="half" idx="10"/>
          </p:nvPr>
        </p:nvSpPr>
        <p:spPr/>
        <p:txBody>
          <a:bodyPr/>
          <a:lstStyle/>
          <a:p>
            <a:fld id="{402B9795-92DC-40DC-A1CA-9A4B349D7824}" type="datetimeFigureOut">
              <a:rPr lang="en-US" smtClean="0"/>
              <a:t>12/4/2025</a:t>
            </a:fld>
            <a:endParaRPr lang="en-US"/>
          </a:p>
        </p:txBody>
      </p:sp>
      <p:sp>
        <p:nvSpPr>
          <p:cNvPr id="5" name="Footer Placeholder 4">
            <a:extLst>
              <a:ext uri="{FF2B5EF4-FFF2-40B4-BE49-F238E27FC236}">
                <a16:creationId xmlns:a16="http://schemas.microsoft.com/office/drawing/2014/main" id="{134A7ACA-558A-49FC-4E80-95A7AA1276C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D7C9F91-3948-8D97-5E41-DCFCA85CB94A}"/>
              </a:ext>
            </a:extLst>
          </p:cNvPr>
          <p:cNvSpPr>
            <a:spLocks noGrp="1"/>
          </p:cNvSpPr>
          <p:nvPr>
            <p:ph type="sldNum" sz="quarter" idx="12"/>
          </p:nvPr>
        </p:nvSpPr>
        <p:spPr/>
        <p:txBody>
          <a:bodyPr/>
          <a:lstStyle/>
          <a:p>
            <a:fld id="{0FF54DE5-C571-48E8-A5BC-B369434E2F44}" type="slidenum">
              <a:rPr lang="en-GB" smtClean="0"/>
              <a:t>‹#›</a:t>
            </a:fld>
            <a:endParaRPr lang="en-GB"/>
          </a:p>
        </p:txBody>
      </p:sp>
    </p:spTree>
    <p:extLst>
      <p:ext uri="{BB962C8B-B14F-4D97-AF65-F5344CB8AC3E}">
        <p14:creationId xmlns:p14="http://schemas.microsoft.com/office/powerpoint/2010/main" val="318108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765AE-9212-E21D-62F5-97384F6EDF9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9AB913C-E69A-9DA3-E585-9F6DAD324F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97943C-144C-BBDA-F6DB-832B766A6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AC6E7BA-CA83-C369-AC1B-DECE669DF058}"/>
              </a:ext>
            </a:extLst>
          </p:cNvPr>
          <p:cNvSpPr>
            <a:spLocks noGrp="1"/>
          </p:cNvSpPr>
          <p:nvPr>
            <p:ph type="dt" sz="half" idx="10"/>
          </p:nvPr>
        </p:nvSpPr>
        <p:spPr/>
        <p:txBody>
          <a:bodyPr/>
          <a:lstStyle/>
          <a:p>
            <a:fld id="{402B9795-92DC-40DC-A1CA-9A4B349D7824}" type="datetimeFigureOut">
              <a:rPr lang="en-US" smtClean="0"/>
              <a:t>12/4/2025</a:t>
            </a:fld>
            <a:endParaRPr lang="en-US"/>
          </a:p>
        </p:txBody>
      </p:sp>
      <p:sp>
        <p:nvSpPr>
          <p:cNvPr id="6" name="Footer Placeholder 5">
            <a:extLst>
              <a:ext uri="{FF2B5EF4-FFF2-40B4-BE49-F238E27FC236}">
                <a16:creationId xmlns:a16="http://schemas.microsoft.com/office/drawing/2014/main" id="{037EB4BB-9B20-654B-D047-6F036D0B429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FA37E39-727F-9C3C-8D3F-E647346EB3C9}"/>
              </a:ext>
            </a:extLst>
          </p:cNvPr>
          <p:cNvSpPr>
            <a:spLocks noGrp="1"/>
          </p:cNvSpPr>
          <p:nvPr>
            <p:ph type="sldNum" sz="quarter" idx="12"/>
          </p:nvPr>
        </p:nvSpPr>
        <p:spPr/>
        <p:txBody>
          <a:bodyPr/>
          <a:lstStyle/>
          <a:p>
            <a:fld id="{0FF54DE5-C571-48E8-A5BC-B369434E2F44}" type="slidenum">
              <a:rPr lang="en-GB" smtClean="0"/>
              <a:t>‹#›</a:t>
            </a:fld>
            <a:endParaRPr lang="en-GB"/>
          </a:p>
        </p:txBody>
      </p:sp>
    </p:spTree>
    <p:extLst>
      <p:ext uri="{BB962C8B-B14F-4D97-AF65-F5344CB8AC3E}">
        <p14:creationId xmlns:p14="http://schemas.microsoft.com/office/powerpoint/2010/main" val="8472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DD0B9-C797-ED0B-67A9-6150DB66383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6DD9C56-2773-7AD5-72EB-CB46B974B4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6CFE34-9F9A-6C36-9C43-5D312DB65C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C4C03AF-E32D-00FC-0A5B-803547FC6F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5ECF67-A316-75F6-9790-3A9C05EA51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59EE1FB-8E77-50A2-A379-23AC4593C916}"/>
              </a:ext>
            </a:extLst>
          </p:cNvPr>
          <p:cNvSpPr>
            <a:spLocks noGrp="1"/>
          </p:cNvSpPr>
          <p:nvPr>
            <p:ph type="dt" sz="half" idx="10"/>
          </p:nvPr>
        </p:nvSpPr>
        <p:spPr/>
        <p:txBody>
          <a:bodyPr/>
          <a:lstStyle/>
          <a:p>
            <a:fld id="{402B9795-92DC-40DC-A1CA-9A4B349D7824}" type="datetimeFigureOut">
              <a:rPr lang="en-US" smtClean="0"/>
              <a:t>12/4/2025</a:t>
            </a:fld>
            <a:endParaRPr lang="en-US"/>
          </a:p>
        </p:txBody>
      </p:sp>
      <p:sp>
        <p:nvSpPr>
          <p:cNvPr id="8" name="Footer Placeholder 7">
            <a:extLst>
              <a:ext uri="{FF2B5EF4-FFF2-40B4-BE49-F238E27FC236}">
                <a16:creationId xmlns:a16="http://schemas.microsoft.com/office/drawing/2014/main" id="{D254FA70-6A82-01BD-7E88-5C4B550FA69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28E97A1-9796-AC3D-1008-1ECFC4DC0FAB}"/>
              </a:ext>
            </a:extLst>
          </p:cNvPr>
          <p:cNvSpPr>
            <a:spLocks noGrp="1"/>
          </p:cNvSpPr>
          <p:nvPr>
            <p:ph type="sldNum" sz="quarter" idx="12"/>
          </p:nvPr>
        </p:nvSpPr>
        <p:spPr/>
        <p:txBody>
          <a:bodyPr/>
          <a:lstStyle/>
          <a:p>
            <a:fld id="{0FF54DE5-C571-48E8-A5BC-B369434E2F44}" type="slidenum">
              <a:rPr lang="en-GB" smtClean="0"/>
              <a:t>‹#›</a:t>
            </a:fld>
            <a:endParaRPr lang="en-GB"/>
          </a:p>
        </p:txBody>
      </p:sp>
    </p:spTree>
    <p:extLst>
      <p:ext uri="{BB962C8B-B14F-4D97-AF65-F5344CB8AC3E}">
        <p14:creationId xmlns:p14="http://schemas.microsoft.com/office/powerpoint/2010/main" val="1385270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18502-5E9F-D5F8-C25A-C8B2D177DF6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668DFB5-FA48-DA22-8CE4-6C301E9566F1}"/>
              </a:ext>
            </a:extLst>
          </p:cNvPr>
          <p:cNvSpPr>
            <a:spLocks noGrp="1"/>
          </p:cNvSpPr>
          <p:nvPr>
            <p:ph type="dt" sz="half" idx="10"/>
          </p:nvPr>
        </p:nvSpPr>
        <p:spPr/>
        <p:txBody>
          <a:bodyPr/>
          <a:lstStyle/>
          <a:p>
            <a:fld id="{402B9795-92DC-40DC-A1CA-9A4B349D7824}" type="datetimeFigureOut">
              <a:rPr lang="en-US" smtClean="0"/>
              <a:t>12/4/2025</a:t>
            </a:fld>
            <a:endParaRPr lang="en-US"/>
          </a:p>
        </p:txBody>
      </p:sp>
      <p:sp>
        <p:nvSpPr>
          <p:cNvPr id="4" name="Footer Placeholder 3">
            <a:extLst>
              <a:ext uri="{FF2B5EF4-FFF2-40B4-BE49-F238E27FC236}">
                <a16:creationId xmlns:a16="http://schemas.microsoft.com/office/drawing/2014/main" id="{AAECBEE1-3C4C-D0F3-2D46-B74BAF6E37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5B7DB2F-06BF-FC1A-DD6E-0304CB50E48A}"/>
              </a:ext>
            </a:extLst>
          </p:cNvPr>
          <p:cNvSpPr>
            <a:spLocks noGrp="1"/>
          </p:cNvSpPr>
          <p:nvPr>
            <p:ph type="sldNum" sz="quarter" idx="12"/>
          </p:nvPr>
        </p:nvSpPr>
        <p:spPr/>
        <p:txBody>
          <a:bodyPr/>
          <a:lstStyle/>
          <a:p>
            <a:fld id="{0FF54DE5-C571-48E8-A5BC-B369434E2F44}" type="slidenum">
              <a:rPr lang="en-GB" smtClean="0"/>
              <a:t>‹#›</a:t>
            </a:fld>
            <a:endParaRPr lang="en-GB" dirty="0"/>
          </a:p>
        </p:txBody>
      </p:sp>
    </p:spTree>
    <p:extLst>
      <p:ext uri="{BB962C8B-B14F-4D97-AF65-F5344CB8AC3E}">
        <p14:creationId xmlns:p14="http://schemas.microsoft.com/office/powerpoint/2010/main" val="2698503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B19738-54B8-49EA-1A51-44D202A18950}"/>
              </a:ext>
            </a:extLst>
          </p:cNvPr>
          <p:cNvSpPr>
            <a:spLocks noGrp="1"/>
          </p:cNvSpPr>
          <p:nvPr>
            <p:ph type="dt" sz="half" idx="10"/>
          </p:nvPr>
        </p:nvSpPr>
        <p:spPr/>
        <p:txBody>
          <a:bodyPr/>
          <a:lstStyle/>
          <a:p>
            <a:fld id="{402B9795-92DC-40DC-A1CA-9A4B349D7824}" type="datetimeFigureOut">
              <a:rPr lang="en-US" smtClean="0"/>
              <a:t>12/4/2025</a:t>
            </a:fld>
            <a:endParaRPr lang="en-US"/>
          </a:p>
        </p:txBody>
      </p:sp>
      <p:sp>
        <p:nvSpPr>
          <p:cNvPr id="3" name="Footer Placeholder 2">
            <a:extLst>
              <a:ext uri="{FF2B5EF4-FFF2-40B4-BE49-F238E27FC236}">
                <a16:creationId xmlns:a16="http://schemas.microsoft.com/office/drawing/2014/main" id="{37401B6E-418B-BC40-0B71-A1B4185EA99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4D7E97D-DE53-AD21-5156-99CC78062207}"/>
              </a:ext>
            </a:extLst>
          </p:cNvPr>
          <p:cNvSpPr>
            <a:spLocks noGrp="1"/>
          </p:cNvSpPr>
          <p:nvPr>
            <p:ph type="sldNum" sz="quarter" idx="12"/>
          </p:nvPr>
        </p:nvSpPr>
        <p:spPr/>
        <p:txBody>
          <a:bodyPr/>
          <a:lstStyle/>
          <a:p>
            <a:fld id="{0FF54DE5-C571-48E8-A5BC-B369434E2F44}" type="slidenum">
              <a:rPr lang="en-GB" smtClean="0"/>
              <a:t>‹#›</a:t>
            </a:fld>
            <a:endParaRPr lang="en-GB"/>
          </a:p>
        </p:txBody>
      </p:sp>
    </p:spTree>
    <p:extLst>
      <p:ext uri="{BB962C8B-B14F-4D97-AF65-F5344CB8AC3E}">
        <p14:creationId xmlns:p14="http://schemas.microsoft.com/office/powerpoint/2010/main" val="3080417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78A7E-603E-9934-5E67-B07B397C32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309F584-C1E2-1F31-0CE0-ABDB05D20A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B8FB6A-0BA4-30F7-38C2-E9ACA548BA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AA44D5-ACFF-B9F3-234F-E296BC32683D}"/>
              </a:ext>
            </a:extLst>
          </p:cNvPr>
          <p:cNvSpPr>
            <a:spLocks noGrp="1"/>
          </p:cNvSpPr>
          <p:nvPr>
            <p:ph type="dt" sz="half" idx="10"/>
          </p:nvPr>
        </p:nvSpPr>
        <p:spPr/>
        <p:txBody>
          <a:bodyPr/>
          <a:lstStyle/>
          <a:p>
            <a:fld id="{402B9795-92DC-40DC-A1CA-9A4B349D7824}" type="datetimeFigureOut">
              <a:rPr lang="en-US" smtClean="0"/>
              <a:t>12/4/2025</a:t>
            </a:fld>
            <a:endParaRPr lang="en-US"/>
          </a:p>
        </p:txBody>
      </p:sp>
      <p:sp>
        <p:nvSpPr>
          <p:cNvPr id="6" name="Footer Placeholder 5">
            <a:extLst>
              <a:ext uri="{FF2B5EF4-FFF2-40B4-BE49-F238E27FC236}">
                <a16:creationId xmlns:a16="http://schemas.microsoft.com/office/drawing/2014/main" id="{3315EA91-0A5D-F818-9EF9-DF0DC96AFB0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3D53684-F0F2-A0D7-E9A4-C0A7E3043163}"/>
              </a:ext>
            </a:extLst>
          </p:cNvPr>
          <p:cNvSpPr>
            <a:spLocks noGrp="1"/>
          </p:cNvSpPr>
          <p:nvPr>
            <p:ph type="sldNum" sz="quarter" idx="12"/>
          </p:nvPr>
        </p:nvSpPr>
        <p:spPr/>
        <p:txBody>
          <a:bodyPr/>
          <a:lstStyle/>
          <a:p>
            <a:fld id="{0FF54DE5-C571-48E8-A5BC-B369434E2F44}" type="slidenum">
              <a:rPr lang="en-GB" smtClean="0"/>
              <a:t>‹#›</a:t>
            </a:fld>
            <a:endParaRPr lang="en-GB"/>
          </a:p>
        </p:txBody>
      </p:sp>
    </p:spTree>
    <p:extLst>
      <p:ext uri="{BB962C8B-B14F-4D97-AF65-F5344CB8AC3E}">
        <p14:creationId xmlns:p14="http://schemas.microsoft.com/office/powerpoint/2010/main" val="396949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8DC48-D882-F50C-C26F-A37F199F5A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0DFE22D-05D5-BB18-6DBA-63DAED0C0D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E7F88D1-6158-756F-2428-331C2F92AA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25517B-0ECE-1D18-B181-2BADDAEFAA52}"/>
              </a:ext>
            </a:extLst>
          </p:cNvPr>
          <p:cNvSpPr>
            <a:spLocks noGrp="1"/>
          </p:cNvSpPr>
          <p:nvPr>
            <p:ph type="dt" sz="half" idx="10"/>
          </p:nvPr>
        </p:nvSpPr>
        <p:spPr/>
        <p:txBody>
          <a:bodyPr/>
          <a:lstStyle/>
          <a:p>
            <a:fld id="{402B9795-92DC-40DC-A1CA-9A4B349D7824}" type="datetimeFigureOut">
              <a:rPr lang="en-US" smtClean="0"/>
              <a:t>12/4/2025</a:t>
            </a:fld>
            <a:endParaRPr lang="en-US"/>
          </a:p>
        </p:txBody>
      </p:sp>
      <p:sp>
        <p:nvSpPr>
          <p:cNvPr id="6" name="Footer Placeholder 5">
            <a:extLst>
              <a:ext uri="{FF2B5EF4-FFF2-40B4-BE49-F238E27FC236}">
                <a16:creationId xmlns:a16="http://schemas.microsoft.com/office/drawing/2014/main" id="{5C4150D6-6FEB-5F59-CD1F-AC0DE3FCC5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1B62402-3C7B-7E07-14D8-BE4CDAE54ABC}"/>
              </a:ext>
            </a:extLst>
          </p:cNvPr>
          <p:cNvSpPr>
            <a:spLocks noGrp="1"/>
          </p:cNvSpPr>
          <p:nvPr>
            <p:ph type="sldNum" sz="quarter" idx="12"/>
          </p:nvPr>
        </p:nvSpPr>
        <p:spPr/>
        <p:txBody>
          <a:bodyPr/>
          <a:lstStyle/>
          <a:p>
            <a:fld id="{0FF54DE5-C571-48E8-A5BC-B369434E2F44}" type="slidenum">
              <a:rPr lang="en-GB" smtClean="0"/>
              <a:t>‹#›</a:t>
            </a:fld>
            <a:endParaRPr lang="en-GB"/>
          </a:p>
        </p:txBody>
      </p:sp>
    </p:spTree>
    <p:extLst>
      <p:ext uri="{BB962C8B-B14F-4D97-AF65-F5344CB8AC3E}">
        <p14:creationId xmlns:p14="http://schemas.microsoft.com/office/powerpoint/2010/main" val="2680987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394B9-829C-B9CC-0E87-B9B67E22949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3C449A2-AA4F-8983-D14B-CE317D4B9B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7A1017-335C-FD87-B9E4-6DA21BEE1859}"/>
              </a:ext>
            </a:extLst>
          </p:cNvPr>
          <p:cNvSpPr>
            <a:spLocks noGrp="1"/>
          </p:cNvSpPr>
          <p:nvPr>
            <p:ph type="dt" sz="half" idx="10"/>
          </p:nvPr>
        </p:nvSpPr>
        <p:spPr/>
        <p:txBody>
          <a:bodyPr/>
          <a:lstStyle/>
          <a:p>
            <a:fld id="{402B9795-92DC-40DC-A1CA-9A4B349D7824}" type="datetimeFigureOut">
              <a:rPr lang="en-US" smtClean="0"/>
              <a:t>12/4/2025</a:t>
            </a:fld>
            <a:endParaRPr lang="en-US"/>
          </a:p>
        </p:txBody>
      </p:sp>
      <p:sp>
        <p:nvSpPr>
          <p:cNvPr id="5" name="Footer Placeholder 4">
            <a:extLst>
              <a:ext uri="{FF2B5EF4-FFF2-40B4-BE49-F238E27FC236}">
                <a16:creationId xmlns:a16="http://schemas.microsoft.com/office/drawing/2014/main" id="{20675923-BC28-97FD-5582-EF16F4A254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334EAD-FDA9-26E3-3684-DF38B42A8949}"/>
              </a:ext>
            </a:extLst>
          </p:cNvPr>
          <p:cNvSpPr>
            <a:spLocks noGrp="1"/>
          </p:cNvSpPr>
          <p:nvPr>
            <p:ph type="sldNum" sz="quarter" idx="12"/>
          </p:nvPr>
        </p:nvSpPr>
        <p:spPr/>
        <p:txBody>
          <a:bodyPr/>
          <a:lstStyle/>
          <a:p>
            <a:fld id="{0FF54DE5-C571-48E8-A5BC-B369434E2F44}" type="slidenum">
              <a:rPr lang="en-GB" smtClean="0"/>
              <a:t>‹#›</a:t>
            </a:fld>
            <a:endParaRPr lang="en-GB"/>
          </a:p>
        </p:txBody>
      </p:sp>
    </p:spTree>
    <p:extLst>
      <p:ext uri="{BB962C8B-B14F-4D97-AF65-F5344CB8AC3E}">
        <p14:creationId xmlns:p14="http://schemas.microsoft.com/office/powerpoint/2010/main" val="704638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29A21F-1DC9-25C2-34A3-66D5185812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014AA20-152E-879E-B633-F717B1336C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13AAA72-C737-4007-DD65-3C8C2AB32BB0}"/>
              </a:ext>
            </a:extLst>
          </p:cNvPr>
          <p:cNvSpPr>
            <a:spLocks noGrp="1"/>
          </p:cNvSpPr>
          <p:nvPr>
            <p:ph type="dt" sz="half" idx="10"/>
          </p:nvPr>
        </p:nvSpPr>
        <p:spPr/>
        <p:txBody>
          <a:bodyPr/>
          <a:lstStyle/>
          <a:p>
            <a:fld id="{402B9795-92DC-40DC-A1CA-9A4B349D7824}" type="datetimeFigureOut">
              <a:rPr lang="en-US" smtClean="0"/>
              <a:t>12/4/2025</a:t>
            </a:fld>
            <a:endParaRPr lang="en-US"/>
          </a:p>
        </p:txBody>
      </p:sp>
      <p:sp>
        <p:nvSpPr>
          <p:cNvPr id="5" name="Footer Placeholder 4">
            <a:extLst>
              <a:ext uri="{FF2B5EF4-FFF2-40B4-BE49-F238E27FC236}">
                <a16:creationId xmlns:a16="http://schemas.microsoft.com/office/drawing/2014/main" id="{E80DA6BB-3913-A058-AB78-089CAA6D2CE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D9200B-81A8-7AC3-99F6-CE63DC0B7FD1}"/>
              </a:ext>
            </a:extLst>
          </p:cNvPr>
          <p:cNvSpPr>
            <a:spLocks noGrp="1"/>
          </p:cNvSpPr>
          <p:nvPr>
            <p:ph type="sldNum" sz="quarter" idx="12"/>
          </p:nvPr>
        </p:nvSpPr>
        <p:spPr/>
        <p:txBody>
          <a:bodyPr/>
          <a:lstStyle/>
          <a:p>
            <a:fld id="{0FF54DE5-C571-48E8-A5BC-B369434E2F44}" type="slidenum">
              <a:rPr lang="en-GB" smtClean="0"/>
              <a:t>‹#›</a:t>
            </a:fld>
            <a:endParaRPr lang="en-GB"/>
          </a:p>
        </p:txBody>
      </p:sp>
    </p:spTree>
    <p:extLst>
      <p:ext uri="{BB962C8B-B14F-4D97-AF65-F5344CB8AC3E}">
        <p14:creationId xmlns:p14="http://schemas.microsoft.com/office/powerpoint/2010/main" val="3562538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64F636-2386-48C8-BE9F-6EA0B5E698C0}" type="datetime1">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4119192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6782BA-1E86-4D95-B8F0-CAE767A6E18E}" type="datetime1">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1252218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DDB8A4-1642-4DC2-A8BE-85F5058D1666}" type="datetime1">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3692967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41C1BF-7803-4EA0-9647-445ECC807C9A}" type="datetime1">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4218988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12512B5-CFAA-4A59-BC3F-1A868039EAC9}" type="datetime1">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26379733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2685F3-5B56-4A90-9A3C-19872C1BCC45}" type="datetime1">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41786515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92A158-BA79-438A-9BF9-F1BB9D3C3D1E}" type="datetime1">
              <a:rPr lang="en-US" smtClean="0"/>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28520591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A51E31-A8A2-4BBA-8BF0-1528F5B8FF3E}" type="datetime1">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11756042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5B4BBF-88AD-4431-B01F-F231A790D861}" type="datetime1">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34006834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B421E4-32A4-484E-8A92-9F4441B608F9}" type="datetime1">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14907495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2A7FD3-518D-4054-B74D-000B0279F67A}" type="datetime1">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BD0C5F-2119-4A21-B36A-0FCD1CDCE59C}" type="slidenum">
              <a:rPr lang="en-US" smtClean="0"/>
              <a:t>‹#›</a:t>
            </a:fld>
            <a:endParaRPr lang="en-US"/>
          </a:p>
        </p:txBody>
      </p:sp>
    </p:spTree>
    <p:extLst>
      <p:ext uri="{BB962C8B-B14F-4D97-AF65-F5344CB8AC3E}">
        <p14:creationId xmlns:p14="http://schemas.microsoft.com/office/powerpoint/2010/main" val="5501247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Main Title &amp; Subtitle" userDrawn="1">
  <p:cSld name="1_Main Title &amp; Subtitle">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951355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emf"/><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oleObject" Target="../embeddings/oleObject2.bin"/><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F96AEE7-2B9C-EE57-DE82-635FEE85A9B6}"/>
              </a:ext>
            </a:extLst>
          </p:cNvPr>
          <p:cNvGraphicFramePr>
            <a:graphicFrameLocks noChangeAspect="1"/>
          </p:cNvGraphicFramePr>
          <p:nvPr userDrawn="1">
            <p:custDataLst>
              <p:tags r:id="rId13"/>
            </p:custDataLst>
            <p:extLst>
              <p:ext uri="{D42A27DB-BD31-4B8C-83A1-F6EECF244321}">
                <p14:modId xmlns:p14="http://schemas.microsoft.com/office/powerpoint/2010/main" val="8675772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07" imgH="307" progId="TCLayout.ActiveDocument.1">
                  <p:embed/>
                </p:oleObj>
              </mc:Choice>
              <mc:Fallback>
                <p:oleObj name="think-cell Slide" r:id="rId14" imgW="307" imgH="307" progId="TCLayout.ActiveDocument.1">
                  <p:embed/>
                  <p:pic>
                    <p:nvPicPr>
                      <p:cNvPr id="10" name="think-cell data - do not delete" hidden="1">
                        <a:extLst>
                          <a:ext uri="{FF2B5EF4-FFF2-40B4-BE49-F238E27FC236}">
                            <a16:creationId xmlns:a16="http://schemas.microsoft.com/office/drawing/2014/main" id="{EF96AEE7-2B9C-EE57-DE82-635FEE85A9B6}"/>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3A525CFE-FA9A-3843-5CF0-90E85F7A95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B8A16AA-2146-5211-9541-72BBCDBF82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36F2B81-AC2D-D82D-B81F-1D402AD469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6FB9EC-AA6A-40A8-8C9A-A26E776BA3E6}" type="datetimeFigureOut">
              <a:rPr lang="en-GB" smtClean="0"/>
              <a:t>04/12/2025</a:t>
            </a:fld>
            <a:endParaRPr lang="en-GB"/>
          </a:p>
        </p:txBody>
      </p:sp>
      <p:sp>
        <p:nvSpPr>
          <p:cNvPr id="5" name="Footer Placeholder 4">
            <a:extLst>
              <a:ext uri="{FF2B5EF4-FFF2-40B4-BE49-F238E27FC236}">
                <a16:creationId xmlns:a16="http://schemas.microsoft.com/office/drawing/2014/main" id="{22634CBC-D826-928E-0491-746189BDA8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DBDC9F6-1032-EFB8-F88A-B9F1DF02C0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FE6631-4158-4222-BB5F-DD7E3074E942}" type="slidenum">
              <a:rPr lang="en-GB" smtClean="0"/>
              <a:t>‹#›</a:t>
            </a:fld>
            <a:endParaRPr lang="en-GB"/>
          </a:p>
        </p:txBody>
      </p:sp>
      <p:pic>
        <p:nvPicPr>
          <p:cNvPr id="8" name="Picture 7">
            <a:extLst>
              <a:ext uri="{FF2B5EF4-FFF2-40B4-BE49-F238E27FC236}">
                <a16:creationId xmlns:a16="http://schemas.microsoft.com/office/drawing/2014/main" id="{7F1F20E2-134A-1F51-4946-39BE0F30C0C5}"/>
              </a:ext>
            </a:extLst>
          </p:cNvPr>
          <p:cNvPicPr>
            <a:picLocks noChangeAspect="1"/>
          </p:cNvPicPr>
          <p:nvPr userDrawn="1"/>
        </p:nvPicPr>
        <p:blipFill>
          <a:blip r:embed="rId16"/>
          <a:stretch>
            <a:fillRect/>
          </a:stretch>
        </p:blipFill>
        <p:spPr>
          <a:xfrm>
            <a:off x="219076" y="1404654"/>
            <a:ext cx="11725274" cy="5358096"/>
          </a:xfrm>
          <a:prstGeom prst="rect">
            <a:avLst/>
          </a:prstGeom>
        </p:spPr>
      </p:pic>
      <p:sp>
        <p:nvSpPr>
          <p:cNvPr id="11" name="TextBox 10">
            <a:extLst>
              <a:ext uri="{FF2B5EF4-FFF2-40B4-BE49-F238E27FC236}">
                <a16:creationId xmlns:a16="http://schemas.microsoft.com/office/drawing/2014/main" id="{7D3EBCE0-7A66-4B3B-8DCD-7140CD340FC7}"/>
              </a:ext>
            </a:extLst>
          </p:cNvPr>
          <p:cNvSpPr txBox="1"/>
          <p:nvPr userDrawn="1"/>
        </p:nvSpPr>
        <p:spPr>
          <a:xfrm>
            <a:off x="3047260" y="3246553"/>
            <a:ext cx="6094520" cy="369332"/>
          </a:xfrm>
          <a:prstGeom prst="rect">
            <a:avLst/>
          </a:prstGeom>
          <a:noFill/>
        </p:spPr>
        <p:txBody>
          <a:bodyPr wrap="square">
            <a:spAutoFit/>
          </a:bodyPr>
          <a:lstStyle/>
          <a:p>
            <a:pPr lvl="0">
              <a:defRPr/>
            </a:pPr>
            <a:r>
              <a:rPr lang="es-ES_tradnl" sz="1800" dirty="0" err="1"/>
              <a:t>Thông</a:t>
            </a:r>
            <a:r>
              <a:rPr lang="es-ES_tradnl" sz="1800" dirty="0"/>
              <a:t> </a:t>
            </a:r>
            <a:r>
              <a:rPr lang="es-ES_tradnl" sz="1800" dirty="0" err="1"/>
              <a:t>báo</a:t>
            </a:r>
            <a:r>
              <a:rPr lang="es-ES_tradnl" sz="1800" dirty="0"/>
              <a:t> </a:t>
            </a:r>
            <a:r>
              <a:rPr lang="es-ES_tradnl" sz="1800" dirty="0" err="1"/>
              <a:t>kết</a:t>
            </a:r>
            <a:r>
              <a:rPr lang="es-ES_tradnl" sz="1800" dirty="0"/>
              <a:t> </a:t>
            </a:r>
            <a:r>
              <a:rPr lang="es-ES_tradnl" sz="1800" dirty="0" err="1"/>
              <a:t>luận</a:t>
            </a:r>
            <a:r>
              <a:rPr lang="es-ES_tradnl" sz="1800" dirty="0"/>
              <a:t> </a:t>
            </a:r>
            <a:r>
              <a:rPr lang="es-ES_tradnl" sz="1800" dirty="0" err="1"/>
              <a:t>của</a:t>
            </a:r>
            <a:r>
              <a:rPr lang="es-ES_tradnl" sz="1800" dirty="0"/>
              <a:t> GĐ</a:t>
            </a:r>
          </a:p>
        </p:txBody>
      </p:sp>
    </p:spTree>
    <p:extLst>
      <p:ext uri="{BB962C8B-B14F-4D97-AF65-F5344CB8AC3E}">
        <p14:creationId xmlns:p14="http://schemas.microsoft.com/office/powerpoint/2010/main" val="6187262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6FB9EC-AA6A-40A8-8C9A-A26E776BA3E6}" type="datetimeFigureOut">
              <a:rPr lang="en-GB" smtClean="0"/>
              <a:t>04/12/2025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FE6631-4158-4222-BB5F-DD7E3074E942}" type="slidenum">
              <a:rPr lang="en-GB" smtClean="0"/>
              <a:t>‹#›</a:t>
            </a:fld>
            <a:endParaRPr lang="en-GB"/>
          </a:p>
        </p:txBody>
      </p:sp>
      <p:graphicFrame>
        <p:nvGraphicFramePr>
          <p:cNvPr id="7" name="think-cell data - do not delete" hidden="1">
            <a:extLst>
              <a:ext uri="{FF2B5EF4-FFF2-40B4-BE49-F238E27FC236}">
                <a16:creationId xmlns:a16="http://schemas.microsoft.com/office/drawing/2014/main" id="{A2080961-739A-BF5F-EC3E-F928251DFD7B}"/>
              </a:ext>
            </a:extLst>
          </p:cNvPr>
          <p:cNvGraphicFramePr>
            <a:graphicFrameLocks noChangeAspect="1"/>
          </p:cNvGraphicFramePr>
          <p:nvPr userDrawn="1">
            <p:custDataLst>
              <p:tags r:id="rId14"/>
            </p:custDataLst>
            <p:extLst>
              <p:ext uri="{D42A27DB-BD31-4B8C-83A1-F6EECF244321}">
                <p14:modId xmlns:p14="http://schemas.microsoft.com/office/powerpoint/2010/main" val="23013892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07" imgH="307" progId="TCLayout.ActiveDocument.1">
                  <p:embed/>
                </p:oleObj>
              </mc:Choice>
              <mc:Fallback>
                <p:oleObj name="think-cell Slide" r:id="rId15" imgW="307" imgH="307" progId="TCLayout.ActiveDocument.1">
                  <p:embed/>
                  <p:pic>
                    <p:nvPicPr>
                      <p:cNvPr id="7" name="think-cell data - do not delete" hidden="1">
                        <a:extLst>
                          <a:ext uri="{FF2B5EF4-FFF2-40B4-BE49-F238E27FC236}">
                            <a16:creationId xmlns:a16="http://schemas.microsoft.com/office/drawing/2014/main" id="{A2080961-739A-BF5F-EC3E-F928251DFD7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8095447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tags" Target="../tags/tag6.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tags" Target="../tags/tag7.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tags" Target="../tags/tag8.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tags" Target="../tags/tag9.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xml"/><Relationship Id="rId1" Type="http://schemas.openxmlformats.org/officeDocument/2006/relationships/tags" Target="../tags/tag10.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tags" Target="../tags/tag11.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 y="0"/>
            <a:ext cx="12190476" cy="6866536"/>
          </a:xfrm>
          <a:prstGeom prst="rect">
            <a:avLst/>
          </a:prstGeom>
        </p:spPr>
      </p:pic>
      <p:sp>
        <p:nvSpPr>
          <p:cNvPr id="7" name="TextBox 8"/>
          <p:cNvSpPr txBox="1"/>
          <p:nvPr/>
        </p:nvSpPr>
        <p:spPr>
          <a:xfrm>
            <a:off x="3" y="1343501"/>
            <a:ext cx="12191999" cy="804836"/>
          </a:xfrm>
          <a:prstGeom prst="rect">
            <a:avLst/>
          </a:prstGeom>
        </p:spPr>
        <p:txBody>
          <a:bodyPr wrap="square" lIns="0" tIns="0" rIns="0" bIns="0" rtlCol="0" anchor="t">
            <a:spAutoFit/>
          </a:bodyPr>
          <a:lstStyle/>
          <a:p>
            <a:pPr marL="0" marR="0" lvl="0" indent="0" algn="ctr" defTabSz="914400" rtl="0" eaLnBrk="1" fontAlgn="auto" latinLnBrk="0" hangingPunct="1">
              <a:lnSpc>
                <a:spcPct val="130000"/>
              </a:lnSpc>
              <a:spcBef>
                <a:spcPct val="0"/>
              </a:spcBef>
              <a:spcAft>
                <a:spcPts val="0"/>
              </a:spcAft>
              <a:buClrTx/>
              <a:buSzTx/>
              <a:buFontTx/>
              <a:buNone/>
              <a:tabLst/>
              <a:defRPr/>
            </a:pPr>
            <a:r>
              <a:rPr lang="en-VN" sz="4400" b="1" dirty="0">
                <a:latin typeface="Times New Roman" panose="02020603050405020304" pitchFamily="18" charset="0"/>
                <a:cs typeface="Times New Roman" panose="02020603050405020304" pitchFamily="18" charset="0"/>
              </a:rPr>
              <a:t>K</a:t>
            </a:r>
            <a:r>
              <a:rPr lang="en-US" sz="4400" b="1" dirty="0" err="1">
                <a:latin typeface="Times New Roman" panose="02020603050405020304" pitchFamily="18" charset="0"/>
                <a:cs typeface="Times New Roman" panose="02020603050405020304" pitchFamily="18" charset="0"/>
              </a:rPr>
              <a:t>Ế</a:t>
            </a:r>
            <a:r>
              <a:rPr lang="en-US" sz="4400" b="1" dirty="0">
                <a:latin typeface="Times New Roman" panose="02020603050405020304" pitchFamily="18" charset="0"/>
                <a:cs typeface="Times New Roman" panose="02020603050405020304" pitchFamily="18" charset="0"/>
              </a:rPr>
              <a:t> HOẠCH </a:t>
            </a:r>
            <a:r>
              <a:rPr lang="vi-VN" sz="4400" b="1" dirty="0">
                <a:latin typeface="Times New Roman" panose="02020603050405020304" pitchFamily="18" charset="0"/>
                <a:cs typeface="Times New Roman" panose="02020603050405020304" pitchFamily="18" charset="0"/>
              </a:rPr>
              <a:t>PHÁT TRIỂN CÁ NHÂN- IDP</a:t>
            </a:r>
            <a:endParaRPr lang="vi-VN" sz="2800" b="1" i="0" u="none" strike="noStrike" kern="1200" cap="none" spc="300" normalizeH="0" baseline="0" noProof="0" dirty="0">
              <a:ln>
                <a:noFill/>
              </a:ln>
              <a:effectLst>
                <a:outerShdw blurRad="38100" dist="38100" dir="2700000" algn="tl">
                  <a:srgbClr val="000000">
                    <a:alpha val="43137"/>
                  </a:srgbClr>
                </a:outerShdw>
              </a:effectLst>
              <a:uLnTx/>
              <a:uFillTx/>
              <a:latin typeface="Anton"/>
              <a:ea typeface="Microsoft YaHei"/>
              <a:cs typeface="Arial"/>
            </a:endParaRPr>
          </a:p>
        </p:txBody>
      </p:sp>
      <p:sp>
        <p:nvSpPr>
          <p:cNvPr id="11" name="TextBox 9"/>
          <p:cNvSpPr txBox="1"/>
          <p:nvPr/>
        </p:nvSpPr>
        <p:spPr>
          <a:xfrm>
            <a:off x="2788023" y="2377641"/>
            <a:ext cx="6615953" cy="1477328"/>
          </a:xfrm>
          <a:prstGeom prst="rect">
            <a:avLst/>
          </a:prstGeom>
        </p:spPr>
        <p:txBody>
          <a:bodyPr wrap="square" lIns="0" tIns="0" rIns="0" bIns="0" rtlCol="0" anchor="t">
            <a:spAutoFit/>
          </a:bodyPr>
          <a:lstStyle/>
          <a:p>
            <a:pPr algn="just"/>
            <a:r>
              <a:rPr lang="en-VN" sz="2400" b="1" dirty="0">
                <a:latin typeface="Times New Roman" panose="02020603050405020304" pitchFamily="18" charset="0"/>
                <a:cs typeface="Times New Roman" panose="02020603050405020304" pitchFamily="18" charset="0"/>
              </a:rPr>
              <a:t>H</a:t>
            </a:r>
            <a:r>
              <a:rPr lang="en-US" sz="2400" b="1" dirty="0" err="1">
                <a:latin typeface="Times New Roman" panose="02020603050405020304" pitchFamily="18" charset="0"/>
                <a:cs typeface="Times New Roman" panose="02020603050405020304" pitchFamily="18" charset="0"/>
              </a:rPr>
              <a:t>Ọ</a:t>
            </a:r>
            <a:r>
              <a:rPr lang="en-US" sz="2400" b="1" dirty="0">
                <a:latin typeface="Times New Roman" panose="02020603050405020304" pitchFamily="18" charset="0"/>
                <a:cs typeface="Times New Roman" panose="02020603050405020304" pitchFamily="18" charset="0"/>
              </a:rPr>
              <a:t> VÀ TÊN</a:t>
            </a:r>
            <a:r>
              <a:rPr lang="en-US" sz="2400" dirty="0">
                <a:latin typeface="Times New Roman" panose="02020603050405020304" pitchFamily="18" charset="0"/>
                <a:cs typeface="Times New Roman" panose="02020603050405020304" pitchFamily="18" charset="0"/>
              </a:rPr>
              <a:t>: </a:t>
            </a:r>
            <a:r>
              <a:rPr lang="en-VN" sz="2400" dirty="0">
                <a:latin typeface="Times New Roman" panose="02020603050405020304" pitchFamily="18" charset="0"/>
                <a:cs typeface="Times New Roman" panose="02020603050405020304" pitchFamily="18" charset="0"/>
              </a:rPr>
              <a:t>V</a:t>
            </a:r>
            <a:r>
              <a:rPr lang="en-US" sz="2400" dirty="0" err="1">
                <a:latin typeface="Times New Roman" panose="02020603050405020304" pitchFamily="18" charset="0"/>
                <a:cs typeface="Times New Roman" panose="02020603050405020304" pitchFamily="18" charset="0"/>
              </a:rPr>
              <a:t>Ũ</a:t>
            </a:r>
            <a:r>
              <a:rPr lang="en-US" sz="2400" dirty="0">
                <a:latin typeface="Times New Roman" panose="02020603050405020304" pitchFamily="18" charset="0"/>
                <a:cs typeface="Times New Roman" panose="02020603050405020304" pitchFamily="18" charset="0"/>
              </a:rPr>
              <a:t> THỊ DUNG</a:t>
            </a:r>
          </a:p>
          <a:p>
            <a:pPr algn="just"/>
            <a:r>
              <a:rPr lang="en-US" sz="2400" b="1" dirty="0" err="1">
                <a:latin typeface="Times New Roman" panose="02020603050405020304" pitchFamily="18" charset="0"/>
                <a:cs typeface="Times New Roman" panose="02020603050405020304" pitchFamily="18" charset="0"/>
              </a:rPr>
              <a:t>Đ</a:t>
            </a:r>
            <a:r>
              <a:rPr lang="vi-VN" sz="2400" b="1" dirty="0">
                <a:latin typeface="Times New Roman" panose="02020603050405020304" pitchFamily="18" charset="0"/>
                <a:cs typeface="Times New Roman" panose="02020603050405020304" pitchFamily="18" charset="0"/>
              </a:rPr>
              <a:t>ƠN VỊ</a:t>
            </a:r>
            <a:r>
              <a:rPr lang="vi-VN" sz="2400" dirty="0">
                <a:latin typeface="Times New Roman" panose="02020603050405020304" pitchFamily="18" charset="0"/>
                <a:cs typeface="Times New Roman" panose="02020603050405020304" pitchFamily="18" charset="0"/>
              </a:rPr>
              <a:t>: CN TRUNG TÂM KỸ THUẬT</a:t>
            </a: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CHỨ</a:t>
            </a:r>
            <a:r>
              <a:rPr lang="vi-VN" sz="2400" b="1" dirty="0">
                <a:latin typeface="Times New Roman" panose="02020603050405020304" pitchFamily="18" charset="0"/>
                <a:cs typeface="Times New Roman" panose="02020603050405020304" pitchFamily="18" charset="0"/>
              </a:rPr>
              <a:t>C DANH</a:t>
            </a:r>
            <a:r>
              <a:rPr lang="vi-V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KỸ S</a:t>
            </a:r>
            <a:r>
              <a:rPr lang="vi-VN" sz="2400" dirty="0">
                <a:latin typeface="Times New Roman" panose="02020603050405020304" pitchFamily="18" charset="0"/>
                <a:cs typeface="Times New Roman" panose="02020603050405020304" pitchFamily="18" charset="0"/>
              </a:rPr>
              <a:t>Ư ĐỊA VẬT LÝ</a:t>
            </a:r>
          </a:p>
          <a:p>
            <a:pPr algn="just"/>
            <a:r>
              <a:rPr lang="vi-VN" sz="2400" b="1" dirty="0">
                <a:latin typeface="Times New Roman" panose="02020603050405020304" pitchFamily="18" charset="0"/>
                <a:cs typeface="Times New Roman" panose="02020603050405020304" pitchFamily="18" charset="0"/>
              </a:rPr>
              <a:t>BẬC CHỨC DANH</a:t>
            </a:r>
            <a:r>
              <a:rPr lang="vi-VN" sz="2400" dirty="0">
                <a:latin typeface="Times New Roman" panose="02020603050405020304" pitchFamily="18" charset="0"/>
                <a:cs typeface="Times New Roman" panose="02020603050405020304" pitchFamily="18" charset="0"/>
              </a:rPr>
              <a:t>: 7/20</a:t>
            </a:r>
            <a:endParaRPr lang="en-US" sz="2400" dirty="0">
              <a:latin typeface="Times New Roman" panose="02020603050405020304" pitchFamily="18" charset="0"/>
              <a:cs typeface="Times New Roman" panose="02020603050405020304" pitchFamily="18" charset="0"/>
            </a:endParaRPr>
          </a:p>
        </p:txBody>
      </p:sp>
      <p:pic>
        <p:nvPicPr>
          <p:cNvPr id="4" name="Picture 3" descr="A green and blue logo&#10;&#10;AI-generated content may be incorrect.">
            <a:extLst>
              <a:ext uri="{FF2B5EF4-FFF2-40B4-BE49-F238E27FC236}">
                <a16:creationId xmlns:a16="http://schemas.microsoft.com/office/drawing/2014/main" id="{5FC11218-0138-6E4B-B835-A4ECD214F1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17" y="102213"/>
            <a:ext cx="988853" cy="1011984"/>
          </a:xfrm>
          <a:prstGeom prst="rect">
            <a:avLst/>
          </a:prstGeom>
        </p:spPr>
      </p:pic>
    </p:spTree>
    <p:extLst>
      <p:ext uri="{BB962C8B-B14F-4D97-AF65-F5344CB8AC3E}">
        <p14:creationId xmlns:p14="http://schemas.microsoft.com/office/powerpoint/2010/main" val="1890128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77B1F217-3FD4-2F18-8443-9560CF2AF116}"/>
              </a:ext>
            </a:extLst>
          </p:cNvPr>
          <p:cNvGraphicFramePr>
            <a:graphicFrameLocks noChangeAspect="1"/>
          </p:cNvGraphicFramePr>
          <p:nvPr>
            <p:custDataLst>
              <p:tags r:id="rId1"/>
            </p:custDataLst>
            <p:extLst>
              <p:ext uri="{D42A27DB-BD31-4B8C-83A1-F6EECF244321}">
                <p14:modId xmlns:p14="http://schemas.microsoft.com/office/powerpoint/2010/main" val="3765164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16" name="think-cell data - do not delete" hidden="1">
                        <a:extLst>
                          <a:ext uri="{FF2B5EF4-FFF2-40B4-BE49-F238E27FC236}">
                            <a16:creationId xmlns:a16="http://schemas.microsoft.com/office/drawing/2014/main" id="{77B1F217-3FD4-2F18-8443-9560CF2AF11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TextBox 21"/>
          <p:cNvSpPr txBox="1"/>
          <p:nvPr/>
        </p:nvSpPr>
        <p:spPr>
          <a:xfrm>
            <a:off x="-152400" y="-71767"/>
            <a:ext cx="4869991" cy="503567"/>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AutoShape 1">
            <a:extLst>
              <a:ext uri="{FF2B5EF4-FFF2-40B4-BE49-F238E27FC236}">
                <a16:creationId xmlns:a16="http://schemas.microsoft.com/office/drawing/2014/main" id="{FD8AF0CA-CDEA-899B-5820-CC8F32E200C3}"/>
              </a:ext>
            </a:extLst>
          </p:cNvPr>
          <p:cNvSpPr>
            <a:spLocks/>
          </p:cNvSpPr>
          <p:nvPr/>
        </p:nvSpPr>
        <p:spPr bwMode="auto">
          <a:xfrm>
            <a:off x="826294" y="16410"/>
            <a:ext cx="11365706" cy="5935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BỐI CẢNH VÀ ĐỊNH H</a:t>
            </a:r>
            <a:r>
              <a:rPr lang="vi-VN" sz="2800" dirty="0">
                <a:latin typeface="Times New Roman" panose="02020603050405020304" pitchFamily="18" charset="0"/>
                <a:cs typeface="Times New Roman" panose="02020603050405020304" pitchFamily="18" charset="0"/>
              </a:rPr>
              <a:t>ƯỚNG CHUNG</a:t>
            </a:r>
            <a:endParaRPr kumimoji="0" lang="es-ES" sz="2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4" name="Slide Number Placeholder 5">
            <a:extLst>
              <a:ext uri="{FF2B5EF4-FFF2-40B4-BE49-F238E27FC236}">
                <a16:creationId xmlns:a16="http://schemas.microsoft.com/office/drawing/2014/main" id="{8021663B-8D7D-E2FB-7D56-4487F5D0961A}"/>
              </a:ext>
            </a:extLst>
          </p:cNvPr>
          <p:cNvSpPr txBox="1">
            <a:spLocks/>
          </p:cNvSpPr>
          <p:nvPr/>
        </p:nvSpPr>
        <p:spPr>
          <a:xfrm>
            <a:off x="11582400" y="6611187"/>
            <a:ext cx="609600" cy="213360"/>
          </a:xfrm>
          <a:prstGeom prst="rect">
            <a:avLst/>
          </a:prstGeom>
        </p:spPr>
        <p:txBody>
          <a:bodyPr>
            <a:no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0CFDCA-984A-49CD-9ECB-CD1CAA1CFBB4}" type="slidenum">
              <a:rPr kumimoji="0" lang="en-US" sz="1000" b="0" i="0" u="none" strike="noStrike" kern="1200" cap="none" spc="0" normalizeH="0" baseline="0" noProof="0" smtClean="0">
                <a:ln>
                  <a:noFill/>
                </a:ln>
                <a:solidFill>
                  <a:srgbClr val="000099"/>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000" b="0" i="0" u="none" strike="noStrike" kern="1200" cap="none" spc="0" normalizeH="0" baseline="0" noProof="0">
              <a:ln>
                <a:noFill/>
              </a:ln>
              <a:solidFill>
                <a:srgbClr val="000099"/>
              </a:solidFill>
              <a:effectLst/>
              <a:uLnTx/>
              <a:uFillTx/>
              <a:latin typeface="Arial" charset="0"/>
              <a:ea typeface="+mn-ea"/>
              <a:cs typeface="Arial" charset="0"/>
            </a:endParaRPr>
          </a:p>
        </p:txBody>
      </p:sp>
      <p:pic>
        <p:nvPicPr>
          <p:cNvPr id="9" name="Picture 8" descr="A green and blue logo&#10;&#10;AI-generated content may be incorrect.">
            <a:extLst>
              <a:ext uri="{FF2B5EF4-FFF2-40B4-BE49-F238E27FC236}">
                <a16:creationId xmlns:a16="http://schemas.microsoft.com/office/drawing/2014/main" id="{CDDF62F1-5513-4E90-2162-B2AFAE22CB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918" y="102212"/>
            <a:ext cx="508850" cy="520753"/>
          </a:xfrm>
          <a:prstGeom prst="rect">
            <a:avLst/>
          </a:prstGeom>
        </p:spPr>
      </p:pic>
      <p:sp>
        <p:nvSpPr>
          <p:cNvPr id="3" name="Content Placeholder 2">
            <a:extLst>
              <a:ext uri="{FF2B5EF4-FFF2-40B4-BE49-F238E27FC236}">
                <a16:creationId xmlns:a16="http://schemas.microsoft.com/office/drawing/2014/main" id="{7B0A2C67-95ED-5249-413C-846948B11ED5}"/>
              </a:ext>
            </a:extLst>
          </p:cNvPr>
          <p:cNvSpPr txBox="1">
            <a:spLocks/>
          </p:cNvSpPr>
          <p:nvPr/>
        </p:nvSpPr>
        <p:spPr>
          <a:xfrm>
            <a:off x="345343" y="885430"/>
            <a:ext cx="10725443" cy="555269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1800" b="1" dirty="0">
                <a:latin typeface="Times New Roman" panose="02020603050405020304" pitchFamily="18" charset="0"/>
                <a:cs typeface="Times New Roman" panose="02020603050405020304" pitchFamily="18" charset="0"/>
              </a:rPr>
              <a:t>PVEP ĐỊNH H</a:t>
            </a:r>
            <a:r>
              <a:rPr lang="vi-VN" sz="1800" b="1" dirty="0">
                <a:latin typeface="Times New Roman" panose="02020603050405020304" pitchFamily="18" charset="0"/>
                <a:cs typeface="Times New Roman" panose="02020603050405020304" pitchFamily="18" charset="0"/>
              </a:rPr>
              <a:t>ƯỚNG ĐẾN 2035</a:t>
            </a:r>
            <a:r>
              <a:rPr lang="vi-VN" sz="1800" dirty="0">
                <a:latin typeface="Times New Roman" panose="02020603050405020304" pitchFamily="18" charset="0"/>
                <a:cs typeface="Times New Roman" panose="02020603050405020304" pitchFamily="18" charset="0"/>
              </a:rPr>
              <a:t>: Trở thành công ty dầu khí quốc tế có vị thế trong khu vực Châu Á, với 3 trọng tâm phát triển chính:</a:t>
            </a:r>
          </a:p>
          <a:p>
            <a:pPr>
              <a:lnSpc>
                <a:spcPct val="150000"/>
              </a:lnSpc>
              <a:buFont typeface="Wingdings" pitchFamily="2" charset="2"/>
              <a:buChar char="ü"/>
            </a:pPr>
            <a:r>
              <a:rPr lang="vi-VN" sz="1800" dirty="0">
                <a:latin typeface="Times New Roman" panose="02020603050405020304" pitchFamily="18" charset="0"/>
                <a:cs typeface="Times New Roman" panose="02020603050405020304" pitchFamily="18" charset="0"/>
              </a:rPr>
              <a:t>Gia tăng trữ lượng dầu khí;</a:t>
            </a:r>
          </a:p>
          <a:p>
            <a:pPr>
              <a:lnSpc>
                <a:spcPct val="150000"/>
              </a:lnSpc>
              <a:buFont typeface="Wingdings" pitchFamily="2" charset="2"/>
              <a:buChar char="ü"/>
            </a:pPr>
            <a:r>
              <a:rPr lang="en-US" sz="1800" dirty="0" err="1">
                <a:latin typeface="Times New Roman" panose="02020603050405020304" pitchFamily="18" charset="0"/>
                <a:cs typeface="Times New Roman" panose="02020603050405020304" pitchFamily="18" charset="0"/>
              </a:rPr>
              <a:t>Đảm</a:t>
            </a:r>
            <a:r>
              <a:rPr lang="vi-VN" sz="1800" dirty="0">
                <a:latin typeface="Times New Roman" panose="02020603050405020304" pitchFamily="18" charset="0"/>
                <a:cs typeface="Times New Roman" panose="02020603050405020304" pitchFamily="18" charset="0"/>
              </a:rPr>
              <a:t> bảo sản lượng khai thác, tối ưu chi phí;</a:t>
            </a:r>
          </a:p>
          <a:p>
            <a:pPr algn="just">
              <a:lnSpc>
                <a:spcPct val="150000"/>
              </a:lnSpc>
            </a:pPr>
            <a:r>
              <a:rPr lang="en-US" sz="1800" dirty="0" err="1">
                <a:latin typeface="Times New Roman" panose="02020603050405020304" pitchFamily="18" charset="0"/>
                <a:cs typeface="Times New Roman" panose="02020603050405020304" pitchFamily="18" charset="0"/>
              </a:rPr>
              <a:t>Đầu</a:t>
            </a:r>
            <a:r>
              <a:rPr lang="en-US" sz="1800" dirty="0">
                <a:latin typeface="Times New Roman" panose="02020603050405020304" pitchFamily="18" charset="0"/>
                <a:cs typeface="Times New Roman" panose="02020603050405020304" pitchFamily="18" charset="0"/>
              </a:rPr>
              <a:t> t</a:t>
            </a:r>
            <a:r>
              <a:rPr lang="vi-VN" sz="1800" dirty="0">
                <a:latin typeface="Times New Roman" panose="02020603050405020304" pitchFamily="18" charset="0"/>
                <a:cs typeface="Times New Roman" panose="02020603050405020304" pitchFamily="18" charset="0"/>
              </a:rPr>
              <a:t>ư hiệu quả, bền vững. </a:t>
            </a:r>
          </a:p>
          <a:p>
            <a:pPr marL="0" indent="0" algn="just">
              <a:lnSpc>
                <a:spcPct val="150000"/>
              </a:lnSpc>
              <a:buNone/>
            </a:pPr>
            <a:r>
              <a:rPr lang="vi-VN" sz="1800" b="1" dirty="0">
                <a:latin typeface="Times New Roman" panose="02020603050405020304" pitchFamily="18" charset="0"/>
                <a:cs typeface="Times New Roman" panose="02020603050405020304" pitchFamily="18" charset="0"/>
              </a:rPr>
              <a:t>NHIỆM VỤ CỦA  TÌM KIẾM THĂM DÒ:</a:t>
            </a:r>
          </a:p>
          <a:p>
            <a:pPr algn="just">
              <a:lnSpc>
                <a:spcPct val="150000"/>
              </a:lnSpc>
            </a:pPr>
            <a:r>
              <a:rPr lang="vi-VN" sz="1800" dirty="0">
                <a:latin typeface="Times New Roman" panose="02020603050405020304" pitchFamily="18" charset="0"/>
                <a:cs typeface="Times New Roman" panose="02020603050405020304" pitchFamily="18" charset="0"/>
              </a:rPr>
              <a:t>Gia tăng trữ lượng thông qua việc nhận dạng và đánh giá các bẫy địa tầng chưa được phát hiện;</a:t>
            </a:r>
          </a:p>
          <a:p>
            <a:pPr algn="just">
              <a:lnSpc>
                <a:spcPct val="150000"/>
              </a:lnSpc>
            </a:pPr>
            <a:r>
              <a:rPr lang="vi-VN" sz="1800" dirty="0">
                <a:latin typeface="Times New Roman" panose="02020603050405020304" pitchFamily="18" charset="0"/>
                <a:cs typeface="Times New Roman" panose="02020603050405020304" pitchFamily="18" charset="0"/>
              </a:rPr>
              <a:t>Mở rộng không gian thăm dò sang các khu vực trước đây ít được chú ý do “không có cấu trúc tiềm năng”;</a:t>
            </a:r>
          </a:p>
          <a:p>
            <a:pPr algn="just">
              <a:lnSpc>
                <a:spcPct val="150000"/>
              </a:lnSpc>
            </a:pPr>
            <a:r>
              <a:rPr lang="vi-VN" sz="1800" dirty="0">
                <a:latin typeface="Times New Roman" panose="02020603050405020304" pitchFamily="18" charset="0"/>
                <a:cs typeface="Times New Roman" panose="02020603050405020304" pitchFamily="18" charset="0"/>
              </a:rPr>
              <a:t>Tối ưu hoá quyết định khoan thăm dò bằng cách tích hợp các minh giải địa chất – địa vật lý tiên tiến (attributes, inversion, AVO, seismic </a:t>
            </a:r>
            <a:r>
              <a:rPr lang="en-US" sz="1800" dirty="0">
                <a:latin typeface="Times New Roman" panose="02020603050405020304" pitchFamily="18" charset="0"/>
                <a:cs typeface="Times New Roman" panose="02020603050405020304" pitchFamily="18" charset="0"/>
              </a:rPr>
              <a:t>sequence </a:t>
            </a:r>
            <a:r>
              <a:rPr lang="vi-VN" sz="1800" dirty="0">
                <a:latin typeface="Times New Roman" panose="02020603050405020304" pitchFamily="18" charset="0"/>
                <a:cs typeface="Times New Roman" panose="02020603050405020304" pitchFamily="18" charset="0"/>
              </a:rPr>
              <a:t>stratigraphy);</a:t>
            </a:r>
          </a:p>
          <a:p>
            <a:pPr algn="just">
              <a:lnSpc>
                <a:spcPct val="150000"/>
              </a:lnSpc>
            </a:pPr>
            <a:r>
              <a:rPr lang="vi-VN" sz="1800" dirty="0">
                <a:latin typeface="Times New Roman" panose="02020603050405020304" pitchFamily="18" charset="0"/>
                <a:cs typeface="Times New Roman" panose="02020603050405020304" pitchFamily="18" charset="0"/>
              </a:rPr>
              <a:t>Nâng cao năng lực nội bộ về Đị</a:t>
            </a:r>
            <a:r>
              <a:rPr lang="en-US" sz="1800" dirty="0">
                <a:latin typeface="Times New Roman" panose="02020603050405020304" pitchFamily="18" charset="0"/>
                <a:cs typeface="Times New Roman" panose="02020603050405020304" pitchFamily="18" charset="0"/>
              </a:rPr>
              <a:t>a </a:t>
            </a:r>
            <a:r>
              <a:rPr lang="en-US" sz="1800" dirty="0" err="1">
                <a:latin typeface="Times New Roman" panose="02020603050405020304" pitchFamily="18" charset="0"/>
                <a:cs typeface="Times New Roman" panose="02020603050405020304" pitchFamily="18" charset="0"/>
              </a:rPr>
              <a:t>chấn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địa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tầng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vi-VN" sz="1800" dirty="0">
                <a:latin typeface="Times New Roman" panose="02020603050405020304" pitchFamily="18" charset="0"/>
                <a:cs typeface="Times New Roman" panose="02020603050405020304" pitchFamily="18" charset="0"/>
              </a:rPr>
              <a:t> bẫy địa tầng.</a:t>
            </a:r>
          </a:p>
          <a:p>
            <a:pPr marL="0" indent="0">
              <a:lnSpc>
                <a:spcPct val="150000"/>
              </a:lnSpc>
              <a:buNone/>
            </a:pPr>
            <a:endParaRPr lang="vi-V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581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77B1F217-3FD4-2F18-8443-9560CF2AF1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16" name="think-cell data - do not delete" hidden="1">
                        <a:extLst>
                          <a:ext uri="{FF2B5EF4-FFF2-40B4-BE49-F238E27FC236}">
                            <a16:creationId xmlns:a16="http://schemas.microsoft.com/office/drawing/2014/main" id="{77B1F217-3FD4-2F18-8443-9560CF2AF11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TextBox 21"/>
          <p:cNvSpPr txBox="1"/>
          <p:nvPr/>
        </p:nvSpPr>
        <p:spPr>
          <a:xfrm>
            <a:off x="-152400" y="-71767"/>
            <a:ext cx="4869991" cy="503567"/>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AutoShape 1">
            <a:extLst>
              <a:ext uri="{FF2B5EF4-FFF2-40B4-BE49-F238E27FC236}">
                <a16:creationId xmlns:a16="http://schemas.microsoft.com/office/drawing/2014/main" id="{FD8AF0CA-CDEA-899B-5820-CC8F32E200C3}"/>
              </a:ext>
            </a:extLst>
          </p:cNvPr>
          <p:cNvSpPr>
            <a:spLocks/>
          </p:cNvSpPr>
          <p:nvPr/>
        </p:nvSpPr>
        <p:spPr bwMode="auto">
          <a:xfrm>
            <a:off x="826294" y="16410"/>
            <a:ext cx="11365706" cy="5935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ĐỊNH H</a:t>
            </a:r>
            <a:r>
              <a:rPr lang="vi-VN" sz="2800" dirty="0">
                <a:latin typeface="Times New Roman" panose="02020603050405020304" pitchFamily="18" charset="0"/>
                <a:cs typeface="Times New Roman" panose="02020603050405020304" pitchFamily="18" charset="0"/>
              </a:rPr>
              <a:t>ƯỚNG </a:t>
            </a:r>
            <a:r>
              <a:rPr lang="en-US" sz="2800" dirty="0">
                <a:latin typeface="Times New Roman" panose="02020603050405020304" pitchFamily="18" charset="0"/>
                <a:cs typeface="Times New Roman" panose="02020603050405020304" pitchFamily="18" charset="0"/>
              </a:rPr>
              <a:t>CÁ NHÂN</a:t>
            </a:r>
            <a:endParaRPr kumimoji="0" lang="es-ES" sz="2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4" name="Slide Number Placeholder 5">
            <a:extLst>
              <a:ext uri="{FF2B5EF4-FFF2-40B4-BE49-F238E27FC236}">
                <a16:creationId xmlns:a16="http://schemas.microsoft.com/office/drawing/2014/main" id="{8021663B-8D7D-E2FB-7D56-4487F5D0961A}"/>
              </a:ext>
            </a:extLst>
          </p:cNvPr>
          <p:cNvSpPr txBox="1">
            <a:spLocks/>
          </p:cNvSpPr>
          <p:nvPr/>
        </p:nvSpPr>
        <p:spPr>
          <a:xfrm>
            <a:off x="11582400" y="6611187"/>
            <a:ext cx="609600" cy="213360"/>
          </a:xfrm>
          <a:prstGeom prst="rect">
            <a:avLst/>
          </a:prstGeom>
        </p:spPr>
        <p:txBody>
          <a:bodyPr>
            <a:no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0CFDCA-984A-49CD-9ECB-CD1CAA1CFBB4}" type="slidenum">
              <a:rPr kumimoji="0" lang="en-US" sz="1000" b="0" i="0" u="none" strike="noStrike" kern="1200" cap="none" spc="0" normalizeH="0" baseline="0" noProof="0" smtClean="0">
                <a:ln>
                  <a:noFill/>
                </a:ln>
                <a:solidFill>
                  <a:srgbClr val="000099"/>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000" b="0" i="0" u="none" strike="noStrike" kern="1200" cap="none" spc="0" normalizeH="0" baseline="0" noProof="0">
              <a:ln>
                <a:noFill/>
              </a:ln>
              <a:solidFill>
                <a:srgbClr val="000099"/>
              </a:solidFill>
              <a:effectLst/>
              <a:uLnTx/>
              <a:uFillTx/>
              <a:latin typeface="Arial" charset="0"/>
              <a:ea typeface="+mn-ea"/>
              <a:cs typeface="Arial" charset="0"/>
            </a:endParaRPr>
          </a:p>
        </p:txBody>
      </p:sp>
      <p:pic>
        <p:nvPicPr>
          <p:cNvPr id="9" name="Picture 8" descr="A green and blue logo&#10;&#10;AI-generated content may be incorrect.">
            <a:extLst>
              <a:ext uri="{FF2B5EF4-FFF2-40B4-BE49-F238E27FC236}">
                <a16:creationId xmlns:a16="http://schemas.microsoft.com/office/drawing/2014/main" id="{CDDF62F1-5513-4E90-2162-B2AFAE22CB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918" y="102212"/>
            <a:ext cx="508850" cy="520753"/>
          </a:xfrm>
          <a:prstGeom prst="rect">
            <a:avLst/>
          </a:prstGeom>
        </p:spPr>
      </p:pic>
      <p:sp>
        <p:nvSpPr>
          <p:cNvPr id="2" name="Content Placeholder 2">
            <a:extLst>
              <a:ext uri="{FF2B5EF4-FFF2-40B4-BE49-F238E27FC236}">
                <a16:creationId xmlns:a16="http://schemas.microsoft.com/office/drawing/2014/main" id="{485D691F-EDCC-AA9E-3CF2-3AB2E7DA4D07}"/>
              </a:ext>
            </a:extLst>
          </p:cNvPr>
          <p:cNvSpPr txBox="1">
            <a:spLocks/>
          </p:cNvSpPr>
          <p:nvPr/>
        </p:nvSpPr>
        <p:spPr>
          <a:xfrm>
            <a:off x="533400" y="946850"/>
            <a:ext cx="11353800" cy="58089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VN" sz="1800" b="1" u="sng" dirty="0">
                <a:latin typeface="Times New Roman" panose="02020603050405020304" pitchFamily="18" charset="0"/>
                <a:cs typeface="Times New Roman" panose="02020603050405020304" pitchFamily="18" charset="0"/>
              </a:rPr>
              <a:t>12 th</a:t>
            </a:r>
            <a:r>
              <a:rPr lang="en-US" sz="1800" b="1" u="sng" dirty="0" err="1">
                <a:latin typeface="Times New Roman" panose="02020603050405020304" pitchFamily="18" charset="0"/>
                <a:cs typeface="Times New Roman" panose="02020603050405020304" pitchFamily="18" charset="0"/>
              </a:rPr>
              <a:t>áng</a:t>
            </a:r>
            <a:r>
              <a:rPr lang="en-US" sz="1800" b="1" u="sng" dirty="0">
                <a:latin typeface="Times New Roman" panose="02020603050405020304" pitchFamily="18" charset="0"/>
                <a:cs typeface="Times New Roman" panose="02020603050405020304" pitchFamily="18" charset="0"/>
              </a:rPr>
              <a:t>: </a:t>
            </a:r>
          </a:p>
          <a:p>
            <a:pPr marL="0" indent="0" algn="just">
              <a:lnSpc>
                <a:spcPct val="150000"/>
              </a:lnSpc>
              <a:buFont typeface="Arial" panose="020B0604020202020204" pitchFamily="34" charset="0"/>
              <a:buNone/>
            </a:pPr>
            <a:r>
              <a:rPr lang="en-US" sz="1800" dirty="0">
                <a:latin typeface="Times New Roman" panose="02020603050405020304" pitchFamily="18" charset="0"/>
                <a:cs typeface="Times New Roman" panose="02020603050405020304" pitchFamily="18" charset="0"/>
              </a:rPr>
              <a:t>1. </a:t>
            </a:r>
            <a:r>
              <a:rPr lang="en-US" sz="1800" dirty="0" err="1">
                <a:latin typeface="Times New Roman" panose="02020603050405020304" pitchFamily="18" charset="0"/>
                <a:cs typeface="Times New Roman" panose="02020603050405020304" pitchFamily="18" charset="0"/>
              </a:rPr>
              <a:t>Nắm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vững</a:t>
            </a:r>
            <a:r>
              <a:rPr lang="vi-VN" sz="1800" dirty="0">
                <a:latin typeface="Times New Roman" panose="02020603050405020304" pitchFamily="18" charset="0"/>
                <a:cs typeface="Times New Roman" panose="02020603050405020304" pitchFamily="18" charset="0"/>
              </a:rPr>
              <a:t> kỹ thuật minh giải Địa chấn địa tầng;</a:t>
            </a:r>
          </a:p>
          <a:p>
            <a:pPr marL="0" indent="0" algn="just">
              <a:lnSpc>
                <a:spcPct val="150000"/>
              </a:lnSpc>
              <a:buFont typeface="Arial" panose="020B0604020202020204" pitchFamily="34" charset="0"/>
              <a:buNone/>
            </a:pPr>
            <a:r>
              <a:rPr lang="en-US" sz="1800" dirty="0">
                <a:solidFill>
                  <a:srgbClr val="000000"/>
                </a:solidFill>
                <a:latin typeface="Times New Roman" panose="02020603050405020304" pitchFamily="18" charset="0"/>
                <a:cs typeface="Times New Roman" panose="02020603050405020304" pitchFamily="18" charset="0"/>
              </a:rPr>
              <a:t>2. </a:t>
            </a:r>
            <a:r>
              <a:rPr lang="en-US" sz="1800" dirty="0" err="1">
                <a:solidFill>
                  <a:srgbClr val="000000"/>
                </a:solidFill>
                <a:latin typeface="Times New Roman" panose="02020603050405020304" pitchFamily="18" charset="0"/>
                <a:cs typeface="Times New Roman" panose="02020603050405020304" pitchFamily="18" charset="0"/>
              </a:rPr>
              <a:t>Khả</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năng</a:t>
            </a:r>
            <a:r>
              <a:rPr lang="en-US" sz="1800" dirty="0">
                <a:solidFill>
                  <a:srgbClr val="000000"/>
                </a:solidFill>
                <a:latin typeface="Times New Roman" panose="02020603050405020304" pitchFamily="18" charset="0"/>
                <a:cs typeface="Times New Roman" panose="02020603050405020304" pitchFamily="18" charset="0"/>
              </a:rPr>
              <a:t> </a:t>
            </a:r>
            <a:r>
              <a:rPr lang="vi-VN" sz="1800" dirty="0">
                <a:solidFill>
                  <a:srgbClr val="000000"/>
                </a:solidFill>
                <a:latin typeface="Times New Roman" panose="02020603050405020304" pitchFamily="18" charset="0"/>
                <a:cs typeface="Times New Roman" panose="02020603050405020304" pitchFamily="18" charset="0"/>
              </a:rPr>
              <a:t>vận dụng hiệu quả </a:t>
            </a:r>
            <a:r>
              <a:rPr lang="en-US" sz="1800" dirty="0" err="1">
                <a:solidFill>
                  <a:srgbClr val="000000"/>
                </a:solidFill>
                <a:latin typeface="Times New Roman" panose="02020603050405020304" pitchFamily="18" charset="0"/>
                <a:cs typeface="Times New Roman" panose="02020603050405020304" pitchFamily="18" charset="0"/>
              </a:rPr>
              <a:t>các</a:t>
            </a:r>
            <a:r>
              <a:rPr lang="en-US" sz="1800" dirty="0">
                <a:solidFill>
                  <a:srgbClr val="000000"/>
                </a:solidFill>
                <a:latin typeface="Times New Roman" panose="02020603050405020304" pitchFamily="18" charset="0"/>
                <a:cs typeface="Times New Roman" panose="02020603050405020304" pitchFamily="18" charset="0"/>
              </a:rPr>
              <a:t> workflow: Attributes → Inversion → AVO/QI → Seismic Facies → Risk Map.</a:t>
            </a:r>
          </a:p>
          <a:p>
            <a:pPr algn="just">
              <a:lnSpc>
                <a:spcPct val="150000"/>
              </a:lnSpc>
            </a:pPr>
            <a:r>
              <a:rPr lang="en-US" sz="1800" b="1" u="sng" dirty="0">
                <a:latin typeface="Times New Roman" panose="02020603050405020304" pitchFamily="18" charset="0"/>
                <a:cs typeface="Times New Roman" panose="02020603050405020304" pitchFamily="18" charset="0"/>
              </a:rPr>
              <a:t>5 </a:t>
            </a:r>
            <a:r>
              <a:rPr lang="en-US" sz="1800" b="1" u="sng" dirty="0" err="1">
                <a:latin typeface="Times New Roman" panose="02020603050405020304" pitchFamily="18" charset="0"/>
                <a:cs typeface="Times New Roman" panose="02020603050405020304" pitchFamily="18" charset="0"/>
              </a:rPr>
              <a:t>năm</a:t>
            </a:r>
            <a:r>
              <a:rPr lang="en-US" sz="1800" b="1" u="sng" dirty="0">
                <a:latin typeface="Times New Roman" panose="02020603050405020304" pitchFamily="18" charset="0"/>
                <a:cs typeface="Times New Roman" panose="02020603050405020304" pitchFamily="18" charset="0"/>
              </a:rPr>
              <a:t> :</a:t>
            </a:r>
            <a:endParaRPr lang="vi-VN" sz="1800" b="1" u="sng" dirty="0">
              <a:latin typeface="Times New Roman" panose="02020603050405020304" pitchFamily="18" charset="0"/>
              <a:cs typeface="Times New Roman" panose="02020603050405020304" pitchFamily="18" charset="0"/>
            </a:endParaRPr>
          </a:p>
          <a:p>
            <a:pPr marL="514350" indent="-514350" algn="just">
              <a:lnSpc>
                <a:spcPct val="150000"/>
              </a:lnSpc>
              <a:buFont typeface="Arial" panose="020B0604020202020204" pitchFamily="34" charset="0"/>
              <a:buAutoNum type="arabicPeriod"/>
            </a:pPr>
            <a:r>
              <a:rPr lang="en-US" sz="1800" dirty="0" err="1">
                <a:solidFill>
                  <a:srgbClr val="000000"/>
                </a:solidFill>
                <a:latin typeface="Times New Roman" panose="02020603050405020304" pitchFamily="18" charset="0"/>
                <a:cs typeface="Times New Roman" panose="02020603050405020304" pitchFamily="18" charset="0"/>
              </a:rPr>
              <a:t>Trở</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thành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nhân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sự</a:t>
            </a:r>
            <a:r>
              <a:rPr lang="vi-VN" sz="1800" dirty="0">
                <a:solidFill>
                  <a:srgbClr val="000000"/>
                </a:solidFill>
                <a:latin typeface="Times New Roman" panose="02020603050405020304" pitchFamily="18" charset="0"/>
                <a:cs typeface="Times New Roman" panose="02020603050405020304" pitchFamily="18" charset="0"/>
              </a:rPr>
              <a:t> trọng tâm</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về</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bẫy</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tầng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và</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mô</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hình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tầng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trầm</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tích</a:t>
            </a:r>
            <a:r>
              <a:rPr lang="en-US" sz="1800" dirty="0">
                <a:solidFill>
                  <a:srgbClr val="000000"/>
                </a:solidFill>
                <a:latin typeface="Times New Roman" panose="02020603050405020304" pitchFamily="18" charset="0"/>
                <a:cs typeface="Times New Roman" panose="02020603050405020304" pitchFamily="18" charset="0"/>
              </a:rPr>
              <a:t> 3D </a:t>
            </a:r>
            <a:r>
              <a:rPr lang="en-US" sz="1800" dirty="0" err="1">
                <a:solidFill>
                  <a:srgbClr val="000000"/>
                </a:solidFill>
                <a:latin typeface="Times New Roman" panose="02020603050405020304" pitchFamily="18" charset="0"/>
                <a:cs typeface="Times New Roman" panose="02020603050405020304" pitchFamily="18" charset="0"/>
              </a:rPr>
              <a:t>tại</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a:t>
            </a:r>
            <a:r>
              <a:rPr lang="vi-VN" sz="1800" dirty="0">
                <a:solidFill>
                  <a:srgbClr val="000000"/>
                </a:solidFill>
                <a:latin typeface="Times New Roman" panose="02020603050405020304" pitchFamily="18" charset="0"/>
                <a:cs typeface="Times New Roman" panose="02020603050405020304" pitchFamily="18" charset="0"/>
              </a:rPr>
              <a:t>ơn vị;</a:t>
            </a:r>
            <a:endParaRPr lang="en-US" sz="1800" dirty="0">
              <a:solidFill>
                <a:srgbClr val="000000"/>
              </a:solidFill>
              <a:latin typeface="Times New Roman" panose="02020603050405020304" pitchFamily="18" charset="0"/>
              <a:cs typeface="Times New Roman" panose="02020603050405020304" pitchFamily="18" charset="0"/>
            </a:endParaRPr>
          </a:p>
          <a:p>
            <a:pPr marL="514350" indent="-514350" algn="just">
              <a:lnSpc>
                <a:spcPct val="150000"/>
              </a:lnSpc>
              <a:buFont typeface="Arial" panose="020B0604020202020204" pitchFamily="34" charset="0"/>
              <a:buAutoNum type="arabicPeriod"/>
            </a:pPr>
            <a:r>
              <a:rPr lang="vi-VN" sz="1800" dirty="0">
                <a:solidFill>
                  <a:srgbClr val="000000"/>
                </a:solidFill>
                <a:latin typeface="Times New Roman" panose="02020603050405020304" pitchFamily="18" charset="0"/>
                <a:cs typeface="Times New Roman" panose="02020603050405020304" pitchFamily="18" charset="0"/>
              </a:rPr>
              <a:t>Đóng góp trực tiếp vào các dự án gia tăng trữ lượng thông qua đề xuất các bẫy địa tầng mới;</a:t>
            </a:r>
          </a:p>
          <a:p>
            <a:pPr marL="514350" indent="-514350" algn="just">
              <a:lnSpc>
                <a:spcPct val="150000"/>
              </a:lnSpc>
              <a:buFont typeface="Arial" panose="020B0604020202020204" pitchFamily="34" charset="0"/>
              <a:buAutoNum type="arabicPeriod"/>
            </a:pPr>
            <a:r>
              <a:rPr lang="vi-VN" sz="1800" dirty="0">
                <a:solidFill>
                  <a:srgbClr val="000000"/>
                </a:solidFill>
                <a:latin typeface="Times New Roman" panose="02020603050405020304" pitchFamily="18" charset="0"/>
                <a:cs typeface="Times New Roman" panose="02020603050405020304" pitchFamily="18" charset="0"/>
              </a:rPr>
              <a:t>Hướng tới vai trò dẫn dắt kỹ thuật các kỹ sư trẻ mảng Địa chấn- địa tầng.</a:t>
            </a:r>
            <a:endParaRPr lang="en-V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5632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77B1F217-3FD4-2F18-8443-9560CF2AF1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16" name="think-cell data - do not delete" hidden="1">
                        <a:extLst>
                          <a:ext uri="{FF2B5EF4-FFF2-40B4-BE49-F238E27FC236}">
                            <a16:creationId xmlns:a16="http://schemas.microsoft.com/office/drawing/2014/main" id="{77B1F217-3FD4-2F18-8443-9560CF2AF11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TextBox 21"/>
          <p:cNvSpPr txBox="1"/>
          <p:nvPr/>
        </p:nvSpPr>
        <p:spPr>
          <a:xfrm>
            <a:off x="-152400" y="-71767"/>
            <a:ext cx="4869991" cy="503567"/>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AutoShape 1">
            <a:extLst>
              <a:ext uri="{FF2B5EF4-FFF2-40B4-BE49-F238E27FC236}">
                <a16:creationId xmlns:a16="http://schemas.microsoft.com/office/drawing/2014/main" id="{FD8AF0CA-CDEA-899B-5820-CC8F32E200C3}"/>
              </a:ext>
            </a:extLst>
          </p:cNvPr>
          <p:cNvSpPr>
            <a:spLocks/>
          </p:cNvSpPr>
          <p:nvPr/>
        </p:nvSpPr>
        <p:spPr bwMode="auto">
          <a:xfrm>
            <a:off x="826294" y="16410"/>
            <a:ext cx="11365706" cy="5935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ĐÁNH GIÁ </a:t>
            </a:r>
            <a:r>
              <a:rPr lang="en-VN" sz="2800" dirty="0">
                <a:latin typeface="Times New Roman" panose="02020603050405020304" pitchFamily="18" charset="0"/>
                <a:cs typeface="Times New Roman" panose="02020603050405020304" pitchFamily="18" charset="0"/>
              </a:rPr>
              <a:t>N</a:t>
            </a:r>
            <a:r>
              <a:rPr lang="en-US" sz="2800" dirty="0">
                <a:latin typeface="Times New Roman" panose="02020603050405020304" pitchFamily="18" charset="0"/>
                <a:cs typeface="Times New Roman" panose="02020603050405020304" pitchFamily="18" charset="0"/>
              </a:rPr>
              <a:t>ĂNG LỰ</a:t>
            </a:r>
            <a:r>
              <a:rPr lang="vi-VN" sz="2800" dirty="0">
                <a:latin typeface="Times New Roman" panose="02020603050405020304" pitchFamily="18" charset="0"/>
                <a:cs typeface="Times New Roman" panose="02020603050405020304" pitchFamily="18" charset="0"/>
              </a:rPr>
              <a:t>C CÁ NHÂN</a:t>
            </a:r>
            <a:endParaRPr kumimoji="0" lang="es-ES" sz="2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4" name="Slide Number Placeholder 5">
            <a:extLst>
              <a:ext uri="{FF2B5EF4-FFF2-40B4-BE49-F238E27FC236}">
                <a16:creationId xmlns:a16="http://schemas.microsoft.com/office/drawing/2014/main" id="{8021663B-8D7D-E2FB-7D56-4487F5D0961A}"/>
              </a:ext>
            </a:extLst>
          </p:cNvPr>
          <p:cNvSpPr txBox="1">
            <a:spLocks/>
          </p:cNvSpPr>
          <p:nvPr/>
        </p:nvSpPr>
        <p:spPr>
          <a:xfrm>
            <a:off x="11582400" y="6611187"/>
            <a:ext cx="609600" cy="213360"/>
          </a:xfrm>
          <a:prstGeom prst="rect">
            <a:avLst/>
          </a:prstGeom>
        </p:spPr>
        <p:txBody>
          <a:bodyPr>
            <a:no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0CFDCA-984A-49CD-9ECB-CD1CAA1CFBB4}" type="slidenum">
              <a:rPr kumimoji="0" lang="en-US" sz="1000" b="0" i="0" u="none" strike="noStrike" kern="1200" cap="none" spc="0" normalizeH="0" baseline="0" noProof="0" smtClean="0">
                <a:ln>
                  <a:noFill/>
                </a:ln>
                <a:solidFill>
                  <a:srgbClr val="000099"/>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000" b="0" i="0" u="none" strike="noStrike" kern="1200" cap="none" spc="0" normalizeH="0" baseline="0" noProof="0">
              <a:ln>
                <a:noFill/>
              </a:ln>
              <a:solidFill>
                <a:srgbClr val="000099"/>
              </a:solidFill>
              <a:effectLst/>
              <a:uLnTx/>
              <a:uFillTx/>
              <a:latin typeface="Arial" charset="0"/>
              <a:ea typeface="+mn-ea"/>
              <a:cs typeface="Arial" charset="0"/>
            </a:endParaRPr>
          </a:p>
        </p:txBody>
      </p:sp>
      <p:pic>
        <p:nvPicPr>
          <p:cNvPr id="9" name="Picture 8" descr="A green and blue logo&#10;&#10;AI-generated content may be incorrect.">
            <a:extLst>
              <a:ext uri="{FF2B5EF4-FFF2-40B4-BE49-F238E27FC236}">
                <a16:creationId xmlns:a16="http://schemas.microsoft.com/office/drawing/2014/main" id="{CDDF62F1-5513-4E90-2162-B2AFAE22CB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918" y="102212"/>
            <a:ext cx="508850" cy="520753"/>
          </a:xfrm>
          <a:prstGeom prst="rect">
            <a:avLst/>
          </a:prstGeom>
        </p:spPr>
      </p:pic>
      <p:graphicFrame>
        <p:nvGraphicFramePr>
          <p:cNvPr id="2" name="Table 6">
            <a:extLst>
              <a:ext uri="{FF2B5EF4-FFF2-40B4-BE49-F238E27FC236}">
                <a16:creationId xmlns:a16="http://schemas.microsoft.com/office/drawing/2014/main" id="{B3A1EF31-FDBC-DEDE-75EA-C8F17B64E926}"/>
              </a:ext>
            </a:extLst>
          </p:cNvPr>
          <p:cNvGraphicFramePr>
            <a:graphicFrameLocks noGrp="1"/>
          </p:cNvGraphicFramePr>
          <p:nvPr>
            <p:extLst>
              <p:ext uri="{D42A27DB-BD31-4B8C-83A1-F6EECF244321}">
                <p14:modId xmlns:p14="http://schemas.microsoft.com/office/powerpoint/2010/main" val="934517530"/>
              </p:ext>
            </p:extLst>
          </p:nvPr>
        </p:nvGraphicFramePr>
        <p:xfrm>
          <a:off x="56388" y="698111"/>
          <a:ext cx="12079224" cy="5777334"/>
        </p:xfrm>
        <a:graphic>
          <a:graphicData uri="http://schemas.openxmlformats.org/drawingml/2006/table">
            <a:tbl>
              <a:tblPr firstRow="1" bandRow="1">
                <a:tableStyleId>{5C22544A-7EE6-4342-B048-85BDC9FD1C3A}</a:tableStyleId>
              </a:tblPr>
              <a:tblGrid>
                <a:gridCol w="2047193">
                  <a:extLst>
                    <a:ext uri="{9D8B030D-6E8A-4147-A177-3AD203B41FA5}">
                      <a16:colId xmlns:a16="http://schemas.microsoft.com/office/drawing/2014/main" val="3024840786"/>
                    </a:ext>
                  </a:extLst>
                </a:gridCol>
                <a:gridCol w="1352851">
                  <a:extLst>
                    <a:ext uri="{9D8B030D-6E8A-4147-A177-3AD203B41FA5}">
                      <a16:colId xmlns:a16="http://schemas.microsoft.com/office/drawing/2014/main" val="2748183957"/>
                    </a:ext>
                  </a:extLst>
                </a:gridCol>
                <a:gridCol w="2126221">
                  <a:extLst>
                    <a:ext uri="{9D8B030D-6E8A-4147-A177-3AD203B41FA5}">
                      <a16:colId xmlns:a16="http://schemas.microsoft.com/office/drawing/2014/main" val="448564290"/>
                    </a:ext>
                  </a:extLst>
                </a:gridCol>
                <a:gridCol w="6552959">
                  <a:extLst>
                    <a:ext uri="{9D8B030D-6E8A-4147-A177-3AD203B41FA5}">
                      <a16:colId xmlns:a16="http://schemas.microsoft.com/office/drawing/2014/main" val="2469073990"/>
                    </a:ext>
                  </a:extLst>
                </a:gridCol>
              </a:tblGrid>
              <a:tr h="524850">
                <a:tc>
                  <a:txBody>
                    <a:bodyPr/>
                    <a:lstStyle/>
                    <a:p>
                      <a:pPr algn="ctr"/>
                      <a:endParaRPr lang="en-VN" sz="1400" dirty="0">
                        <a:solidFill>
                          <a:schemeClr val="tx1"/>
                        </a:solidFill>
                        <a:latin typeface="Times New Roman" panose="02020603050405020304" pitchFamily="18" charset="0"/>
                        <a:cs typeface="Times New Roman" panose="02020603050405020304" pitchFamily="18" charset="0"/>
                      </a:endParaRPr>
                    </a:p>
                    <a:p>
                      <a:pPr algn="ctr"/>
                      <a:r>
                        <a:rPr lang="en-VN" sz="1400" dirty="0">
                          <a:solidFill>
                            <a:schemeClr val="tx1"/>
                          </a:solidFill>
                          <a:latin typeface="Times New Roman" panose="02020603050405020304" pitchFamily="18" charset="0"/>
                          <a:cs typeface="Times New Roman" panose="02020603050405020304" pitchFamily="18" charset="0"/>
                        </a:rPr>
                        <a:t>NH</a:t>
                      </a:r>
                      <a:r>
                        <a:rPr lang="en-US" sz="1400" dirty="0">
                          <a:solidFill>
                            <a:schemeClr val="tx1"/>
                          </a:solidFill>
                          <a:latin typeface="Times New Roman" panose="02020603050405020304" pitchFamily="18" charset="0"/>
                          <a:cs typeface="Times New Roman" panose="02020603050405020304" pitchFamily="18" charset="0"/>
                        </a:rPr>
                        <a:t>ÓM NĂNG LỰC</a:t>
                      </a:r>
                      <a:endParaRPr lang="en-VN" sz="1400" dirty="0">
                        <a:solidFill>
                          <a:schemeClr val="tx1"/>
                        </a:solidFill>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algn="ctr"/>
                      <a:r>
                        <a:rPr lang="en-VN" sz="1400" dirty="0">
                          <a:solidFill>
                            <a:schemeClr val="tx1"/>
                          </a:solidFill>
                          <a:latin typeface="Times New Roman" panose="02020603050405020304" pitchFamily="18" charset="0"/>
                          <a:cs typeface="Times New Roman" panose="02020603050405020304" pitchFamily="18" charset="0"/>
                        </a:rPr>
                        <a:t>N</a:t>
                      </a:r>
                      <a:r>
                        <a:rPr lang="en-US" sz="1400" dirty="0">
                          <a:solidFill>
                            <a:schemeClr val="tx1"/>
                          </a:solidFill>
                          <a:latin typeface="Times New Roman" panose="02020603050405020304" pitchFamily="18" charset="0"/>
                          <a:cs typeface="Times New Roman" panose="02020603050405020304" pitchFamily="18" charset="0"/>
                        </a:rPr>
                        <a:t>ĂNG LỰC </a:t>
                      </a:r>
                      <a:r>
                        <a:rPr lang="en-VN" sz="1400" dirty="0">
                          <a:solidFill>
                            <a:schemeClr val="tx1"/>
                          </a:solidFill>
                          <a:latin typeface="Times New Roman" panose="02020603050405020304" pitchFamily="18" charset="0"/>
                          <a:cs typeface="Times New Roman" panose="02020603050405020304" pitchFamily="18" charset="0"/>
                        </a:rPr>
                        <a:t>TH</a:t>
                      </a:r>
                      <a:r>
                        <a:rPr lang="en-US" sz="1400" dirty="0">
                          <a:solidFill>
                            <a:schemeClr val="tx1"/>
                          </a:solidFill>
                          <a:latin typeface="Times New Roman" panose="02020603050405020304" pitchFamily="18" charset="0"/>
                          <a:cs typeface="Times New Roman" panose="02020603050405020304" pitchFamily="18" charset="0"/>
                        </a:rPr>
                        <a:t>ỰC TẠI</a:t>
                      </a:r>
                      <a:endParaRPr lang="en-VN" sz="1400" dirty="0">
                        <a:solidFill>
                          <a:schemeClr val="tx1"/>
                        </a:solidFill>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NĂNG LỰC MỤC TIÊU SAU 12 THÁNG</a:t>
                      </a:r>
                      <a:endParaRPr lang="en-VN" sz="1400" dirty="0">
                        <a:solidFill>
                          <a:schemeClr val="tx1"/>
                        </a:solidFill>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algn="ctr"/>
                      <a:endParaRPr lang="en-VN" sz="1400" dirty="0">
                        <a:solidFill>
                          <a:schemeClr val="tx1"/>
                        </a:solidFill>
                        <a:latin typeface="Times New Roman" panose="02020603050405020304" pitchFamily="18" charset="0"/>
                        <a:cs typeface="Times New Roman" panose="02020603050405020304" pitchFamily="18" charset="0"/>
                      </a:endParaRPr>
                    </a:p>
                    <a:p>
                      <a:pPr algn="ctr"/>
                      <a:r>
                        <a:rPr lang="en-VN" sz="1400" dirty="0">
                          <a:solidFill>
                            <a:schemeClr val="tx1"/>
                          </a:solidFill>
                          <a:latin typeface="Times New Roman" panose="02020603050405020304" pitchFamily="18" charset="0"/>
                          <a:cs typeface="Times New Roman" panose="02020603050405020304" pitchFamily="18" charset="0"/>
                        </a:rPr>
                        <a:t>KHO</a:t>
                      </a:r>
                      <a:r>
                        <a:rPr lang="en-US" sz="1400" dirty="0">
                          <a:solidFill>
                            <a:schemeClr val="tx1"/>
                          </a:solidFill>
                          <a:latin typeface="Times New Roman" panose="02020603050405020304" pitchFamily="18" charset="0"/>
                          <a:cs typeface="Times New Roman" panose="02020603050405020304" pitchFamily="18" charset="0"/>
                        </a:rPr>
                        <a:t>ẢNG TRỐNG CẦN PHÁT TRIỂN</a:t>
                      </a:r>
                      <a:endParaRPr lang="en-VN" sz="1400" dirty="0">
                        <a:solidFill>
                          <a:schemeClr val="tx1"/>
                        </a:solidFill>
                        <a:latin typeface="Times New Roman" panose="02020603050405020304" pitchFamily="18" charset="0"/>
                        <a:cs typeface="Times New Roman" panose="02020603050405020304" pitchFamily="18" charset="0"/>
                      </a:endParaRPr>
                    </a:p>
                  </a:txBody>
                  <a:tcPr>
                    <a:solidFill>
                      <a:srgbClr val="00B050">
                        <a:alpha val="30596"/>
                      </a:srgbClr>
                    </a:solidFill>
                  </a:tcPr>
                </a:tc>
                <a:extLst>
                  <a:ext uri="{0D108BD9-81ED-4DB2-BD59-A6C34878D82A}">
                    <a16:rowId xmlns:a16="http://schemas.microsoft.com/office/drawing/2014/main" val="1525214429"/>
                  </a:ext>
                </a:extLst>
              </a:tr>
              <a:tr h="1120473">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VN" sz="1400" dirty="0">
                          <a:latin typeface="Times New Roman" panose="02020603050405020304" pitchFamily="18" charset="0"/>
                          <a:cs typeface="Times New Roman" panose="02020603050405020304" pitchFamily="18" charset="0"/>
                        </a:rPr>
                        <a:t>Seismic stratigraphy</a:t>
                      </a: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VN" sz="1400" dirty="0">
                          <a:latin typeface="Times New Roman" panose="02020603050405020304" pitchFamily="18" charset="0"/>
                          <a:cs typeface="Times New Roman" panose="02020603050405020304" pitchFamily="18" charset="0"/>
                        </a:rPr>
                        <a:t>Trung b</a:t>
                      </a:r>
                      <a:r>
                        <a:rPr lang="en-US" sz="1400" dirty="0" err="1">
                          <a:latin typeface="Times New Roman" panose="02020603050405020304" pitchFamily="18" charset="0"/>
                          <a:cs typeface="Times New Roman" panose="02020603050405020304" pitchFamily="18" charset="0"/>
                        </a:rPr>
                        <a:t>ình-khá</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US" sz="1400" dirty="0" err="1">
                          <a:latin typeface="Times New Roman" panose="02020603050405020304" pitchFamily="18" charset="0"/>
                          <a:cs typeface="Times New Roman" panose="02020603050405020304" pitchFamily="18" charset="0"/>
                        </a:rPr>
                        <a:t>Tốt</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marL="342900" indent="-342900" algn="just" defTabSz="914400" rtl="0" eaLnBrk="1" latinLnBrk="0" hangingPunct="1">
                        <a:lnSpc>
                          <a:spcPct val="100000"/>
                        </a:lnSpc>
                        <a:buFontTx/>
                        <a:buChar char="-"/>
                      </a:pPr>
                      <a:r>
                        <a:rPr lang="vi-VN" sz="1400" kern="1200" dirty="0">
                          <a:solidFill>
                            <a:schemeClr val="dk1"/>
                          </a:solidFill>
                          <a:latin typeface="Times New Roman" panose="02020603050405020304" pitchFamily="18" charset="0"/>
                          <a:ea typeface="+mn-ea"/>
                          <a:cs typeface="Times New Roman" panose="02020603050405020304" pitchFamily="18" charset="0"/>
                        </a:rPr>
                        <a:t>Kỹ năng nhận biết các dấu hiệu phản xạ đặc trưng (</a:t>
                      </a:r>
                      <a:r>
                        <a:rPr lang="en-US" sz="1400" kern="1200" dirty="0">
                          <a:solidFill>
                            <a:schemeClr val="dk1"/>
                          </a:solidFill>
                          <a:latin typeface="Times New Roman" panose="02020603050405020304" pitchFamily="18" charset="0"/>
                          <a:ea typeface="+mn-ea"/>
                          <a:cs typeface="Times New Roman" panose="02020603050405020304" pitchFamily="18" charset="0"/>
                        </a:rPr>
                        <a:t>stratal termination)</a:t>
                      </a:r>
                      <a:r>
                        <a:rPr lang="vi-VN" sz="1400" kern="1200" dirty="0">
                          <a:solidFill>
                            <a:schemeClr val="dk1"/>
                          </a:solidFill>
                          <a:latin typeface="Times New Roman" panose="02020603050405020304" pitchFamily="18" charset="0"/>
                          <a:ea typeface="+mn-ea"/>
                          <a:cs typeface="Times New Roman" panose="02020603050405020304" pitchFamily="18" charset="0"/>
                        </a:rPr>
                        <a:t>, liên kết với mô hình trầm tích (</a:t>
                      </a:r>
                      <a:r>
                        <a:rPr lang="en-US" sz="1400" kern="1200" dirty="0">
                          <a:solidFill>
                            <a:schemeClr val="dk1"/>
                          </a:solidFill>
                          <a:latin typeface="Times New Roman" panose="02020603050405020304" pitchFamily="18" charset="0"/>
                          <a:ea typeface="+mn-ea"/>
                          <a:cs typeface="Times New Roman" panose="02020603050405020304" pitchFamily="18" charset="0"/>
                        </a:rPr>
                        <a:t>depositional model)</a:t>
                      </a:r>
                      <a:r>
                        <a:rPr lang="vi-VN" sz="1400" kern="1200" dirty="0">
                          <a:solidFill>
                            <a:schemeClr val="dk1"/>
                          </a:solidFill>
                          <a:latin typeface="Times New Roman" panose="02020603050405020304" pitchFamily="18" charset="0"/>
                          <a:ea typeface="+mn-ea"/>
                          <a:cs typeface="Times New Roman" panose="02020603050405020304" pitchFamily="18" charset="0"/>
                        </a:rPr>
                        <a:t> để dự báo và nhận điện các bẫy địa tầng</a:t>
                      </a:r>
                      <a:r>
                        <a:rPr lang="en-US" sz="1400" kern="1200" dirty="0">
                          <a:solidFill>
                            <a:schemeClr val="dk1"/>
                          </a:solidFill>
                          <a:latin typeface="Times New Roman" panose="02020603050405020304" pitchFamily="18" charset="0"/>
                          <a:ea typeface="+mn-ea"/>
                          <a:cs typeface="Times New Roman" panose="02020603050405020304" pitchFamily="18" charset="0"/>
                        </a:rPr>
                        <a:t> (stratigraphic traps);</a:t>
                      </a:r>
                    </a:p>
                    <a:p>
                      <a:pPr marL="342900" indent="-342900" algn="just" defTabSz="914400" rtl="0" eaLnBrk="1" latinLnBrk="0" hangingPunct="1">
                        <a:lnSpc>
                          <a:spcPct val="100000"/>
                        </a:lnSpc>
                        <a:buFontTx/>
                        <a:buChar char="-"/>
                      </a:pPr>
                      <a:r>
                        <a:rPr lang="en-US" sz="1400" kern="1200" dirty="0" err="1">
                          <a:solidFill>
                            <a:schemeClr val="dk1"/>
                          </a:solidFill>
                          <a:latin typeface="Times New Roman" panose="02020603050405020304" pitchFamily="18" charset="0"/>
                          <a:ea typeface="+mn-ea"/>
                          <a:cs typeface="Times New Roman" panose="02020603050405020304" pitchFamily="18" charset="0"/>
                        </a:rPr>
                        <a:t>Hoàn</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thiện</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kỹ</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năng</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nhận</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biết</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các</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ranh</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giới</a:t>
                      </a:r>
                      <a:r>
                        <a:rPr lang="en-US" sz="1400" kern="1200" dirty="0">
                          <a:solidFill>
                            <a:schemeClr val="dk1"/>
                          </a:solidFill>
                          <a:latin typeface="Times New Roman" panose="02020603050405020304" pitchFamily="18" charset="0"/>
                          <a:ea typeface="+mn-ea"/>
                          <a:cs typeface="Times New Roman" panose="02020603050405020304" pitchFamily="18" charset="0"/>
                        </a:rPr>
                        <a:t> SB, TS, MFS </a:t>
                      </a:r>
                      <a:r>
                        <a:rPr lang="en-US" sz="1400" kern="1200" dirty="0" err="1">
                          <a:solidFill>
                            <a:schemeClr val="dk1"/>
                          </a:solidFill>
                          <a:latin typeface="Times New Roman" panose="02020603050405020304" pitchFamily="18" charset="0"/>
                          <a:ea typeface="+mn-ea"/>
                          <a:cs typeface="Times New Roman" panose="02020603050405020304" pitchFamily="18" charset="0"/>
                        </a:rPr>
                        <a:t>từ</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thông</a:t>
                      </a:r>
                      <a:r>
                        <a:rPr lang="en-US" sz="1400" kern="1200" dirty="0">
                          <a:solidFill>
                            <a:schemeClr val="dk1"/>
                          </a:solidFill>
                          <a:latin typeface="Times New Roman" panose="02020603050405020304" pitchFamily="18" charset="0"/>
                          <a:ea typeface="+mn-ea"/>
                          <a:cs typeface="Times New Roman" panose="02020603050405020304" pitchFamily="18" charset="0"/>
                        </a:rPr>
                        <a:t> tin </a:t>
                      </a:r>
                      <a:r>
                        <a:rPr lang="en-US" sz="1400" kern="1200" dirty="0" err="1">
                          <a:solidFill>
                            <a:schemeClr val="dk1"/>
                          </a:solidFill>
                          <a:latin typeface="Times New Roman" panose="02020603050405020304" pitchFamily="18" charset="0"/>
                          <a:ea typeface="+mn-ea"/>
                          <a:cs typeface="Times New Roman" panose="02020603050405020304" pitchFamily="18" charset="0"/>
                        </a:rPr>
                        <a:t>giếng</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khoan</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và</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tài</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liệu</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địa</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chấn</a:t>
                      </a:r>
                      <a:r>
                        <a:rPr lang="en-US" sz="1400" kern="1200" dirty="0">
                          <a:solidFill>
                            <a:schemeClr val="dk1"/>
                          </a:solidFill>
                          <a:latin typeface="Times New Roman" panose="02020603050405020304" pitchFamily="18" charset="0"/>
                          <a:ea typeface="+mn-ea"/>
                          <a:cs typeface="Times New Roman" panose="02020603050405020304" pitchFamily="18" charset="0"/>
                        </a:rPr>
                        <a:t>.</a:t>
                      </a:r>
                      <a:endParaRPr lang="en-VN" sz="1400" kern="1200" dirty="0">
                        <a:solidFill>
                          <a:schemeClr val="dk1"/>
                        </a:solidFill>
                        <a:latin typeface="Times New Roman" panose="02020603050405020304" pitchFamily="18" charset="0"/>
                        <a:ea typeface="+mn-ea"/>
                        <a:cs typeface="Times New Roman" panose="02020603050405020304" pitchFamily="18" charset="0"/>
                      </a:endParaRPr>
                    </a:p>
                  </a:txBody>
                  <a:tcPr>
                    <a:solidFill>
                      <a:srgbClr val="00B050">
                        <a:alpha val="30596"/>
                      </a:srgbClr>
                    </a:solidFill>
                  </a:tcPr>
                </a:tc>
                <a:extLst>
                  <a:ext uri="{0D108BD9-81ED-4DB2-BD59-A6C34878D82A}">
                    <a16:rowId xmlns:a16="http://schemas.microsoft.com/office/drawing/2014/main" val="2547280048"/>
                  </a:ext>
                </a:extLst>
              </a:tr>
              <a:tr h="1326876">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endParaRPr lang="en-VN" sz="1400" dirty="0">
                        <a:latin typeface="Times New Roman" panose="02020603050405020304" pitchFamily="18" charset="0"/>
                        <a:cs typeface="Times New Roman" panose="02020603050405020304" pitchFamily="18" charset="0"/>
                      </a:endParaRPr>
                    </a:p>
                    <a:p>
                      <a:pPr lvl="0" algn="ctr"/>
                      <a:r>
                        <a:rPr lang="en-VN" sz="1400" dirty="0">
                          <a:latin typeface="Times New Roman" panose="02020603050405020304" pitchFamily="18" charset="0"/>
                          <a:cs typeface="Times New Roman" panose="02020603050405020304" pitchFamily="18" charset="0"/>
                        </a:rPr>
                        <a:t>Inversion, AVO/QI</a:t>
                      </a: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endParaRPr lang="en-VN" sz="1400" dirty="0">
                        <a:latin typeface="Times New Roman" panose="02020603050405020304" pitchFamily="18" charset="0"/>
                        <a:cs typeface="Times New Roman" panose="02020603050405020304" pitchFamily="18" charset="0"/>
                      </a:endParaRPr>
                    </a:p>
                    <a:p>
                      <a:pPr lvl="0" algn="ctr"/>
                      <a:r>
                        <a:rPr lang="en-VN" sz="1400" dirty="0">
                          <a:latin typeface="Times New Roman" panose="02020603050405020304" pitchFamily="18" charset="0"/>
                          <a:cs typeface="Times New Roman" panose="02020603050405020304" pitchFamily="18" charset="0"/>
                        </a:rPr>
                        <a:t>C</a:t>
                      </a:r>
                      <a:r>
                        <a:rPr lang="vi-VN" sz="1400" dirty="0">
                          <a:latin typeface="Times New Roman" panose="02020603050405020304" pitchFamily="18" charset="0"/>
                          <a:cs typeface="Times New Roman" panose="02020603050405020304" pitchFamily="18" charset="0"/>
                        </a:rPr>
                        <a:t>ơ bản</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endParaRPr lang="en-US" sz="1400" dirty="0">
                        <a:latin typeface="Times New Roman" panose="02020603050405020304" pitchFamily="18" charset="0"/>
                        <a:cs typeface="Times New Roman" panose="02020603050405020304" pitchFamily="18" charset="0"/>
                      </a:endParaRPr>
                    </a:p>
                    <a:p>
                      <a:pPr lvl="0" algn="ctr"/>
                      <a:r>
                        <a:rPr lang="en-US" sz="1400" dirty="0" err="1">
                          <a:latin typeface="Times New Roman" panose="02020603050405020304" pitchFamily="18" charset="0"/>
                          <a:cs typeface="Times New Roman" panose="02020603050405020304" pitchFamily="18" charset="0"/>
                        </a:rPr>
                        <a:t>Khá</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marL="342900" indent="-342900" algn="just" defTabSz="914400" rtl="0" eaLnBrk="1" latinLnBrk="0" hangingPunct="1">
                        <a:lnSpc>
                          <a:spcPct val="100000"/>
                        </a:lnSpc>
                        <a:buFontTx/>
                        <a:buChar char="-"/>
                      </a:pPr>
                      <a:r>
                        <a:rPr lang="vi-VN" sz="1400" kern="1200" dirty="0">
                          <a:solidFill>
                            <a:schemeClr val="dk1"/>
                          </a:solidFill>
                          <a:latin typeface="Times New Roman" panose="02020603050405020304" pitchFamily="18" charset="0"/>
                          <a:ea typeface="+mn-ea"/>
                          <a:cs typeface="Times New Roman" panose="02020603050405020304" pitchFamily="18" charset="0"/>
                        </a:rPr>
                        <a:t>Nâng cao khả năng đọc, diễn giải các kết quả AVO crossplot (intercept/gradient) và xác định các thông số chất lưu cơ bản;</a:t>
                      </a:r>
                    </a:p>
                    <a:p>
                      <a:pPr marL="342900" indent="-342900" algn="just" defTabSz="914400" rtl="0" eaLnBrk="1" latinLnBrk="0" hangingPunct="1">
                        <a:lnSpc>
                          <a:spcPct val="100000"/>
                        </a:lnSpc>
                        <a:buFontTx/>
                        <a:buChar char="-"/>
                      </a:pPr>
                      <a:r>
                        <a:rPr lang="vi-VN" sz="1400" kern="1200" dirty="0">
                          <a:solidFill>
                            <a:schemeClr val="dk1"/>
                          </a:solidFill>
                          <a:latin typeface="Times New Roman" panose="02020603050405020304" pitchFamily="18" charset="0"/>
                          <a:ea typeface="+mn-ea"/>
                          <a:cs typeface="Times New Roman" panose="02020603050405020304" pitchFamily="18" charset="0"/>
                        </a:rPr>
                        <a:t>Hoàn thiện kỹ năng ứng dụng Inversion và AVO ở mức hỗ trợ để nhận diện và đánh giá các bẫy địa tầng (stratigraphic traps);</a:t>
                      </a:r>
                    </a:p>
                    <a:p>
                      <a:pPr marL="342900" indent="-342900" algn="just" defTabSz="914400" rtl="0" eaLnBrk="1" latinLnBrk="0" hangingPunct="1">
                        <a:lnSpc>
                          <a:spcPct val="100000"/>
                        </a:lnSpc>
                        <a:buFontTx/>
                        <a:buChar char="-"/>
                      </a:pPr>
                      <a:r>
                        <a:rPr lang="vi-VN" sz="1400" kern="1200" dirty="0">
                          <a:solidFill>
                            <a:schemeClr val="dk1"/>
                          </a:solidFill>
                          <a:latin typeface="Times New Roman" panose="02020603050405020304" pitchFamily="18" charset="0"/>
                          <a:ea typeface="+mn-ea"/>
                          <a:cs typeface="Times New Roman" panose="02020603050405020304" pitchFamily="18" charset="0"/>
                        </a:rPr>
                        <a:t>Thực hành đánh giá AVO anomaly, kiểm tra mức độ tin cậy và liên kết kết quả với dữ liệu giếng khoan (well logs)</a:t>
                      </a:r>
                    </a:p>
                  </a:txBody>
                  <a:tcPr>
                    <a:solidFill>
                      <a:srgbClr val="00B050">
                        <a:alpha val="30596"/>
                      </a:srgbClr>
                    </a:solidFill>
                  </a:tcPr>
                </a:tc>
                <a:extLst>
                  <a:ext uri="{0D108BD9-81ED-4DB2-BD59-A6C34878D82A}">
                    <a16:rowId xmlns:a16="http://schemas.microsoft.com/office/drawing/2014/main" val="3744468778"/>
                  </a:ext>
                </a:extLst>
              </a:tr>
              <a:tr h="728119">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VN" sz="1400" dirty="0">
                          <a:latin typeface="Times New Roman" panose="02020603050405020304" pitchFamily="18" charset="0"/>
                          <a:cs typeface="Times New Roman" panose="02020603050405020304" pitchFamily="18" charset="0"/>
                        </a:rPr>
                        <a:t>Seismic attribute</a:t>
                      </a: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VN" sz="1400" dirty="0">
                          <a:latin typeface="Times New Roman" panose="02020603050405020304" pitchFamily="18" charset="0"/>
                          <a:cs typeface="Times New Roman" panose="02020603050405020304" pitchFamily="18" charset="0"/>
                        </a:rPr>
                        <a:t>Kh</a:t>
                      </a:r>
                      <a:r>
                        <a:rPr lang="en-US" sz="1400" dirty="0" err="1">
                          <a:latin typeface="Times New Roman" panose="02020603050405020304" pitchFamily="18" charset="0"/>
                          <a:cs typeface="Times New Roman" panose="02020603050405020304" pitchFamily="18" charset="0"/>
                        </a:rPr>
                        <a:t>á</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VN" sz="1400" dirty="0">
                          <a:latin typeface="Times New Roman" panose="02020603050405020304" pitchFamily="18" charset="0"/>
                          <a:cs typeface="Times New Roman" panose="02020603050405020304" pitchFamily="18" charset="0"/>
                        </a:rPr>
                        <a:t>T</a:t>
                      </a:r>
                      <a:r>
                        <a:rPr lang="en-US" sz="1400" dirty="0" err="1">
                          <a:latin typeface="Times New Roman" panose="02020603050405020304" pitchFamily="18" charset="0"/>
                          <a:cs typeface="Times New Roman" panose="02020603050405020304" pitchFamily="18" charset="0"/>
                        </a:rPr>
                        <a:t>ốt</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marL="342900" indent="-342900" algn="just" defTabSz="914400" rtl="0" eaLnBrk="1" latinLnBrk="0" hangingPunct="1">
                        <a:lnSpc>
                          <a:spcPct val="100000"/>
                        </a:lnSpc>
                        <a:buFontTx/>
                        <a:buChar char="-"/>
                      </a:pPr>
                      <a:r>
                        <a:rPr lang="en-US" sz="1400" kern="1200" dirty="0" err="1">
                          <a:solidFill>
                            <a:schemeClr val="dk1"/>
                          </a:solidFill>
                          <a:latin typeface="Times New Roman" panose="02020603050405020304" pitchFamily="18" charset="0"/>
                          <a:ea typeface="+mn-ea"/>
                          <a:cs typeface="Times New Roman" panose="02020603050405020304" pitchFamily="18" charset="0"/>
                        </a:rPr>
                        <a:t>Củng</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cố</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kỹ</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năng</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lựa</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chọn</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thuộc</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tính</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phù</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hợp</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mục</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tiêu</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phân</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tích</a:t>
                      </a:r>
                      <a:r>
                        <a:rPr lang="en-US" sz="1400" kern="1200" dirty="0">
                          <a:solidFill>
                            <a:schemeClr val="dk1"/>
                          </a:solidFill>
                          <a:latin typeface="Times New Roman" panose="02020603050405020304" pitchFamily="18" charset="0"/>
                          <a:ea typeface="+mn-ea"/>
                          <a:cs typeface="Times New Roman" panose="02020603050405020304" pitchFamily="18" charset="0"/>
                        </a:rPr>
                        <a:t>;</a:t>
                      </a:r>
                    </a:p>
                    <a:p>
                      <a:pPr marL="342900" indent="-342900" algn="just" defTabSz="914400" rtl="0" eaLnBrk="1" latinLnBrk="0" hangingPunct="1">
                        <a:lnSpc>
                          <a:spcPct val="100000"/>
                        </a:lnSpc>
                        <a:buFontTx/>
                        <a:buChar char="-"/>
                      </a:pPr>
                      <a:r>
                        <a:rPr lang="en-US" sz="1400" kern="1200" dirty="0" err="1">
                          <a:solidFill>
                            <a:schemeClr val="dk1"/>
                          </a:solidFill>
                          <a:latin typeface="Times New Roman" panose="02020603050405020304" pitchFamily="18" charset="0"/>
                          <a:ea typeface="+mn-ea"/>
                          <a:cs typeface="Times New Roman" panose="02020603050405020304" pitchFamily="18" charset="0"/>
                        </a:rPr>
                        <a:t>Hoàn</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thiện</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kỹ</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năng</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tích</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hợp</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thuộc</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tính</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và</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mô</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hình</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hệ</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thống</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trầm</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tích</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để</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dự</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đoán</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phân</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bố</a:t>
                      </a:r>
                      <a:r>
                        <a:rPr lang="en-US" sz="1400" kern="1200" dirty="0">
                          <a:solidFill>
                            <a:schemeClr val="dk1"/>
                          </a:solidFill>
                          <a:latin typeface="Times New Roman" panose="02020603050405020304" pitchFamily="18" charset="0"/>
                          <a:ea typeface="+mn-ea"/>
                          <a:cs typeface="Times New Roman" panose="02020603050405020304" pitchFamily="18" charset="0"/>
                        </a:rPr>
                        <a:t> </a:t>
                      </a:r>
                      <a:r>
                        <a:rPr lang="en-US" sz="1400" kern="1200" dirty="0" err="1">
                          <a:solidFill>
                            <a:schemeClr val="dk1"/>
                          </a:solidFill>
                          <a:latin typeface="Times New Roman" panose="02020603050405020304" pitchFamily="18" charset="0"/>
                          <a:ea typeface="+mn-ea"/>
                          <a:cs typeface="Times New Roman" panose="02020603050405020304" pitchFamily="18" charset="0"/>
                        </a:rPr>
                        <a:t>cát</a:t>
                      </a:r>
                      <a:r>
                        <a:rPr lang="en-US" sz="1400" kern="1200" dirty="0">
                          <a:solidFill>
                            <a:schemeClr val="dk1"/>
                          </a:solidFill>
                          <a:latin typeface="Times New Roman" panose="02020603050405020304" pitchFamily="18" charset="0"/>
                          <a:ea typeface="+mn-ea"/>
                          <a:cs typeface="Times New Roman" panose="02020603050405020304" pitchFamily="18" charset="0"/>
                        </a:rPr>
                        <a:t>.</a:t>
                      </a:r>
                      <a:endParaRPr lang="en-VN" sz="1400" kern="1200" dirty="0">
                        <a:solidFill>
                          <a:schemeClr val="dk1"/>
                        </a:solidFill>
                        <a:latin typeface="Times New Roman" panose="02020603050405020304" pitchFamily="18" charset="0"/>
                        <a:ea typeface="+mn-ea"/>
                        <a:cs typeface="Times New Roman" panose="02020603050405020304" pitchFamily="18" charset="0"/>
                      </a:endParaRPr>
                    </a:p>
                  </a:txBody>
                  <a:tcPr>
                    <a:solidFill>
                      <a:srgbClr val="00B050">
                        <a:alpha val="30596"/>
                      </a:srgbClr>
                    </a:solidFill>
                  </a:tcPr>
                </a:tc>
                <a:extLst>
                  <a:ext uri="{0D108BD9-81ED-4DB2-BD59-A6C34878D82A}">
                    <a16:rowId xmlns:a16="http://schemas.microsoft.com/office/drawing/2014/main" val="1122507027"/>
                  </a:ext>
                </a:extLst>
              </a:tr>
              <a:tr h="501264">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VN" sz="1400" dirty="0">
                          <a:latin typeface="Times New Roman" panose="02020603050405020304" pitchFamily="18" charset="0"/>
                          <a:cs typeface="Times New Roman" panose="02020603050405020304" pitchFamily="18" charset="0"/>
                        </a:rPr>
                        <a:t>T</a:t>
                      </a:r>
                      <a:r>
                        <a:rPr lang="en-US" sz="1400" dirty="0" err="1">
                          <a:latin typeface="Times New Roman" panose="02020603050405020304" pitchFamily="18" charset="0"/>
                          <a:cs typeface="Times New Roman" panose="02020603050405020304" pitchFamily="18" charset="0"/>
                        </a:rPr>
                        <a:t>ích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hợp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địa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chất</a:t>
                      </a:r>
                      <a:r>
                        <a:rPr lang="en-US" sz="1400" dirty="0">
                          <a:latin typeface="Times New Roman" panose="02020603050405020304" pitchFamily="18" charset="0"/>
                          <a:cs typeface="Times New Roman" panose="02020603050405020304" pitchFamily="18" charset="0"/>
                        </a:rPr>
                        <a:t>- ĐVL</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US" sz="1400" dirty="0">
                          <a:latin typeface="Times New Roman" panose="02020603050405020304" pitchFamily="18" charset="0"/>
                          <a:cs typeface="Times New Roman" panose="02020603050405020304" pitchFamily="18" charset="0"/>
                        </a:rPr>
                        <a:t>C</a:t>
                      </a:r>
                      <a:r>
                        <a:rPr lang="vi-VN" sz="1400" dirty="0">
                          <a:latin typeface="Times New Roman" panose="02020603050405020304" pitchFamily="18" charset="0"/>
                          <a:cs typeface="Times New Roman" panose="02020603050405020304" pitchFamily="18" charset="0"/>
                        </a:rPr>
                        <a:t>ơ bản</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US" sz="1400" dirty="0" err="1">
                          <a:latin typeface="Times New Roman" panose="02020603050405020304" pitchFamily="18" charset="0"/>
                          <a:cs typeface="Times New Roman" panose="02020603050405020304" pitchFamily="18" charset="0"/>
                        </a:rPr>
                        <a:t>Khá</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marL="342900" indent="-342900" algn="just" defTabSz="914400" rtl="0" eaLnBrk="1" latinLnBrk="0" hangingPunct="1">
                        <a:lnSpc>
                          <a:spcPct val="100000"/>
                        </a:lnSpc>
                        <a:buFontTx/>
                        <a:buChar char="-"/>
                      </a:pPr>
                      <a:r>
                        <a:rPr lang="vi-VN" sz="1400" kern="1200" dirty="0">
                          <a:solidFill>
                            <a:schemeClr val="dk1"/>
                          </a:solidFill>
                          <a:latin typeface="Times New Roman" panose="02020603050405020304" pitchFamily="18" charset="0"/>
                          <a:ea typeface="+mn-ea"/>
                          <a:cs typeface="Times New Roman" panose="02020603050405020304" pitchFamily="18" charset="0"/>
                        </a:rPr>
                        <a:t>Nâng cao năng lực tích hợp tài liệu giếng khoan, mô hình trầm tích và đặc trưng địa chấn để dự báo phân bố cát một cách nhất quán và đáng tin cậy.</a:t>
                      </a:r>
                      <a:endParaRPr lang="en-US" sz="1400" kern="1200" dirty="0">
                        <a:solidFill>
                          <a:schemeClr val="dk1"/>
                        </a:solidFill>
                        <a:latin typeface="Times New Roman" panose="02020603050405020304" pitchFamily="18" charset="0"/>
                        <a:ea typeface="+mn-ea"/>
                        <a:cs typeface="Times New Roman" panose="02020603050405020304" pitchFamily="18" charset="0"/>
                      </a:endParaRPr>
                    </a:p>
                  </a:txBody>
                  <a:tcPr>
                    <a:solidFill>
                      <a:srgbClr val="00B050">
                        <a:alpha val="30596"/>
                      </a:srgbClr>
                    </a:solidFill>
                  </a:tcPr>
                </a:tc>
                <a:extLst>
                  <a:ext uri="{0D108BD9-81ED-4DB2-BD59-A6C34878D82A}">
                    <a16:rowId xmlns:a16="http://schemas.microsoft.com/office/drawing/2014/main" val="3719797974"/>
                  </a:ext>
                </a:extLst>
              </a:tr>
              <a:tr h="644578">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VN" sz="1400" dirty="0">
                          <a:latin typeface="Times New Roman" panose="02020603050405020304" pitchFamily="18" charset="0"/>
                          <a:cs typeface="Times New Roman" panose="02020603050405020304" pitchFamily="18" charset="0"/>
                        </a:rPr>
                        <a:t>Thuy</a:t>
                      </a:r>
                      <a:r>
                        <a:rPr lang="en-US" sz="1400" dirty="0" err="1">
                          <a:latin typeface="Times New Roman" panose="02020603050405020304" pitchFamily="18" charset="0"/>
                          <a:cs typeface="Times New Roman" panose="02020603050405020304" pitchFamily="18" charset="0"/>
                        </a:rPr>
                        <a:t>ết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trình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phản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biện</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US" sz="1400" dirty="0" err="1">
                          <a:latin typeface="Times New Roman" panose="02020603050405020304" pitchFamily="18" charset="0"/>
                          <a:cs typeface="Times New Roman" panose="02020603050405020304" pitchFamily="18" charset="0"/>
                        </a:rPr>
                        <a:t>Trung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bình</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US" sz="1400" dirty="0" err="1">
                          <a:latin typeface="Times New Roman" panose="02020603050405020304" pitchFamily="18" charset="0"/>
                          <a:cs typeface="Times New Roman" panose="02020603050405020304" pitchFamily="18" charset="0"/>
                        </a:rPr>
                        <a:t>Khá</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marL="342900" indent="-342900" algn="just">
                        <a:lnSpc>
                          <a:spcPct val="100000"/>
                        </a:lnSpc>
                        <a:buFontTx/>
                        <a:buChar char="-"/>
                      </a:pPr>
                      <a:r>
                        <a:rPr lang="en-VN" sz="1400" dirty="0">
                          <a:latin typeface="Times New Roman" panose="02020603050405020304" pitchFamily="18" charset="0"/>
                          <a:cs typeface="Times New Roman" panose="02020603050405020304" pitchFamily="18" charset="0"/>
                        </a:rPr>
                        <a:t>R</a:t>
                      </a:r>
                      <a:r>
                        <a:rPr lang="en-US" sz="1400" dirty="0" err="1">
                          <a:latin typeface="Times New Roman" panose="02020603050405020304" pitchFamily="18" charset="0"/>
                          <a:cs typeface="Times New Roman" panose="02020603050405020304" pitchFamily="18" charset="0"/>
                        </a:rPr>
                        <a:t>èn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kuyện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kỹ</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năng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thuyết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trình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mạch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lạc</a:t>
                      </a:r>
                      <a:r>
                        <a:rPr lang="en-US" sz="1400" dirty="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tự tin,-thuyết phục;</a:t>
                      </a:r>
                    </a:p>
                    <a:p>
                      <a:pPr marL="342900" indent="-342900" algn="just">
                        <a:lnSpc>
                          <a:spcPct val="100000"/>
                        </a:lnSpc>
                        <a:buFontTx/>
                        <a:buChar char="-"/>
                      </a:pPr>
                      <a:r>
                        <a:rPr lang="vi-VN" sz="1400" dirty="0">
                          <a:latin typeface="Times New Roman" panose="02020603050405020304" pitchFamily="18" charset="0"/>
                          <a:cs typeface="Times New Roman" panose="02020603050405020304" pitchFamily="18" charset="0"/>
                        </a:rPr>
                        <a:t>Kỹ năng trả lời câu hỏi dạng phản biện.</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extLst>
                  <a:ext uri="{0D108BD9-81ED-4DB2-BD59-A6C34878D82A}">
                    <a16:rowId xmlns:a16="http://schemas.microsoft.com/office/drawing/2014/main" val="895741684"/>
                  </a:ext>
                </a:extLst>
              </a:tr>
              <a:tr h="828386">
                <a:tc>
                  <a:txBody>
                    <a:bodyPr/>
                    <a:lstStyle/>
                    <a:p>
                      <a:pPr lvl="0" algn="ctr"/>
                      <a:endParaRPr lang="en-US" sz="1400">
                        <a:latin typeface="Times New Roman" panose="02020603050405020304" pitchFamily="18" charset="0"/>
                        <a:cs typeface="Times New Roman" panose="02020603050405020304" pitchFamily="18" charset="0"/>
                      </a:endParaRPr>
                    </a:p>
                    <a:p>
                      <a:pPr lvl="0" algn="ctr"/>
                      <a:r>
                        <a:rPr lang="en-VN" sz="1400">
                          <a:latin typeface="Times New Roman" panose="02020603050405020304" pitchFamily="18" charset="0"/>
                          <a:cs typeface="Times New Roman" panose="02020603050405020304" pitchFamily="18" charset="0"/>
                        </a:rPr>
                        <a:t>Ti</a:t>
                      </a:r>
                      <a:r>
                        <a:rPr lang="en-US" sz="1400" dirty="0" err="1">
                          <a:latin typeface="Times New Roman" panose="02020603050405020304" pitchFamily="18" charset="0"/>
                          <a:cs typeface="Times New Roman" panose="02020603050405020304" pitchFamily="18" charset="0"/>
                        </a:rPr>
                        <a:t>ếng</a:t>
                      </a:r>
                      <a:r>
                        <a:rPr lang="en-US" sz="1400" dirty="0">
                          <a:latin typeface="Times New Roman" panose="02020603050405020304" pitchFamily="18" charset="0"/>
                          <a:cs typeface="Times New Roman" panose="02020603050405020304" pitchFamily="18" charset="0"/>
                        </a:rPr>
                        <a:t> Anh</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US" sz="1400" dirty="0">
                          <a:latin typeface="Times New Roman" panose="02020603050405020304" pitchFamily="18" charset="0"/>
                          <a:cs typeface="Times New Roman" panose="02020603050405020304" pitchFamily="18" charset="0"/>
                        </a:rPr>
                        <a:t>C</a:t>
                      </a:r>
                      <a:r>
                        <a:rPr lang="vi-VN" sz="1400" dirty="0">
                          <a:latin typeface="Times New Roman" panose="02020603050405020304" pitchFamily="18" charset="0"/>
                          <a:cs typeface="Times New Roman" panose="02020603050405020304" pitchFamily="18" charset="0"/>
                        </a:rPr>
                        <a:t>ơ bản</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lvl="0" algn="ctr"/>
                      <a:endParaRPr lang="en-US" sz="1400" dirty="0">
                        <a:latin typeface="Times New Roman" panose="02020603050405020304" pitchFamily="18" charset="0"/>
                        <a:cs typeface="Times New Roman" panose="02020603050405020304" pitchFamily="18" charset="0"/>
                      </a:endParaRPr>
                    </a:p>
                    <a:p>
                      <a:pPr lvl="0" algn="ctr"/>
                      <a:r>
                        <a:rPr lang="en-US" sz="1400" dirty="0" err="1">
                          <a:latin typeface="Times New Roman" panose="02020603050405020304" pitchFamily="18" charset="0"/>
                          <a:cs typeface="Times New Roman" panose="02020603050405020304" pitchFamily="18" charset="0"/>
                        </a:rPr>
                        <a:t>Khá</a:t>
                      </a:r>
                      <a:endParaRPr lang="en-VN" sz="1400" dirty="0">
                        <a:latin typeface="Times New Roman" panose="02020603050405020304" pitchFamily="18" charset="0"/>
                        <a:cs typeface="Times New Roman" panose="02020603050405020304" pitchFamily="18" charset="0"/>
                      </a:endParaRPr>
                    </a:p>
                  </a:txBody>
                  <a:tcPr>
                    <a:solidFill>
                      <a:srgbClr val="00B050">
                        <a:alpha val="30596"/>
                      </a:srgbClr>
                    </a:solidFill>
                  </a:tcPr>
                </a:tc>
                <a:tc>
                  <a:txBody>
                    <a:bodyPr/>
                    <a:lstStyle/>
                    <a:p>
                      <a:pPr marL="342900" indent="-342900" algn="just">
                        <a:lnSpc>
                          <a:spcPct val="100000"/>
                        </a:lnSpc>
                        <a:buFontTx/>
                        <a:buChar char="-"/>
                      </a:pPr>
                      <a:r>
                        <a:rPr lang="vi-VN" sz="1400" kern="1200" dirty="0">
                          <a:solidFill>
                            <a:schemeClr val="dk1"/>
                          </a:solidFill>
                          <a:latin typeface="Times New Roman" panose="02020603050405020304" pitchFamily="18" charset="0"/>
                          <a:ea typeface="+mn-ea"/>
                          <a:cs typeface="Times New Roman" panose="02020603050405020304" pitchFamily="18" charset="0"/>
                        </a:rPr>
                        <a:t>Listening/Reading hiện ở mức TOEIC 700 nền tảng;</a:t>
                      </a:r>
                    </a:p>
                    <a:p>
                      <a:pPr marL="342900" indent="-342900" algn="just" defTabSz="914400" rtl="0" eaLnBrk="1" latinLnBrk="0" hangingPunct="1">
                        <a:lnSpc>
                          <a:spcPct val="100000"/>
                        </a:lnSpc>
                        <a:buFontTx/>
                        <a:buChar char="-"/>
                      </a:pPr>
                      <a:r>
                        <a:rPr lang="vi-VN" sz="1400" kern="1200" dirty="0">
                          <a:solidFill>
                            <a:schemeClr val="dk1"/>
                          </a:solidFill>
                          <a:latin typeface="Times New Roman" panose="02020603050405020304" pitchFamily="18" charset="0"/>
                          <a:ea typeface="+mn-ea"/>
                          <a:cs typeface="Times New Roman" panose="02020603050405020304" pitchFamily="18" charset="0"/>
                        </a:rPr>
                        <a:t>Tăng cường kỹ năng Speaking/Writing;</a:t>
                      </a:r>
                    </a:p>
                    <a:p>
                      <a:pPr marL="342900" indent="-342900" algn="just" defTabSz="914400" rtl="0" eaLnBrk="1" latinLnBrk="0" hangingPunct="1">
                        <a:lnSpc>
                          <a:spcPct val="100000"/>
                        </a:lnSpc>
                        <a:buFontTx/>
                        <a:buChar char="-"/>
                      </a:pPr>
                      <a:r>
                        <a:rPr lang="vi-VN" sz="1400" kern="1200" dirty="0">
                          <a:solidFill>
                            <a:schemeClr val="dk1"/>
                          </a:solidFill>
                          <a:latin typeface="Times New Roman" panose="02020603050405020304" pitchFamily="18" charset="0"/>
                          <a:ea typeface="+mn-ea"/>
                          <a:cs typeface="Times New Roman" panose="02020603050405020304" pitchFamily="18" charset="0"/>
                        </a:rPr>
                        <a:t>Mở rộng từ vựng chuyên ngành trong các lĩnh vực chuyên môn sâu.</a:t>
                      </a:r>
                    </a:p>
                  </a:txBody>
                  <a:tcPr>
                    <a:solidFill>
                      <a:srgbClr val="00B050">
                        <a:alpha val="30596"/>
                      </a:srgbClr>
                    </a:solidFill>
                  </a:tcPr>
                </a:tc>
                <a:extLst>
                  <a:ext uri="{0D108BD9-81ED-4DB2-BD59-A6C34878D82A}">
                    <a16:rowId xmlns:a16="http://schemas.microsoft.com/office/drawing/2014/main" val="452301003"/>
                  </a:ext>
                </a:extLst>
              </a:tr>
            </a:tbl>
          </a:graphicData>
        </a:graphic>
      </p:graphicFrame>
    </p:spTree>
    <p:extLst>
      <p:ext uri="{BB962C8B-B14F-4D97-AF65-F5344CB8AC3E}">
        <p14:creationId xmlns:p14="http://schemas.microsoft.com/office/powerpoint/2010/main" val="1077477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77B1F217-3FD4-2F18-8443-9560CF2AF1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16" name="think-cell data - do not delete" hidden="1">
                        <a:extLst>
                          <a:ext uri="{FF2B5EF4-FFF2-40B4-BE49-F238E27FC236}">
                            <a16:creationId xmlns:a16="http://schemas.microsoft.com/office/drawing/2014/main" id="{77B1F217-3FD4-2F18-8443-9560CF2AF11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TextBox 21"/>
          <p:cNvSpPr txBox="1"/>
          <p:nvPr/>
        </p:nvSpPr>
        <p:spPr>
          <a:xfrm>
            <a:off x="-152400" y="-71767"/>
            <a:ext cx="4869991" cy="503567"/>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AutoShape 1">
            <a:extLst>
              <a:ext uri="{FF2B5EF4-FFF2-40B4-BE49-F238E27FC236}">
                <a16:creationId xmlns:a16="http://schemas.microsoft.com/office/drawing/2014/main" id="{FD8AF0CA-CDEA-899B-5820-CC8F32E200C3}"/>
              </a:ext>
            </a:extLst>
          </p:cNvPr>
          <p:cNvSpPr>
            <a:spLocks/>
          </p:cNvSpPr>
          <p:nvPr/>
        </p:nvSpPr>
        <p:spPr bwMode="auto">
          <a:xfrm>
            <a:off x="826294" y="16410"/>
            <a:ext cx="11365706" cy="5935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GIẢI PHÁP</a:t>
            </a:r>
            <a:endParaRPr kumimoji="0" lang="es-ES" sz="2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4" name="Slide Number Placeholder 5">
            <a:extLst>
              <a:ext uri="{FF2B5EF4-FFF2-40B4-BE49-F238E27FC236}">
                <a16:creationId xmlns:a16="http://schemas.microsoft.com/office/drawing/2014/main" id="{8021663B-8D7D-E2FB-7D56-4487F5D0961A}"/>
              </a:ext>
            </a:extLst>
          </p:cNvPr>
          <p:cNvSpPr txBox="1">
            <a:spLocks/>
          </p:cNvSpPr>
          <p:nvPr/>
        </p:nvSpPr>
        <p:spPr>
          <a:xfrm>
            <a:off x="11582400" y="6611187"/>
            <a:ext cx="609600" cy="213360"/>
          </a:xfrm>
          <a:prstGeom prst="rect">
            <a:avLst/>
          </a:prstGeom>
        </p:spPr>
        <p:txBody>
          <a:bodyPr>
            <a:no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0CFDCA-984A-49CD-9ECB-CD1CAA1CFBB4}" type="slidenum">
              <a:rPr kumimoji="0" lang="en-US" sz="1000" b="0" i="0" u="none" strike="noStrike" kern="1200" cap="none" spc="0" normalizeH="0" baseline="0" noProof="0" smtClean="0">
                <a:ln>
                  <a:noFill/>
                </a:ln>
                <a:solidFill>
                  <a:srgbClr val="000099"/>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000" b="0" i="0" u="none" strike="noStrike" kern="1200" cap="none" spc="0" normalizeH="0" baseline="0" noProof="0">
              <a:ln>
                <a:noFill/>
              </a:ln>
              <a:solidFill>
                <a:srgbClr val="000099"/>
              </a:solidFill>
              <a:effectLst/>
              <a:uLnTx/>
              <a:uFillTx/>
              <a:latin typeface="Arial" charset="0"/>
              <a:ea typeface="+mn-ea"/>
              <a:cs typeface="Arial" charset="0"/>
            </a:endParaRPr>
          </a:p>
        </p:txBody>
      </p:sp>
      <p:pic>
        <p:nvPicPr>
          <p:cNvPr id="9" name="Picture 8" descr="A green and blue logo&#10;&#10;AI-generated content may be incorrect.">
            <a:extLst>
              <a:ext uri="{FF2B5EF4-FFF2-40B4-BE49-F238E27FC236}">
                <a16:creationId xmlns:a16="http://schemas.microsoft.com/office/drawing/2014/main" id="{CDDF62F1-5513-4E90-2162-B2AFAE22CB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918" y="102212"/>
            <a:ext cx="508850" cy="520753"/>
          </a:xfrm>
          <a:prstGeom prst="rect">
            <a:avLst/>
          </a:prstGeom>
        </p:spPr>
      </p:pic>
      <p:sp>
        <p:nvSpPr>
          <p:cNvPr id="3" name="Content Placeholder 2">
            <a:extLst>
              <a:ext uri="{FF2B5EF4-FFF2-40B4-BE49-F238E27FC236}">
                <a16:creationId xmlns:a16="http://schemas.microsoft.com/office/drawing/2014/main" id="{31751939-E128-2237-B72A-D55D34C13BA6}"/>
              </a:ext>
            </a:extLst>
          </p:cNvPr>
          <p:cNvSpPr txBox="1">
            <a:spLocks/>
          </p:cNvSpPr>
          <p:nvPr/>
        </p:nvSpPr>
        <p:spPr>
          <a:xfrm>
            <a:off x="0" y="698111"/>
            <a:ext cx="5463164" cy="6088277"/>
          </a:xfrm>
          <a:prstGeom prst="rect">
            <a:avLst/>
          </a:prstGeom>
          <a:ln>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US" sz="1300" b="1" u="sng" dirty="0">
                <a:solidFill>
                  <a:srgbClr val="000000"/>
                </a:solidFill>
                <a:latin typeface="Times New Roman" panose="02020603050405020304" pitchFamily="18" charset="0"/>
                <a:cs typeface="Times New Roman" panose="02020603050405020304" pitchFamily="18" charset="0"/>
              </a:rPr>
              <a:t>A. </a:t>
            </a:r>
            <a:r>
              <a:rPr lang="en-US" sz="1300" b="1" u="sng" dirty="0" err="1">
                <a:solidFill>
                  <a:srgbClr val="000000"/>
                </a:solidFill>
                <a:latin typeface="Times New Roman" panose="02020603050405020304" pitchFamily="18" charset="0"/>
                <a:cs typeface="Times New Roman" panose="02020603050405020304" pitchFamily="18" charset="0"/>
              </a:rPr>
              <a:t>Giải</a:t>
            </a:r>
            <a:r>
              <a:rPr lang="en-US" sz="1300" b="1" u="sng" dirty="0">
                <a:solidFill>
                  <a:srgbClr val="000000"/>
                </a:solidFill>
                <a:latin typeface="Times New Roman" panose="02020603050405020304" pitchFamily="18" charset="0"/>
                <a:cs typeface="Times New Roman" panose="02020603050405020304" pitchFamily="18" charset="0"/>
              </a:rPr>
              <a:t> </a:t>
            </a:r>
            <a:r>
              <a:rPr lang="en-US" sz="1300" b="1" u="sng" dirty="0" err="1">
                <a:solidFill>
                  <a:srgbClr val="000000"/>
                </a:solidFill>
                <a:latin typeface="Times New Roman" panose="02020603050405020304" pitchFamily="18" charset="0"/>
                <a:cs typeface="Times New Roman" panose="02020603050405020304" pitchFamily="18" charset="0"/>
              </a:rPr>
              <a:t>pháp</a:t>
            </a:r>
            <a:r>
              <a:rPr lang="en-US" sz="1300" b="1" u="sng" dirty="0">
                <a:solidFill>
                  <a:srgbClr val="000000"/>
                </a:solidFill>
                <a:latin typeface="Times New Roman" panose="02020603050405020304" pitchFamily="18" charset="0"/>
                <a:cs typeface="Times New Roman" panose="02020603050405020304" pitchFamily="18" charset="0"/>
              </a:rPr>
              <a:t> </a:t>
            </a:r>
            <a:r>
              <a:rPr lang="en-US" sz="1300" b="1" u="sng" dirty="0" err="1">
                <a:solidFill>
                  <a:srgbClr val="000000"/>
                </a:solidFill>
                <a:latin typeface="Times New Roman" panose="02020603050405020304" pitchFamily="18" charset="0"/>
                <a:cs typeface="Times New Roman" panose="02020603050405020304" pitchFamily="18" charset="0"/>
              </a:rPr>
              <a:t>từ</a:t>
            </a:r>
            <a:r>
              <a:rPr lang="en-US" sz="1300" b="1" u="sng" dirty="0">
                <a:solidFill>
                  <a:srgbClr val="000000"/>
                </a:solidFill>
                <a:latin typeface="Times New Roman" panose="02020603050405020304" pitchFamily="18" charset="0"/>
                <a:cs typeface="Times New Roman" panose="02020603050405020304" pitchFamily="18" charset="0"/>
              </a:rPr>
              <a:t> </a:t>
            </a:r>
            <a:r>
              <a:rPr lang="en-US" sz="1300" b="1" u="sng" dirty="0" err="1">
                <a:solidFill>
                  <a:srgbClr val="000000"/>
                </a:solidFill>
                <a:latin typeface="Times New Roman" panose="02020603050405020304" pitchFamily="18" charset="0"/>
                <a:cs typeface="Times New Roman" panose="02020603050405020304" pitchFamily="18" charset="0"/>
              </a:rPr>
              <a:t>phía</a:t>
            </a:r>
            <a:r>
              <a:rPr lang="en-US" sz="1300" b="1" u="sng" dirty="0">
                <a:solidFill>
                  <a:srgbClr val="000000"/>
                </a:solidFill>
                <a:latin typeface="Times New Roman" panose="02020603050405020304" pitchFamily="18" charset="0"/>
                <a:cs typeface="Times New Roman" panose="02020603050405020304" pitchFamily="18" charset="0"/>
              </a:rPr>
              <a:t> </a:t>
            </a:r>
            <a:r>
              <a:rPr lang="en-US" sz="1300" b="1" u="sng" dirty="0" err="1">
                <a:solidFill>
                  <a:srgbClr val="000000"/>
                </a:solidFill>
                <a:latin typeface="Times New Roman" panose="02020603050405020304" pitchFamily="18" charset="0"/>
                <a:cs typeface="Times New Roman" panose="02020603050405020304" pitchFamily="18" charset="0"/>
              </a:rPr>
              <a:t>bản</a:t>
            </a:r>
            <a:r>
              <a:rPr lang="en-US" sz="1300" b="1" u="sng" dirty="0">
                <a:solidFill>
                  <a:srgbClr val="000000"/>
                </a:solidFill>
                <a:latin typeface="Times New Roman" panose="02020603050405020304" pitchFamily="18" charset="0"/>
                <a:cs typeface="Times New Roman" panose="02020603050405020304" pitchFamily="18" charset="0"/>
              </a:rPr>
              <a:t> </a:t>
            </a:r>
            <a:r>
              <a:rPr lang="en-US" sz="1300" b="1" u="sng" dirty="0" err="1">
                <a:solidFill>
                  <a:srgbClr val="000000"/>
                </a:solidFill>
                <a:latin typeface="Times New Roman" panose="02020603050405020304" pitchFamily="18" charset="0"/>
                <a:cs typeface="Times New Roman" panose="02020603050405020304" pitchFamily="18" charset="0"/>
              </a:rPr>
              <a:t>thân</a:t>
            </a:r>
            <a:endParaRPr lang="en-US" sz="1300" b="1" u="sng" dirty="0">
              <a:solidFill>
                <a:srgbClr val="000000"/>
              </a:solidFill>
              <a:latin typeface="Times New Roman" panose="02020603050405020304" pitchFamily="18" charset="0"/>
              <a:cs typeface="Times New Roman" panose="02020603050405020304" pitchFamily="18" charset="0"/>
            </a:endParaRPr>
          </a:p>
          <a:p>
            <a:pPr algn="just">
              <a:lnSpc>
                <a:spcPct val="100000"/>
              </a:lnSpc>
              <a:buFont typeface="+mj-lt"/>
              <a:buAutoNum type="arabicPeriod"/>
            </a:pPr>
            <a:r>
              <a:rPr lang="en-US" sz="1300" b="1" dirty="0" err="1">
                <a:solidFill>
                  <a:srgbClr val="000000"/>
                </a:solidFill>
                <a:latin typeface="Times New Roman" panose="02020603050405020304" pitchFamily="18" charset="0"/>
                <a:cs typeface="Times New Roman" panose="02020603050405020304" pitchFamily="18" charset="0"/>
              </a:rPr>
              <a:t>Nâng</a:t>
            </a:r>
            <a:r>
              <a:rPr lang="en-US" sz="1300" b="1" dirty="0">
                <a:solidFill>
                  <a:srgbClr val="000000"/>
                </a:solidFill>
                <a:latin typeface="Times New Roman" panose="02020603050405020304" pitchFamily="18" charset="0"/>
                <a:cs typeface="Times New Roman" panose="02020603050405020304" pitchFamily="18" charset="0"/>
              </a:rPr>
              <a:t> </a:t>
            </a:r>
            <a:r>
              <a:rPr lang="en-US" sz="1300" b="1" dirty="0" err="1">
                <a:solidFill>
                  <a:srgbClr val="000000"/>
                </a:solidFill>
                <a:latin typeface="Times New Roman" panose="02020603050405020304" pitchFamily="18" charset="0"/>
                <a:cs typeface="Times New Roman" panose="02020603050405020304" pitchFamily="18" charset="0"/>
              </a:rPr>
              <a:t>cao</a:t>
            </a:r>
            <a:r>
              <a:rPr lang="en-US" sz="1300" b="1" dirty="0">
                <a:solidFill>
                  <a:srgbClr val="000000"/>
                </a:solidFill>
                <a:latin typeface="Times New Roman" panose="02020603050405020304" pitchFamily="18" charset="0"/>
                <a:cs typeface="Times New Roman" panose="02020603050405020304" pitchFamily="18" charset="0"/>
              </a:rPr>
              <a:t> </a:t>
            </a:r>
            <a:r>
              <a:rPr lang="en-US" sz="1300" b="1" dirty="0" err="1">
                <a:solidFill>
                  <a:srgbClr val="000000"/>
                </a:solidFill>
                <a:latin typeface="Times New Roman" panose="02020603050405020304" pitchFamily="18" charset="0"/>
                <a:cs typeface="Times New Roman" panose="02020603050405020304" pitchFamily="18" charset="0"/>
              </a:rPr>
              <a:t>năng</a:t>
            </a:r>
            <a:r>
              <a:rPr lang="en-US" sz="1300" b="1" dirty="0">
                <a:solidFill>
                  <a:srgbClr val="000000"/>
                </a:solidFill>
                <a:latin typeface="Times New Roman" panose="02020603050405020304" pitchFamily="18" charset="0"/>
                <a:cs typeface="Times New Roman" panose="02020603050405020304" pitchFamily="18" charset="0"/>
              </a:rPr>
              <a:t> </a:t>
            </a:r>
            <a:r>
              <a:rPr lang="en-US" sz="1300" b="1" dirty="0" err="1">
                <a:solidFill>
                  <a:srgbClr val="000000"/>
                </a:solidFill>
                <a:latin typeface="Times New Roman" panose="02020603050405020304" pitchFamily="18" charset="0"/>
                <a:cs typeface="Times New Roman" panose="02020603050405020304" pitchFamily="18" charset="0"/>
              </a:rPr>
              <a:t>lự</a:t>
            </a:r>
            <a:r>
              <a:rPr lang="vi-VN" sz="1300" b="1" dirty="0">
                <a:solidFill>
                  <a:srgbClr val="000000"/>
                </a:solidFill>
                <a:latin typeface="Times New Roman" panose="02020603050405020304" pitchFamily="18" charset="0"/>
                <a:cs typeface="Times New Roman" panose="02020603050405020304" pitchFamily="18" charset="0"/>
              </a:rPr>
              <a:t>c</a:t>
            </a:r>
            <a:r>
              <a:rPr lang="en-US" sz="1300" b="1" dirty="0">
                <a:solidFill>
                  <a:srgbClr val="000000"/>
                </a:solidFill>
                <a:latin typeface="Times New Roman" panose="02020603050405020304" pitchFamily="18" charset="0"/>
                <a:cs typeface="Times New Roman" panose="02020603050405020304" pitchFamily="18" charset="0"/>
              </a:rPr>
              <a:t> </a:t>
            </a:r>
            <a:r>
              <a:rPr lang="en-US" sz="1300" b="1" dirty="0" err="1">
                <a:solidFill>
                  <a:srgbClr val="000000"/>
                </a:solidFill>
                <a:latin typeface="Times New Roman" panose="02020603050405020304" pitchFamily="18" charset="0"/>
                <a:cs typeface="Times New Roman" panose="02020603050405020304" pitchFamily="18" charset="0"/>
              </a:rPr>
              <a:t>kỹ</a:t>
            </a:r>
            <a:r>
              <a:rPr lang="en-US" sz="1300" b="1" dirty="0">
                <a:solidFill>
                  <a:srgbClr val="000000"/>
                </a:solidFill>
                <a:latin typeface="Times New Roman" panose="02020603050405020304" pitchFamily="18" charset="0"/>
                <a:cs typeface="Times New Roman" panose="02020603050405020304" pitchFamily="18" charset="0"/>
              </a:rPr>
              <a:t> </a:t>
            </a:r>
            <a:r>
              <a:rPr lang="en-US" sz="1300" b="1" dirty="0" err="1">
                <a:solidFill>
                  <a:srgbClr val="000000"/>
                </a:solidFill>
                <a:latin typeface="Times New Roman" panose="02020603050405020304" pitchFamily="18" charset="0"/>
                <a:cs typeface="Times New Roman" panose="02020603050405020304" pitchFamily="18" charset="0"/>
              </a:rPr>
              <a:t>thuật</a:t>
            </a:r>
            <a:r>
              <a:rPr lang="en-US" sz="1300" b="1" dirty="0">
                <a:solidFill>
                  <a:srgbClr val="000000"/>
                </a:solidFill>
                <a:latin typeface="Times New Roman" panose="02020603050405020304" pitchFamily="18" charset="0"/>
                <a:cs typeface="Times New Roman" panose="02020603050405020304" pitchFamily="18" charset="0"/>
              </a:rPr>
              <a:t> </a:t>
            </a:r>
            <a:r>
              <a:rPr lang="en-US" sz="1300" b="1" dirty="0" err="1">
                <a:solidFill>
                  <a:srgbClr val="000000"/>
                </a:solidFill>
                <a:latin typeface="Times New Roman" panose="02020603050405020304" pitchFamily="18" charset="0"/>
                <a:cs typeface="Times New Roman" panose="02020603050405020304" pitchFamily="18" charset="0"/>
              </a:rPr>
              <a:t>chuyên</a:t>
            </a:r>
            <a:r>
              <a:rPr lang="en-US" sz="1300" b="1" dirty="0">
                <a:solidFill>
                  <a:srgbClr val="000000"/>
                </a:solidFill>
                <a:latin typeface="Times New Roman" panose="02020603050405020304" pitchFamily="18" charset="0"/>
                <a:cs typeface="Times New Roman" panose="02020603050405020304" pitchFamily="18" charset="0"/>
              </a:rPr>
              <a:t> </a:t>
            </a:r>
            <a:r>
              <a:rPr lang="en-US" sz="1300" b="1" dirty="0" err="1">
                <a:solidFill>
                  <a:srgbClr val="000000"/>
                </a:solidFill>
                <a:latin typeface="Times New Roman" panose="02020603050405020304" pitchFamily="18" charset="0"/>
                <a:cs typeface="Times New Roman" panose="02020603050405020304" pitchFamily="18" charset="0"/>
              </a:rPr>
              <a:t>môn</a:t>
            </a:r>
            <a:r>
              <a:rPr lang="en-US" sz="1300" b="1" dirty="0">
                <a:solidFill>
                  <a:srgbClr val="000000"/>
                </a:solidFill>
                <a:latin typeface="Times New Roman" panose="02020603050405020304" pitchFamily="18" charset="0"/>
                <a:cs typeface="Times New Roman" panose="02020603050405020304" pitchFamily="18" charset="0"/>
              </a:rPr>
              <a:t>:</a:t>
            </a:r>
          </a:p>
          <a:p>
            <a:pPr marL="228600" lvl="1" algn="just">
              <a:lnSpc>
                <a:spcPct val="100000"/>
              </a:lnSpc>
              <a:spcBef>
                <a:spcPts val="1000"/>
              </a:spcBef>
            </a:pPr>
            <a:r>
              <a:rPr lang="en-US" sz="1300" dirty="0" err="1">
                <a:solidFill>
                  <a:srgbClr val="000000"/>
                </a:solidFill>
                <a:latin typeface="Times New Roman" panose="02020603050405020304" pitchFamily="18" charset="0"/>
                <a:cs typeface="Times New Roman" panose="02020603050405020304" pitchFamily="18" charset="0"/>
              </a:rPr>
              <a:t>Học</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chuyên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sâu</a:t>
            </a:r>
            <a:r>
              <a:rPr lang="en-US" sz="1300" dirty="0">
                <a:solidFill>
                  <a:srgbClr val="000000"/>
                </a:solidFill>
                <a:latin typeface="Times New Roman" panose="02020603050405020304" pitchFamily="18" charset="0"/>
                <a:cs typeface="Times New Roman" panose="02020603050405020304" pitchFamily="18" charset="0"/>
              </a:rPr>
              <a:t> </a:t>
            </a:r>
            <a:r>
              <a:rPr lang="vi-VN" sz="1300" dirty="0">
                <a:latin typeface="Times New Roman" panose="02020603050405020304" pitchFamily="18" charset="0"/>
                <a:cs typeface="Times New Roman" panose="02020603050405020304" pitchFamily="18" charset="0"/>
              </a:rPr>
              <a:t>seismic </a:t>
            </a:r>
            <a:r>
              <a:rPr lang="en-US" sz="1300" dirty="0">
                <a:solidFill>
                  <a:srgbClr val="000000"/>
                </a:solidFill>
                <a:latin typeface="Times New Roman" panose="02020603050405020304" pitchFamily="18" charset="0"/>
                <a:cs typeface="Times New Roman" panose="02020603050405020304" pitchFamily="18" charset="0"/>
              </a:rPr>
              <a:t>sequence </a:t>
            </a:r>
            <a:r>
              <a:rPr lang="vi-VN" sz="1300" dirty="0">
                <a:solidFill>
                  <a:srgbClr val="000000"/>
                </a:solidFill>
                <a:latin typeface="Times New Roman" panose="02020603050405020304" pitchFamily="18" charset="0"/>
                <a:cs typeface="Times New Roman" panose="02020603050405020304" pitchFamily="18" charset="0"/>
              </a:rPr>
              <a:t>strat</a:t>
            </a:r>
            <a:r>
              <a:rPr lang="en-US" sz="1300" dirty="0" err="1">
                <a:solidFill>
                  <a:srgbClr val="000000"/>
                </a:solidFill>
                <a:latin typeface="Times New Roman" panose="02020603050405020304" pitchFamily="18" charset="0"/>
                <a:cs typeface="Times New Roman" panose="02020603050405020304" pitchFamily="18" charset="0"/>
              </a:rPr>
              <a:t>i</a:t>
            </a:r>
            <a:r>
              <a:rPr lang="vi-VN" sz="1300" dirty="0">
                <a:solidFill>
                  <a:srgbClr val="000000"/>
                </a:solidFill>
                <a:latin typeface="Times New Roman" panose="02020603050405020304" pitchFamily="18" charset="0"/>
                <a:cs typeface="Times New Roman" panose="02020603050405020304" pitchFamily="18" charset="0"/>
              </a:rPr>
              <a:t>graphy</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nhận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dạng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kênh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quạt</a:t>
            </a:r>
            <a:r>
              <a:rPr lang="en-US" sz="1300" dirty="0">
                <a:solidFill>
                  <a:srgbClr val="000000"/>
                </a:solidFill>
                <a:latin typeface="Times New Roman" panose="02020603050405020304" pitchFamily="18" charset="0"/>
                <a:cs typeface="Times New Roman" panose="02020603050405020304" pitchFamily="18" charset="0"/>
              </a:rPr>
              <a:t>, onlap, do</a:t>
            </a:r>
            <a:r>
              <a:rPr lang="vi-VN" sz="1300" dirty="0">
                <a:solidFill>
                  <a:srgbClr val="000000"/>
                </a:solidFill>
                <a:latin typeface="Times New Roman" panose="02020603050405020304" pitchFamily="18" charset="0"/>
                <a:cs typeface="Times New Roman" panose="02020603050405020304" pitchFamily="18" charset="0"/>
              </a:rPr>
              <a:t>wnlap,</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quá</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trình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trầm</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tích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môi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trường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trầm</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tích</a:t>
            </a:r>
            <a:r>
              <a:rPr lang="en-US" sz="1300" dirty="0">
                <a:solidFill>
                  <a:srgbClr val="000000"/>
                </a:solidFill>
                <a:latin typeface="Times New Roman" panose="02020603050405020304" pitchFamily="18" charset="0"/>
                <a:cs typeface="Times New Roman" panose="02020603050405020304" pitchFamily="18" charset="0"/>
              </a:rPr>
              <a:t>, Sequence stratigraphy </a:t>
            </a:r>
            <a:r>
              <a:rPr lang="en-US" sz="1300" dirty="0" err="1">
                <a:solidFill>
                  <a:srgbClr val="000000"/>
                </a:solidFill>
                <a:latin typeface="Times New Roman" panose="02020603050405020304" pitchFamily="18" charset="0"/>
                <a:cs typeface="Times New Roman" panose="02020603050405020304" pitchFamily="18" charset="0"/>
              </a:rPr>
              <a:t>cho</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cả</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trầm</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tích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silice</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và</a:t>
            </a:r>
            <a:r>
              <a:rPr lang="en-US" sz="1300" dirty="0">
                <a:solidFill>
                  <a:srgbClr val="000000"/>
                </a:solidFill>
                <a:latin typeface="Times New Roman" panose="02020603050405020304" pitchFamily="18" charset="0"/>
                <a:cs typeface="Times New Roman" panose="02020603050405020304" pitchFamily="18" charset="0"/>
              </a:rPr>
              <a:t> carbonates.</a:t>
            </a:r>
          </a:p>
          <a:p>
            <a:pPr marL="228600" lvl="1" algn="just">
              <a:lnSpc>
                <a:spcPct val="100000"/>
              </a:lnSpc>
              <a:spcBef>
                <a:spcPts val="1000"/>
              </a:spcBef>
            </a:pPr>
            <a:r>
              <a:rPr lang="en-US" sz="1300" dirty="0" err="1">
                <a:solidFill>
                  <a:srgbClr val="000000"/>
                </a:solidFill>
                <a:latin typeface="Times New Roman" panose="02020603050405020304" pitchFamily="18" charset="0"/>
                <a:cs typeface="Times New Roman" panose="02020603050405020304" pitchFamily="18" charset="0"/>
              </a:rPr>
              <a:t>Bồi</a:t>
            </a:r>
            <a:r>
              <a:rPr lang="en-US" sz="1300" dirty="0">
                <a:solidFill>
                  <a:srgbClr val="000000"/>
                </a:solidFill>
                <a:latin typeface="Times New Roman" panose="02020603050405020304" pitchFamily="18" charset="0"/>
                <a:cs typeface="Times New Roman" panose="02020603050405020304" pitchFamily="18" charset="0"/>
              </a:rPr>
              <a:t> d</a:t>
            </a:r>
            <a:r>
              <a:rPr lang="vi-VN" sz="1300" dirty="0">
                <a:solidFill>
                  <a:srgbClr val="000000"/>
                </a:solidFill>
                <a:latin typeface="Times New Roman" panose="02020603050405020304" pitchFamily="18" charset="0"/>
                <a:cs typeface="Times New Roman" panose="02020603050405020304" pitchFamily="18" charset="0"/>
              </a:rPr>
              <a:t>ưỡng nền tảng </a:t>
            </a:r>
            <a:r>
              <a:rPr lang="en-US" sz="1300" dirty="0">
                <a:solidFill>
                  <a:srgbClr val="000000"/>
                </a:solidFill>
                <a:latin typeface="Times New Roman" panose="02020603050405020304" pitchFamily="18" charset="0"/>
                <a:cs typeface="Times New Roman" panose="02020603050405020304" pitchFamily="18" charset="0"/>
              </a:rPr>
              <a:t>AVO, QI </a:t>
            </a:r>
            <a:r>
              <a:rPr lang="en-US" sz="1300" dirty="0" err="1">
                <a:solidFill>
                  <a:srgbClr val="000000"/>
                </a:solidFill>
                <a:latin typeface="Times New Roman" panose="02020603050405020304" pitchFamily="18" charset="0"/>
                <a:cs typeface="Times New Roman" panose="02020603050405020304" pitchFamily="18" charset="0"/>
              </a:rPr>
              <a:t>hỗ</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trợ</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phân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tích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địa</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tầng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và</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đánh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giá</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chất</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lựu</a:t>
            </a:r>
            <a:endParaRPr lang="en-US" sz="1300" dirty="0">
              <a:solidFill>
                <a:srgbClr val="000000"/>
              </a:solidFill>
              <a:latin typeface="Times New Roman" panose="02020603050405020304" pitchFamily="18" charset="0"/>
              <a:cs typeface="Times New Roman" panose="02020603050405020304" pitchFamily="18" charset="0"/>
            </a:endParaRPr>
          </a:p>
          <a:p>
            <a:pPr marL="228600" lvl="1" algn="just">
              <a:lnSpc>
                <a:spcPct val="100000"/>
              </a:lnSpc>
              <a:spcBef>
                <a:spcPts val="1000"/>
              </a:spcBef>
            </a:pPr>
            <a:r>
              <a:rPr lang="en-US" sz="1300" dirty="0" err="1">
                <a:solidFill>
                  <a:srgbClr val="000000"/>
                </a:solidFill>
                <a:latin typeface="Times New Roman" panose="02020603050405020304" pitchFamily="18" charset="0"/>
                <a:cs typeface="Times New Roman" panose="02020603050405020304" pitchFamily="18" charset="0"/>
              </a:rPr>
              <a:t>Các</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khóa</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học</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đã</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đăng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ký</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trong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năm</a:t>
            </a:r>
            <a:r>
              <a:rPr lang="en-US" sz="1300" dirty="0">
                <a:solidFill>
                  <a:srgbClr val="000000"/>
                </a:solidFill>
                <a:latin typeface="Times New Roman" panose="02020603050405020304" pitchFamily="18" charset="0"/>
                <a:cs typeface="Times New Roman" panose="02020603050405020304" pitchFamily="18" charset="0"/>
              </a:rPr>
              <a:t> 2026: “</a:t>
            </a:r>
            <a:r>
              <a:rPr lang="vi-VN" sz="1300" dirty="0">
                <a:solidFill>
                  <a:srgbClr val="000000"/>
                </a:solidFill>
                <a:latin typeface="Times New Roman" panose="02020603050405020304" pitchFamily="18" charset="0"/>
                <a:cs typeface="Times New Roman" panose="02020603050405020304" pitchFamily="18" charset="0"/>
              </a:rPr>
              <a:t>Địa tầng phân tập trầm tích ứng dụng trong phân tích tướng - môi trường trầm tích”; “Phân tích Play concept, đánh giá rủi ro”; “Machine Learning trong Petrel”; “Xây dựng Mô hình địa chất 3D”, “Thu nổ, xử lý tài liệu địa chấn.”</a:t>
            </a:r>
            <a:endParaRPr lang="en-US" sz="1300" dirty="0">
              <a:solidFill>
                <a:srgbClr val="000000"/>
              </a:solidFill>
              <a:latin typeface="Times New Roman" panose="02020603050405020304" pitchFamily="18" charset="0"/>
              <a:cs typeface="Times New Roman" panose="02020603050405020304" pitchFamily="18" charset="0"/>
            </a:endParaRPr>
          </a:p>
          <a:p>
            <a:pPr algn="just">
              <a:lnSpc>
                <a:spcPct val="100000"/>
              </a:lnSpc>
              <a:buFont typeface="+mj-lt"/>
              <a:buAutoNum type="arabicPeriod"/>
            </a:pPr>
            <a:r>
              <a:rPr lang="en-US" sz="1300" b="1" dirty="0" err="1">
                <a:solidFill>
                  <a:srgbClr val="000000"/>
                </a:solidFill>
                <a:latin typeface="Times New Roman" panose="02020603050405020304" pitchFamily="18" charset="0"/>
                <a:cs typeface="Times New Roman" panose="02020603050405020304" pitchFamily="18" charset="0"/>
              </a:rPr>
              <a:t>Kỹ</a:t>
            </a:r>
            <a:r>
              <a:rPr lang="en-US" sz="1300" b="1" dirty="0">
                <a:solidFill>
                  <a:srgbClr val="000000"/>
                </a:solidFill>
                <a:latin typeface="Times New Roman" panose="02020603050405020304" pitchFamily="18" charset="0"/>
                <a:cs typeface="Times New Roman" panose="02020603050405020304" pitchFamily="18" charset="0"/>
              </a:rPr>
              <a:t> </a:t>
            </a:r>
            <a:r>
              <a:rPr lang="en-US" sz="1300" b="1" dirty="0" err="1">
                <a:solidFill>
                  <a:srgbClr val="000000"/>
                </a:solidFill>
                <a:latin typeface="Times New Roman" panose="02020603050405020304" pitchFamily="18" charset="0"/>
                <a:cs typeface="Times New Roman" panose="02020603050405020304" pitchFamily="18" charset="0"/>
              </a:rPr>
              <a:t>năng</a:t>
            </a:r>
            <a:r>
              <a:rPr lang="en-US" sz="1300" b="1" dirty="0">
                <a:solidFill>
                  <a:srgbClr val="000000"/>
                </a:solidFill>
                <a:latin typeface="Times New Roman" panose="02020603050405020304" pitchFamily="18" charset="0"/>
                <a:cs typeface="Times New Roman" panose="02020603050405020304" pitchFamily="18" charset="0"/>
              </a:rPr>
              <a:t> </a:t>
            </a:r>
            <a:r>
              <a:rPr lang="en-US" sz="1300" b="1" dirty="0" err="1">
                <a:solidFill>
                  <a:srgbClr val="000000"/>
                </a:solidFill>
                <a:latin typeface="Times New Roman" panose="02020603050405020304" pitchFamily="18" charset="0"/>
                <a:cs typeface="Times New Roman" panose="02020603050405020304" pitchFamily="18" charset="0"/>
              </a:rPr>
              <a:t>mềm</a:t>
            </a:r>
            <a:r>
              <a:rPr lang="en-US" sz="1300" b="1" dirty="0">
                <a:solidFill>
                  <a:srgbClr val="000000"/>
                </a:solidFill>
                <a:latin typeface="Times New Roman" panose="02020603050405020304" pitchFamily="18" charset="0"/>
                <a:cs typeface="Times New Roman" panose="02020603050405020304" pitchFamily="18" charset="0"/>
              </a:rPr>
              <a:t>:</a:t>
            </a:r>
            <a:endParaRPr lang="en-US" sz="1300" dirty="0">
              <a:solidFill>
                <a:srgbClr val="000000"/>
              </a:solidFill>
              <a:latin typeface="Times New Roman" panose="02020603050405020304" pitchFamily="18" charset="0"/>
              <a:cs typeface="Times New Roman" panose="02020603050405020304" pitchFamily="18" charset="0"/>
            </a:endParaRPr>
          </a:p>
          <a:p>
            <a:pPr marL="228600" lvl="1" algn="just">
              <a:lnSpc>
                <a:spcPct val="100000"/>
              </a:lnSpc>
              <a:spcBef>
                <a:spcPts val="1000"/>
              </a:spcBef>
            </a:pPr>
            <a:r>
              <a:rPr lang="en-US" sz="1300" dirty="0" err="1">
                <a:solidFill>
                  <a:srgbClr val="000000"/>
                </a:solidFill>
                <a:latin typeface="Times New Roman" panose="02020603050405020304" pitchFamily="18" charset="0"/>
                <a:cs typeface="Times New Roman" panose="02020603050405020304" pitchFamily="18" charset="0"/>
              </a:rPr>
              <a:t>Luyện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kỹ</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năng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trình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bày</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kỹ</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thuật</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phản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biện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kỹ</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thuật</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trong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các</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buổi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trình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bày</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nội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bô</a:t>
            </a:r>
            <a:r>
              <a:rPr lang="en-US" sz="1300" dirty="0">
                <a:solidFill>
                  <a:srgbClr val="000000"/>
                </a:solidFill>
                <a:latin typeface="Times New Roman" panose="02020603050405020304" pitchFamily="18" charset="0"/>
                <a:cs typeface="Times New Roman" panose="02020603050405020304" pitchFamily="18" charset="0"/>
              </a:rPr>
              <a:t>.</a:t>
            </a:r>
          </a:p>
          <a:p>
            <a:pPr marL="228600" lvl="1" algn="just">
              <a:lnSpc>
                <a:spcPct val="100000"/>
              </a:lnSpc>
              <a:spcBef>
                <a:spcPts val="1000"/>
              </a:spcBef>
            </a:pPr>
            <a:r>
              <a:rPr lang="en-US" sz="1300" dirty="0" err="1">
                <a:solidFill>
                  <a:srgbClr val="000000"/>
                </a:solidFill>
                <a:latin typeface="Times New Roman" panose="02020603050405020304" pitchFamily="18" charset="0"/>
                <a:cs typeface="Times New Roman" panose="02020603050405020304" pitchFamily="18" charset="0"/>
              </a:rPr>
              <a:t>Tự</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chủ</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động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xin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phản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hồi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từ</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đồng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nghiệp</a:t>
            </a:r>
            <a:r>
              <a:rPr lang="en-US" sz="1300" dirty="0">
                <a:solidFill>
                  <a:srgbClr val="000000"/>
                </a:solidFill>
                <a:latin typeface="Times New Roman" panose="02020603050405020304" pitchFamily="18" charset="0"/>
                <a:cs typeface="Times New Roman" panose="02020603050405020304" pitchFamily="18" charset="0"/>
              </a:rPr>
              <a:t>/mentor </a:t>
            </a:r>
            <a:r>
              <a:rPr lang="en-US" sz="1300" dirty="0" err="1">
                <a:solidFill>
                  <a:srgbClr val="000000"/>
                </a:solidFill>
                <a:latin typeface="Times New Roman" panose="02020603050405020304" pitchFamily="18" charset="0"/>
                <a:cs typeface="Times New Roman" panose="02020603050405020304" pitchFamily="18" charset="0"/>
              </a:rPr>
              <a:t>sau</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mỗi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bài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thuyết</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trình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để</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cải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thiện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liên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tuc</a:t>
            </a:r>
            <a:r>
              <a:rPr lang="en-US" sz="1300" dirty="0">
                <a:solidFill>
                  <a:srgbClr val="000000"/>
                </a:solidFill>
                <a:latin typeface="Times New Roman" panose="02020603050405020304" pitchFamily="18" charset="0"/>
                <a:cs typeface="Times New Roman" panose="02020603050405020304" pitchFamily="18" charset="0"/>
              </a:rPr>
              <a:t>.</a:t>
            </a:r>
          </a:p>
          <a:p>
            <a:pPr marL="228600" lvl="1" algn="just">
              <a:lnSpc>
                <a:spcPct val="100000"/>
              </a:lnSpc>
              <a:spcBef>
                <a:spcPts val="1000"/>
              </a:spcBef>
            </a:pPr>
            <a:r>
              <a:rPr lang="en-US" sz="1300" dirty="0" err="1">
                <a:solidFill>
                  <a:srgbClr val="000000"/>
                </a:solidFill>
                <a:latin typeface="Times New Roman" panose="02020603050405020304" pitchFamily="18" charset="0"/>
                <a:cs typeface="Times New Roman" panose="02020603050405020304" pitchFamily="18" charset="0"/>
              </a:rPr>
              <a:t>Tham</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gia</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các</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buổi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thảo</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luận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trình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bày</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để</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học</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hỏi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kỹ</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năng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trình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bày</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phản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biện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từ</a:t>
            </a:r>
            <a:r>
              <a:rPr lang="vi-VN" sz="1300" dirty="0">
                <a:solidFill>
                  <a:srgbClr val="000000"/>
                </a:solidFill>
                <a:latin typeface="Times New Roman" panose="02020603050405020304" pitchFamily="18" charset="0"/>
                <a:cs typeface="Times New Roman" panose="02020603050405020304" pitchFamily="18" charset="0"/>
              </a:rPr>
              <a:t> các lãnh đạo và anh/chị đồng nghiêp.</a:t>
            </a:r>
            <a:endParaRPr lang="en-US" sz="1300" dirty="0">
              <a:solidFill>
                <a:srgbClr val="000000"/>
              </a:solidFill>
              <a:latin typeface="Times New Roman" panose="02020603050405020304" pitchFamily="18" charset="0"/>
              <a:cs typeface="Times New Roman" panose="02020603050405020304" pitchFamily="18" charset="0"/>
            </a:endParaRPr>
          </a:p>
          <a:p>
            <a:pPr algn="just">
              <a:lnSpc>
                <a:spcPct val="100000"/>
              </a:lnSpc>
              <a:buFont typeface="+mj-lt"/>
              <a:buAutoNum type="arabicPeriod"/>
            </a:pPr>
            <a:r>
              <a:rPr lang="en-US" sz="1300" b="1" dirty="0" err="1">
                <a:solidFill>
                  <a:srgbClr val="000000"/>
                </a:solidFill>
                <a:latin typeface="Times New Roman" panose="02020603050405020304" pitchFamily="18" charset="0"/>
                <a:cs typeface="Times New Roman" panose="02020603050405020304" pitchFamily="18" charset="0"/>
              </a:rPr>
              <a:t>Kỹ</a:t>
            </a:r>
            <a:r>
              <a:rPr lang="en-US" sz="1300" b="1" dirty="0">
                <a:solidFill>
                  <a:srgbClr val="000000"/>
                </a:solidFill>
                <a:latin typeface="Times New Roman" panose="02020603050405020304" pitchFamily="18" charset="0"/>
                <a:cs typeface="Times New Roman" panose="02020603050405020304" pitchFamily="18" charset="0"/>
              </a:rPr>
              <a:t> </a:t>
            </a:r>
            <a:r>
              <a:rPr lang="en-US" sz="1300" b="1" dirty="0" err="1">
                <a:solidFill>
                  <a:srgbClr val="000000"/>
                </a:solidFill>
                <a:latin typeface="Times New Roman" panose="02020603050405020304" pitchFamily="18" charset="0"/>
                <a:cs typeface="Times New Roman" panose="02020603050405020304" pitchFamily="18" charset="0"/>
              </a:rPr>
              <a:t>năng</a:t>
            </a:r>
            <a:r>
              <a:rPr lang="en-US" sz="1300" b="1" dirty="0">
                <a:solidFill>
                  <a:srgbClr val="000000"/>
                </a:solidFill>
                <a:latin typeface="Times New Roman" panose="02020603050405020304" pitchFamily="18" charset="0"/>
                <a:cs typeface="Times New Roman" panose="02020603050405020304" pitchFamily="18" charset="0"/>
              </a:rPr>
              <a:t> Anh </a:t>
            </a:r>
            <a:r>
              <a:rPr lang="en-US" sz="1300" b="1" dirty="0" err="1">
                <a:solidFill>
                  <a:srgbClr val="000000"/>
                </a:solidFill>
                <a:latin typeface="Times New Roman" panose="02020603050405020304" pitchFamily="18" charset="0"/>
                <a:cs typeface="Times New Roman" panose="02020603050405020304" pitchFamily="18" charset="0"/>
              </a:rPr>
              <a:t>văn</a:t>
            </a:r>
            <a:r>
              <a:rPr lang="en-US" sz="1300" b="1" dirty="0">
                <a:solidFill>
                  <a:srgbClr val="000000"/>
                </a:solidFill>
                <a:latin typeface="Times New Roman" panose="02020603050405020304" pitchFamily="18" charset="0"/>
                <a:cs typeface="Times New Roman" panose="02020603050405020304" pitchFamily="18" charset="0"/>
              </a:rPr>
              <a:t>:</a:t>
            </a:r>
            <a:endParaRPr lang="en-US" sz="1300" dirty="0">
              <a:solidFill>
                <a:srgbClr val="000000"/>
              </a:solidFill>
              <a:latin typeface="Times New Roman" panose="02020603050405020304" pitchFamily="18" charset="0"/>
              <a:cs typeface="Times New Roman" panose="02020603050405020304" pitchFamily="18" charset="0"/>
            </a:endParaRPr>
          </a:p>
          <a:p>
            <a:pPr marL="228600" lvl="1" algn="just">
              <a:lnSpc>
                <a:spcPct val="100000"/>
              </a:lnSpc>
              <a:spcBef>
                <a:spcPts val="1000"/>
              </a:spcBef>
            </a:pPr>
            <a:r>
              <a:rPr lang="en-US" sz="1300" dirty="0" err="1">
                <a:solidFill>
                  <a:srgbClr val="000000"/>
                </a:solidFill>
                <a:latin typeface="Times New Roman" panose="02020603050405020304" pitchFamily="18" charset="0"/>
                <a:cs typeface="Times New Roman" panose="02020603050405020304" pitchFamily="18" charset="0"/>
              </a:rPr>
              <a:t>Luyện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tập</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hằng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ngày</a:t>
            </a:r>
            <a:r>
              <a:rPr lang="en-US" sz="1300" dirty="0">
                <a:solidFill>
                  <a:srgbClr val="000000"/>
                </a:solidFill>
                <a:latin typeface="Times New Roman" panose="02020603050405020304" pitchFamily="18" charset="0"/>
                <a:cs typeface="Times New Roman" panose="02020603050405020304" pitchFamily="18" charset="0"/>
              </a:rPr>
              <a:t>, h</a:t>
            </a:r>
            <a:r>
              <a:rPr lang="vi-VN" sz="1300" dirty="0">
                <a:solidFill>
                  <a:srgbClr val="000000"/>
                </a:solidFill>
                <a:latin typeface="Times New Roman" panose="02020603050405020304" pitchFamily="18" charset="0"/>
                <a:cs typeface="Times New Roman" panose="02020603050405020304" pitchFamily="18" charset="0"/>
              </a:rPr>
              <a:t>ướng tới mục tiêu Toeic 800</a:t>
            </a:r>
            <a:endParaRPr lang="en-US" sz="1300" dirty="0">
              <a:solidFill>
                <a:srgbClr val="000000"/>
              </a:solidFill>
              <a:latin typeface="Times New Roman" panose="02020603050405020304" pitchFamily="18" charset="0"/>
              <a:cs typeface="Times New Roman" panose="02020603050405020304" pitchFamily="18" charset="0"/>
            </a:endParaRPr>
          </a:p>
          <a:p>
            <a:pPr marL="228600" lvl="1" algn="just">
              <a:lnSpc>
                <a:spcPct val="100000"/>
              </a:lnSpc>
              <a:spcBef>
                <a:spcPts val="1000"/>
              </a:spcBef>
            </a:pPr>
            <a:r>
              <a:rPr lang="en-US" sz="1300" dirty="0" err="1">
                <a:solidFill>
                  <a:srgbClr val="000000"/>
                </a:solidFill>
                <a:latin typeface="Times New Roman" panose="02020603050405020304" pitchFamily="18" charset="0"/>
                <a:cs typeface="Times New Roman" panose="02020603050405020304" pitchFamily="18" charset="0"/>
              </a:rPr>
              <a:t>Học</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từ</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vựng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chuyên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ngành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theo</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chủ</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đề</a:t>
            </a:r>
            <a:r>
              <a:rPr lang="en-US" sz="1300" dirty="0">
                <a:solidFill>
                  <a:srgbClr val="000000"/>
                </a:solidFill>
                <a:latin typeface="Times New Roman" panose="02020603050405020304" pitchFamily="18" charset="0"/>
                <a:cs typeface="Times New Roman" panose="02020603050405020304" pitchFamily="18" charset="0"/>
              </a:rPr>
              <a:t>: seismic, log, sedimentology, reservoir.</a:t>
            </a:r>
          </a:p>
          <a:p>
            <a:pPr marL="228600" lvl="1" algn="just">
              <a:lnSpc>
                <a:spcPct val="100000"/>
              </a:lnSpc>
              <a:spcBef>
                <a:spcPts val="1000"/>
              </a:spcBef>
            </a:pPr>
            <a:r>
              <a:rPr lang="en-US" sz="1300" dirty="0" err="1">
                <a:solidFill>
                  <a:srgbClr val="000000"/>
                </a:solidFill>
                <a:latin typeface="Times New Roman" panose="02020603050405020304" pitchFamily="18" charset="0"/>
                <a:cs typeface="Times New Roman" panose="02020603050405020304" pitchFamily="18" charset="0"/>
              </a:rPr>
              <a:t>Tham</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dự</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các</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hội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thảo</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kỹ</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thuật</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bằng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tiếng</a:t>
            </a:r>
            <a:r>
              <a:rPr lang="en-US" sz="1300" dirty="0">
                <a:solidFill>
                  <a:srgbClr val="000000"/>
                </a:solidFill>
                <a:latin typeface="Times New Roman" panose="02020603050405020304" pitchFamily="18" charset="0"/>
                <a:cs typeface="Times New Roman" panose="02020603050405020304" pitchFamily="18" charset="0"/>
              </a:rPr>
              <a:t> Anh </a:t>
            </a:r>
            <a:r>
              <a:rPr lang="en-US" sz="1300" dirty="0" err="1">
                <a:solidFill>
                  <a:srgbClr val="000000"/>
                </a:solidFill>
                <a:latin typeface="Times New Roman" panose="02020603050405020304" pitchFamily="18" charset="0"/>
                <a:cs typeface="Times New Roman" panose="02020603050405020304" pitchFamily="18" charset="0"/>
              </a:rPr>
              <a:t>tăng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khả</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năng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nghe</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hiểu</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trình</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bày</a:t>
            </a:r>
            <a:r>
              <a:rPr lang="en-US" sz="1300" dirty="0">
                <a:solidFill>
                  <a:srgbClr val="000000"/>
                </a:solidFill>
                <a:latin typeface="Times New Roman" panose="02020603050405020304" pitchFamily="18" charset="0"/>
                <a:cs typeface="Times New Roman" panose="02020603050405020304" pitchFamily="18" charset="0"/>
              </a:rPr>
              <a:t>.</a:t>
            </a:r>
          </a:p>
          <a:p>
            <a:pPr marL="742950" lvl="1" indent="-285750" algn="just">
              <a:lnSpc>
                <a:spcPct val="100000"/>
              </a:lnSpc>
              <a:buFont typeface="+mj-lt"/>
              <a:buAutoNum type="arabicPeriod"/>
            </a:pPr>
            <a:endParaRPr lang="en-US" sz="1300" dirty="0">
              <a:solidFill>
                <a:srgbClr val="000000"/>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F912404-8B20-0B34-932C-CBDE5ECED54C}"/>
              </a:ext>
            </a:extLst>
          </p:cNvPr>
          <p:cNvSpPr txBox="1">
            <a:spLocks/>
          </p:cNvSpPr>
          <p:nvPr/>
        </p:nvSpPr>
        <p:spPr>
          <a:xfrm>
            <a:off x="5463164" y="662664"/>
            <a:ext cx="3884036" cy="61953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vi-VN" sz="1300" b="1" u="sng" dirty="0">
                <a:solidFill>
                  <a:srgbClr val="000000"/>
                </a:solidFill>
                <a:latin typeface="Times New Roman" panose="02020603050405020304" pitchFamily="18" charset="0"/>
                <a:cs typeface="Times New Roman" panose="02020603050405020304" pitchFamily="18" charset="0"/>
              </a:rPr>
              <a:t>B. Giải pháp từ phía lãnh đạo đơn vị</a:t>
            </a:r>
          </a:p>
          <a:p>
            <a:pPr algn="just">
              <a:lnSpc>
                <a:spcPct val="100000"/>
              </a:lnSpc>
            </a:pPr>
            <a:r>
              <a:rPr lang="vi-VN" sz="1300" dirty="0">
                <a:solidFill>
                  <a:srgbClr val="000000"/>
                </a:solidFill>
                <a:latin typeface="Times New Roman" panose="02020603050405020304" pitchFamily="18" charset="0"/>
                <a:cs typeface="Times New Roman" panose="02020603050405020304" pitchFamily="18" charset="0"/>
              </a:rPr>
              <a:t>Bố trí cơ hội tham gia các dự án phù hợp để có cơ hội áp dụng và nâng cao kỹ năng minh giải địa chấn, địa tầng;</a:t>
            </a:r>
          </a:p>
          <a:p>
            <a:pPr algn="just">
              <a:lnSpc>
                <a:spcPct val="100000"/>
              </a:lnSpc>
            </a:pPr>
            <a:r>
              <a:rPr lang="vi-VN" sz="1300" dirty="0">
                <a:solidFill>
                  <a:srgbClr val="000000"/>
                </a:solidFill>
                <a:latin typeface="Times New Roman" panose="02020603050405020304" pitchFamily="18" charset="0"/>
                <a:cs typeface="Times New Roman" panose="02020603050405020304" pitchFamily="18" charset="0"/>
              </a:rPr>
              <a:t>Tạo điều kiện tham gia các khóa học: seismic attributes, sequence stratigraphy, AVO, inversion;</a:t>
            </a:r>
          </a:p>
          <a:p>
            <a:pPr algn="just">
              <a:lnSpc>
                <a:spcPct val="120000"/>
              </a:lnSpc>
            </a:pPr>
            <a:r>
              <a:rPr lang="vi-VN" sz="1300" dirty="0">
                <a:solidFill>
                  <a:srgbClr val="000000"/>
                </a:solidFill>
                <a:latin typeface="Times New Roman" panose="02020603050405020304" pitchFamily="18" charset="0"/>
                <a:cs typeface="Times New Roman" panose="02020603050405020304" pitchFamily="18" charset="0"/>
              </a:rPr>
              <a:t>Ghi nhận và phản hồi thường xuyên để giúp cải thiện đúng trọng tâm;</a:t>
            </a:r>
          </a:p>
          <a:p>
            <a:pPr algn="just">
              <a:lnSpc>
                <a:spcPct val="120000"/>
              </a:lnSpc>
            </a:pPr>
            <a:r>
              <a:rPr lang="vi-VN" sz="1300" dirty="0">
                <a:solidFill>
                  <a:srgbClr val="000000"/>
                </a:solidFill>
                <a:latin typeface="Times New Roman" panose="02020603050405020304" pitchFamily="18" charset="0"/>
                <a:cs typeface="Times New Roman" panose="02020603050405020304" pitchFamily="18" charset="0"/>
              </a:rPr>
              <a:t>Hỗ trợ tiếp cận phần mềm petrel với các module: QI, AVO, inversion;</a:t>
            </a:r>
          </a:p>
          <a:p>
            <a:pPr algn="just">
              <a:lnSpc>
                <a:spcPct val="120000"/>
              </a:lnSpc>
              <a:buFont typeface="Wingdings" pitchFamily="2" charset="2"/>
              <a:buChar char="Ø"/>
            </a:pPr>
            <a:r>
              <a:rPr lang="vi-VN" sz="1300" dirty="0">
                <a:solidFill>
                  <a:srgbClr val="000000"/>
                </a:solidFill>
                <a:latin typeface="Times New Roman" panose="02020603050405020304" pitchFamily="18" charset="0"/>
                <a:cs typeface="Times New Roman" panose="02020603050405020304" pitchFamily="18" charset="0"/>
              </a:rPr>
              <a:t>Đề xuất các mentor hỗ trợ/ đồng hành: Anh Lê Văn Trường (KS. Địa chấn), chị Tạ Thị Thu Hoài (KS. Địa chất), anh Nguyễn Lê Trung (KS Địa chất), chị Huỳnh Huỳnh Yên Hạ (Kỹ sư ĐVL GK);</a:t>
            </a:r>
          </a:p>
          <a:p>
            <a:pPr algn="just">
              <a:lnSpc>
                <a:spcPct val="120000"/>
              </a:lnSpc>
              <a:buFont typeface="Wingdings" pitchFamily="2" charset="2"/>
              <a:buChar char="Ø"/>
            </a:pPr>
            <a:r>
              <a:rPr lang="vi-VN" sz="1300" dirty="0">
                <a:solidFill>
                  <a:srgbClr val="000000"/>
                </a:solidFill>
                <a:latin typeface="Times New Roman" panose="02020603050405020304" pitchFamily="18" charset="0"/>
                <a:cs typeface="Times New Roman" panose="02020603050405020304" pitchFamily="18" charset="0"/>
              </a:rPr>
              <a:t>Đề xuất được tham gia các nhiệm vụ trọng tâm của đơn vị trong năm 2026: “</a:t>
            </a:r>
            <a:r>
              <a:rPr lang="en-US" sz="1300" dirty="0" err="1">
                <a:solidFill>
                  <a:srgbClr val="000000"/>
                </a:solidFill>
                <a:latin typeface="Times New Roman" panose="02020603050405020304" pitchFamily="18" charset="0"/>
                <a:cs typeface="Times New Roman" panose="02020603050405020304" pitchFamily="18" charset="0"/>
              </a:rPr>
              <a:t>Nghiên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cứu</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phân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vùng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cấu</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trúc</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lô</a:t>
            </a:r>
            <a:r>
              <a:rPr lang="en-US" sz="1300" dirty="0">
                <a:solidFill>
                  <a:srgbClr val="000000"/>
                </a:solidFill>
                <a:latin typeface="Times New Roman" panose="02020603050405020304" pitchFamily="18" charset="0"/>
                <a:cs typeface="Times New Roman" panose="02020603050405020304" pitchFamily="18" charset="0"/>
              </a:rPr>
              <a:t> 05-1(a) </a:t>
            </a:r>
            <a:r>
              <a:rPr lang="en-US" sz="1300" dirty="0" err="1">
                <a:solidFill>
                  <a:srgbClr val="000000"/>
                </a:solidFill>
                <a:latin typeface="Times New Roman" panose="02020603050405020304" pitchFamily="18" charset="0"/>
                <a:cs typeface="Times New Roman" panose="02020603050405020304" pitchFamily="18" charset="0"/>
              </a:rPr>
              <a:t>cập</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nhật</a:t>
            </a:r>
            <a:r>
              <a:rPr lang="en-US" sz="1300" dirty="0">
                <a:solidFill>
                  <a:srgbClr val="000000"/>
                </a:solidFill>
                <a:latin typeface="Times New Roman" panose="02020603050405020304" pitchFamily="18" charset="0"/>
                <a:cs typeface="Times New Roman" panose="02020603050405020304" pitchFamily="18" charset="0"/>
              </a:rPr>
              <a:t> TNDK, </a:t>
            </a:r>
            <a:r>
              <a:rPr lang="en-US" sz="1300" dirty="0" err="1">
                <a:solidFill>
                  <a:srgbClr val="000000"/>
                </a:solidFill>
                <a:latin typeface="Times New Roman" panose="02020603050405020304" pitchFamily="18" charset="0"/>
                <a:cs typeface="Times New Roman" panose="02020603050405020304" pitchFamily="18" charset="0"/>
              </a:rPr>
              <a:t>lựa</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chọn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cấu</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tạo</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giếng</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khoan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thăm</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dò</a:t>
            </a:r>
            <a:r>
              <a:rPr lang="en-US" sz="1300" dirty="0">
                <a:solidFill>
                  <a:srgbClr val="000000"/>
                </a:solidFill>
                <a:latin typeface="Times New Roman" panose="02020603050405020304" pitchFamily="18" charset="0"/>
                <a:cs typeface="Times New Roman" panose="02020603050405020304" pitchFamily="18" charset="0"/>
              </a:rPr>
              <a:t>”; “TGT Full Field HC potential evaluation after receiving new seismic data”; “Minh </a:t>
            </a:r>
            <a:r>
              <a:rPr lang="en-US" sz="1300" dirty="0" err="1">
                <a:solidFill>
                  <a:srgbClr val="000000"/>
                </a:solidFill>
                <a:latin typeface="Times New Roman" panose="02020603050405020304" pitchFamily="18" charset="0"/>
                <a:cs typeface="Times New Roman" panose="02020603050405020304" pitchFamily="18" charset="0"/>
              </a:rPr>
              <a:t>giải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cấu</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trúc</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toàn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lô</a:t>
            </a:r>
            <a:r>
              <a:rPr lang="en-US" sz="1300" dirty="0">
                <a:solidFill>
                  <a:srgbClr val="000000"/>
                </a:solidFill>
                <a:latin typeface="Times New Roman" panose="02020603050405020304" pitchFamily="18" charset="0"/>
                <a:cs typeface="Times New Roman" panose="02020603050405020304" pitchFamily="18" charset="0"/>
              </a:rPr>
              <a:t> 46/13 </a:t>
            </a:r>
            <a:r>
              <a:rPr lang="en-US" sz="1300" dirty="0" err="1">
                <a:solidFill>
                  <a:srgbClr val="000000"/>
                </a:solidFill>
                <a:latin typeface="Times New Roman" panose="02020603050405020304" pitchFamily="18" charset="0"/>
                <a:cs typeface="Times New Roman" panose="02020603050405020304" pitchFamily="18" charset="0"/>
              </a:rPr>
              <a:t>sau</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khi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có</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tài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liệu</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tái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xử</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lý</a:t>
            </a:r>
            <a:r>
              <a:rPr lang="en-US" sz="1300" dirty="0">
                <a:solidFill>
                  <a:srgbClr val="000000"/>
                </a:solidFill>
                <a:latin typeface="Times New Roman" panose="02020603050405020304" pitchFamily="18" charset="0"/>
                <a:cs typeface="Times New Roman" panose="02020603050405020304" pitchFamily="18" charset="0"/>
              </a:rPr>
              <a:t>”; “Minh </a:t>
            </a:r>
            <a:r>
              <a:rPr lang="en-US" sz="1300" dirty="0" err="1">
                <a:solidFill>
                  <a:srgbClr val="000000"/>
                </a:solidFill>
                <a:latin typeface="Times New Roman" panose="02020603050405020304" pitchFamily="18" charset="0"/>
                <a:cs typeface="Times New Roman" panose="02020603050405020304" pitchFamily="18" charset="0"/>
              </a:rPr>
              <a:t>giải</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toàn</a:t>
            </a:r>
            <a:r>
              <a:rPr lang="en-US" sz="1300" dirty="0">
                <a:solidFill>
                  <a:srgbClr val="000000"/>
                </a:solidFill>
                <a:latin typeface="Times New Roman" panose="02020603050405020304" pitchFamily="18" charset="0"/>
                <a:cs typeface="Times New Roman" panose="02020603050405020304" pitchFamily="18" charset="0"/>
              </a:rPr>
              <a:t> </a:t>
            </a:r>
            <a:r>
              <a:rPr lang="en-US" sz="1300" dirty="0" err="1">
                <a:solidFill>
                  <a:srgbClr val="000000"/>
                </a:solidFill>
                <a:latin typeface="Times New Roman" panose="02020603050405020304" pitchFamily="18" charset="0"/>
                <a:cs typeface="Times New Roman" panose="02020603050405020304" pitchFamily="18" charset="0"/>
              </a:rPr>
              <a:t>lô</a:t>
            </a:r>
            <a:r>
              <a:rPr lang="en-US" sz="1300" dirty="0">
                <a:solidFill>
                  <a:srgbClr val="000000"/>
                </a:solidFill>
                <a:latin typeface="Times New Roman" panose="02020603050405020304" pitchFamily="18" charset="0"/>
                <a:cs typeface="Times New Roman" panose="02020603050405020304" pitchFamily="18" charset="0"/>
              </a:rPr>
              <a:t> 01-02/10”.</a:t>
            </a:r>
          </a:p>
          <a:p>
            <a:pPr marL="0" indent="0" algn="just">
              <a:lnSpc>
                <a:spcPct val="100000"/>
              </a:lnSpc>
              <a:buNone/>
            </a:pPr>
            <a:endParaRPr lang="vi-VN" sz="1300" dirty="0">
              <a:solidFill>
                <a:srgbClr val="000000"/>
              </a:solidFill>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endParaRPr lang="en-US" sz="1300" dirty="0">
              <a:solidFill>
                <a:srgbClr val="000000"/>
              </a:solidFill>
              <a:latin typeface="Times New Roman" panose="02020603050405020304"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1AE2B610-C718-6609-D5BA-8341998637B2}"/>
              </a:ext>
            </a:extLst>
          </p:cNvPr>
          <p:cNvSpPr txBox="1">
            <a:spLocks/>
          </p:cNvSpPr>
          <p:nvPr/>
        </p:nvSpPr>
        <p:spPr>
          <a:xfrm>
            <a:off x="9347200" y="622965"/>
            <a:ext cx="2844800" cy="54762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buFont typeface="Arial" panose="020B0604020202020204" pitchFamily="34" charset="0"/>
              <a:buNone/>
            </a:pPr>
            <a:r>
              <a:rPr lang="en-US" sz="1400" b="1" u="sng" dirty="0">
                <a:solidFill>
                  <a:srgbClr val="000000"/>
                </a:solidFill>
                <a:latin typeface="Times New Roman" panose="02020603050405020304" pitchFamily="18" charset="0"/>
                <a:cs typeface="Times New Roman" panose="02020603050405020304" pitchFamily="18" charset="0"/>
              </a:rPr>
              <a:t>C. </a:t>
            </a:r>
            <a:r>
              <a:rPr lang="en-US" sz="1400" b="1" u="sng" dirty="0" err="1">
                <a:solidFill>
                  <a:srgbClr val="000000"/>
                </a:solidFill>
                <a:latin typeface="Times New Roman" panose="02020603050405020304" pitchFamily="18" charset="0"/>
                <a:cs typeface="Times New Roman" panose="02020603050405020304" pitchFamily="18" charset="0"/>
              </a:rPr>
              <a:t>Giải</a:t>
            </a:r>
            <a:r>
              <a:rPr lang="en-US" sz="1400" b="1" u="sng" dirty="0">
                <a:solidFill>
                  <a:srgbClr val="000000"/>
                </a:solidFill>
                <a:latin typeface="Times New Roman" panose="02020603050405020304" pitchFamily="18" charset="0"/>
                <a:cs typeface="Times New Roman" panose="02020603050405020304" pitchFamily="18" charset="0"/>
              </a:rPr>
              <a:t> </a:t>
            </a:r>
            <a:r>
              <a:rPr lang="en-US" sz="1400" b="1" u="sng" dirty="0" err="1">
                <a:solidFill>
                  <a:srgbClr val="000000"/>
                </a:solidFill>
                <a:latin typeface="Times New Roman" panose="02020603050405020304" pitchFamily="18" charset="0"/>
                <a:cs typeface="Times New Roman" panose="02020603050405020304" pitchFamily="18" charset="0"/>
              </a:rPr>
              <a:t>pháp</a:t>
            </a:r>
            <a:r>
              <a:rPr lang="en-US" sz="1400" b="1" u="sng" dirty="0">
                <a:solidFill>
                  <a:srgbClr val="000000"/>
                </a:solidFill>
                <a:latin typeface="Times New Roman" panose="02020603050405020304" pitchFamily="18" charset="0"/>
                <a:cs typeface="Times New Roman" panose="02020603050405020304" pitchFamily="18" charset="0"/>
              </a:rPr>
              <a:t> </a:t>
            </a:r>
            <a:r>
              <a:rPr lang="en-US" sz="1400" b="1" u="sng" dirty="0" err="1">
                <a:solidFill>
                  <a:srgbClr val="000000"/>
                </a:solidFill>
                <a:latin typeface="Times New Roman" panose="02020603050405020304" pitchFamily="18" charset="0"/>
                <a:cs typeface="Times New Roman" panose="02020603050405020304" pitchFamily="18" charset="0"/>
              </a:rPr>
              <a:t>từ</a:t>
            </a:r>
            <a:r>
              <a:rPr lang="en-US" sz="1400" b="1" u="sng" dirty="0">
                <a:solidFill>
                  <a:srgbClr val="000000"/>
                </a:solidFill>
                <a:latin typeface="Times New Roman" panose="02020603050405020304" pitchFamily="18" charset="0"/>
                <a:cs typeface="Times New Roman" panose="02020603050405020304" pitchFamily="18" charset="0"/>
              </a:rPr>
              <a:t> </a:t>
            </a:r>
            <a:r>
              <a:rPr lang="en-US" sz="1400" b="1" u="sng" dirty="0" err="1">
                <a:solidFill>
                  <a:srgbClr val="000000"/>
                </a:solidFill>
                <a:latin typeface="Times New Roman" panose="02020603050405020304" pitchFamily="18" charset="0"/>
                <a:cs typeface="Times New Roman" panose="02020603050405020304" pitchFamily="18" charset="0"/>
              </a:rPr>
              <a:t>nguồn</a:t>
            </a:r>
            <a:r>
              <a:rPr lang="en-US" sz="1400" b="1" u="sng" dirty="0">
                <a:solidFill>
                  <a:srgbClr val="000000"/>
                </a:solidFill>
                <a:latin typeface="Times New Roman" panose="02020603050405020304" pitchFamily="18" charset="0"/>
                <a:cs typeface="Times New Roman" panose="02020603050405020304" pitchFamily="18" charset="0"/>
              </a:rPr>
              <a:t> </a:t>
            </a:r>
            <a:r>
              <a:rPr lang="en-US" sz="1400" b="1" u="sng" dirty="0" err="1">
                <a:solidFill>
                  <a:srgbClr val="000000"/>
                </a:solidFill>
                <a:latin typeface="Times New Roman" panose="02020603050405020304" pitchFamily="18" charset="0"/>
                <a:cs typeface="Times New Roman" panose="02020603050405020304" pitchFamily="18" charset="0"/>
              </a:rPr>
              <a:t>lực</a:t>
            </a:r>
            <a:r>
              <a:rPr lang="en-US" sz="1400" b="1" u="sng" dirty="0">
                <a:solidFill>
                  <a:srgbClr val="000000"/>
                </a:solidFill>
                <a:latin typeface="Times New Roman" panose="02020603050405020304" pitchFamily="18" charset="0"/>
                <a:cs typeface="Times New Roman" panose="02020603050405020304" pitchFamily="18" charset="0"/>
              </a:rPr>
              <a:t> </a:t>
            </a:r>
            <a:r>
              <a:rPr lang="en-US" sz="1400" b="1" u="sng" dirty="0" err="1">
                <a:solidFill>
                  <a:srgbClr val="000000"/>
                </a:solidFill>
                <a:latin typeface="Times New Roman" panose="02020603050405020304" pitchFamily="18" charset="0"/>
                <a:cs typeface="Times New Roman" panose="02020603050405020304" pitchFamily="18" charset="0"/>
              </a:rPr>
              <a:t>bên</a:t>
            </a:r>
            <a:r>
              <a:rPr lang="en-US" sz="1400" b="1" u="sng" dirty="0">
                <a:solidFill>
                  <a:srgbClr val="000000"/>
                </a:solidFill>
                <a:latin typeface="Times New Roman" panose="02020603050405020304" pitchFamily="18" charset="0"/>
                <a:cs typeface="Times New Roman" panose="02020603050405020304" pitchFamily="18" charset="0"/>
              </a:rPr>
              <a:t> </a:t>
            </a:r>
            <a:r>
              <a:rPr lang="en-US" sz="1400" b="1" u="sng" dirty="0" err="1">
                <a:solidFill>
                  <a:srgbClr val="000000"/>
                </a:solidFill>
                <a:latin typeface="Times New Roman" panose="02020603050405020304" pitchFamily="18" charset="0"/>
                <a:cs typeface="Times New Roman" panose="02020603050405020304" pitchFamily="18" charset="0"/>
              </a:rPr>
              <a:t>ngoài</a:t>
            </a:r>
            <a:endParaRPr lang="en-US" sz="1400" b="1" u="sng" dirty="0">
              <a:solidFill>
                <a:srgbClr val="000000"/>
              </a:solidFill>
              <a:latin typeface="Times New Roman" panose="02020603050405020304" pitchFamily="18" charset="0"/>
              <a:cs typeface="Times New Roman" panose="02020603050405020304" pitchFamily="18" charset="0"/>
            </a:endParaRPr>
          </a:p>
          <a:p>
            <a:pPr algn="just">
              <a:lnSpc>
                <a:spcPct val="110000"/>
              </a:lnSpc>
            </a:pPr>
            <a:r>
              <a:rPr lang="en-US" sz="1400" dirty="0" err="1">
                <a:solidFill>
                  <a:srgbClr val="000000"/>
                </a:solidFill>
                <a:latin typeface="Times New Roman" panose="02020603050405020304" pitchFamily="18" charset="0"/>
                <a:cs typeface="Times New Roman" panose="02020603050405020304" pitchFamily="18" charset="0"/>
              </a:rPr>
              <a:t>Học</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tập</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từ</a:t>
            </a:r>
            <a:r>
              <a:rPr lang="vi-VN" sz="1400" dirty="0">
                <a:solidFill>
                  <a:srgbClr val="000000"/>
                </a:solidFill>
                <a:latin typeface="Times New Roman" panose="02020603050405020304" pitchFamily="18" charset="0"/>
                <a:cs typeface="Times New Roman" panose="02020603050405020304" pitchFamily="18" charset="0"/>
              </a:rPr>
              <a:t> các chuyên gia Địa chấn đang trực tiếp làm việc tại các dự án của đơn vị. Đề xuất chuyên gia Nguyễn Như Ngọc đồng hành/ hướng dẫn trong các dự án Stratigraphic interpretation, seismic attribute, QI/AVO và các khóa đào tạo chuyên sâu;</a:t>
            </a:r>
            <a:endParaRPr lang="en-US" sz="1400" dirty="0">
              <a:solidFill>
                <a:srgbClr val="000000"/>
              </a:solidFill>
              <a:latin typeface="Times New Roman" panose="02020603050405020304" pitchFamily="18" charset="0"/>
              <a:cs typeface="Times New Roman" panose="02020603050405020304" pitchFamily="18" charset="0"/>
            </a:endParaRPr>
          </a:p>
          <a:p>
            <a:pPr algn="just">
              <a:lnSpc>
                <a:spcPct val="110000"/>
              </a:lnSpc>
            </a:pPr>
            <a:r>
              <a:rPr lang="en-US" sz="1400" dirty="0" err="1">
                <a:solidFill>
                  <a:srgbClr val="000000"/>
                </a:solidFill>
                <a:latin typeface="Times New Roman" panose="02020603050405020304" pitchFamily="18" charset="0"/>
                <a:cs typeface="Times New Roman" panose="02020603050405020304" pitchFamily="18" charset="0"/>
              </a:rPr>
              <a:t>Tận</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dụng</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các</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phần</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mềm</a:t>
            </a:r>
            <a:r>
              <a:rPr lang="en-US" sz="1400" dirty="0">
                <a:solidFill>
                  <a:srgbClr val="000000"/>
                </a:solidFill>
                <a:latin typeface="Times New Roman" panose="02020603050405020304" pitchFamily="18" charset="0"/>
                <a:cs typeface="Times New Roman" panose="02020603050405020304" pitchFamily="18" charset="0"/>
              </a:rPr>
              <a:t> AI/ML </a:t>
            </a:r>
            <a:r>
              <a:rPr lang="en-US" sz="1400" dirty="0" err="1">
                <a:solidFill>
                  <a:srgbClr val="000000"/>
                </a:solidFill>
                <a:latin typeface="Times New Roman" panose="02020603050405020304" pitchFamily="18" charset="0"/>
                <a:cs typeface="Times New Roman" panose="02020603050405020304" pitchFamily="18" charset="0"/>
              </a:rPr>
              <a:t>hỗ</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trợ</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minh</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giải</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địa</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chấn</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nhận</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dạng</a:t>
            </a:r>
            <a:r>
              <a:rPr lang="en-US" sz="1400" dirty="0">
                <a:solidFill>
                  <a:srgbClr val="000000"/>
                </a:solidFill>
                <a:latin typeface="Times New Roman" panose="02020603050405020304" pitchFamily="18" charset="0"/>
                <a:cs typeface="Times New Roman" panose="02020603050405020304" pitchFamily="18" charset="0"/>
              </a:rPr>
              <a:t> t</a:t>
            </a:r>
            <a:r>
              <a:rPr lang="vi-VN" sz="1400" dirty="0">
                <a:solidFill>
                  <a:srgbClr val="000000"/>
                </a:solidFill>
                <a:latin typeface="Times New Roman" panose="02020603050405020304" pitchFamily="18" charset="0"/>
                <a:cs typeface="Times New Roman" panose="02020603050405020304" pitchFamily="18" charset="0"/>
              </a:rPr>
              <a:t>ướng địa chấn</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bẫy</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địa</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tầng</a:t>
            </a:r>
            <a:r>
              <a:rPr lang="en-US" sz="1400" dirty="0">
                <a:solidFill>
                  <a:srgbClr val="000000"/>
                </a:solidFill>
                <a:latin typeface="Times New Roman" panose="02020603050405020304" pitchFamily="18" charset="0"/>
                <a:cs typeface="Times New Roman" panose="02020603050405020304" pitchFamily="18" charset="0"/>
              </a:rPr>
              <a:t>, </a:t>
            </a:r>
            <a:r>
              <a:rPr lang="en-US" sz="1400" dirty="0" err="1">
                <a:solidFill>
                  <a:srgbClr val="000000"/>
                </a:solidFill>
                <a:latin typeface="Times New Roman" panose="02020603050405020304" pitchFamily="18" charset="0"/>
                <a:cs typeface="Times New Roman" panose="02020603050405020304" pitchFamily="18" charset="0"/>
              </a:rPr>
              <a:t>tối</a:t>
            </a:r>
            <a:r>
              <a:rPr lang="en-US" sz="1400" dirty="0">
                <a:solidFill>
                  <a:srgbClr val="000000"/>
                </a:solidFill>
                <a:latin typeface="Times New Roman" panose="02020603050405020304" pitchFamily="18" charset="0"/>
                <a:cs typeface="Times New Roman" panose="02020603050405020304" pitchFamily="18" charset="0"/>
              </a:rPr>
              <a:t> </a:t>
            </a:r>
            <a:r>
              <a:rPr lang="vi-VN" sz="1400" dirty="0">
                <a:solidFill>
                  <a:srgbClr val="000000"/>
                </a:solidFill>
                <a:latin typeface="Times New Roman" panose="02020603050405020304" pitchFamily="18" charset="0"/>
                <a:cs typeface="Times New Roman" panose="02020603050405020304" pitchFamily="18" charset="0"/>
              </a:rPr>
              <a:t>ưu hóa quy trình minh giải. (Phần mềm Paleoscan, Petrel);</a:t>
            </a:r>
            <a:endParaRPr lang="en-US" sz="1400" dirty="0">
              <a:solidFill>
                <a:srgbClr val="000000"/>
              </a:solidFill>
              <a:latin typeface="Times New Roman" panose="02020603050405020304" pitchFamily="18" charset="0"/>
              <a:cs typeface="Times New Roman" panose="02020603050405020304" pitchFamily="18" charset="0"/>
            </a:endParaRPr>
          </a:p>
          <a:p>
            <a:pPr marL="0" indent="0" algn="just">
              <a:lnSpc>
                <a:spcPct val="110000"/>
              </a:lnSpc>
              <a:buFont typeface="Arial" panose="020B0604020202020204" pitchFamily="34" charset="0"/>
              <a:buNone/>
            </a:pPr>
            <a:endParaRPr lang="en-US" sz="1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35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77B1F217-3FD4-2F18-8443-9560CF2AF1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16" name="think-cell data - do not delete" hidden="1">
                        <a:extLst>
                          <a:ext uri="{FF2B5EF4-FFF2-40B4-BE49-F238E27FC236}">
                            <a16:creationId xmlns:a16="http://schemas.microsoft.com/office/drawing/2014/main" id="{77B1F217-3FD4-2F18-8443-9560CF2AF11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TextBox 21"/>
          <p:cNvSpPr txBox="1"/>
          <p:nvPr/>
        </p:nvSpPr>
        <p:spPr>
          <a:xfrm>
            <a:off x="-152400" y="-71767"/>
            <a:ext cx="4869991" cy="503567"/>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AutoShape 1">
            <a:extLst>
              <a:ext uri="{FF2B5EF4-FFF2-40B4-BE49-F238E27FC236}">
                <a16:creationId xmlns:a16="http://schemas.microsoft.com/office/drawing/2014/main" id="{FD8AF0CA-CDEA-899B-5820-CC8F32E200C3}"/>
              </a:ext>
            </a:extLst>
          </p:cNvPr>
          <p:cNvSpPr>
            <a:spLocks/>
          </p:cNvSpPr>
          <p:nvPr/>
        </p:nvSpPr>
        <p:spPr bwMode="auto">
          <a:xfrm>
            <a:off x="826294" y="16410"/>
            <a:ext cx="11365706" cy="5935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r>
              <a:rPr lang="en-VN" sz="3600" dirty="0">
                <a:latin typeface="Times New Roman" panose="02020603050405020304" pitchFamily="18" charset="0"/>
                <a:cs typeface="Times New Roman" panose="02020603050405020304" pitchFamily="18" charset="0"/>
              </a:rPr>
              <a:t>CHECKPOINT</a:t>
            </a:r>
            <a:endParaRPr kumimoji="0" lang="es-ES" sz="1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4" name="Slide Number Placeholder 5">
            <a:extLst>
              <a:ext uri="{FF2B5EF4-FFF2-40B4-BE49-F238E27FC236}">
                <a16:creationId xmlns:a16="http://schemas.microsoft.com/office/drawing/2014/main" id="{8021663B-8D7D-E2FB-7D56-4487F5D0961A}"/>
              </a:ext>
            </a:extLst>
          </p:cNvPr>
          <p:cNvSpPr txBox="1">
            <a:spLocks/>
          </p:cNvSpPr>
          <p:nvPr/>
        </p:nvSpPr>
        <p:spPr>
          <a:xfrm>
            <a:off x="11582400" y="6611187"/>
            <a:ext cx="609600" cy="213360"/>
          </a:xfrm>
          <a:prstGeom prst="rect">
            <a:avLst/>
          </a:prstGeom>
        </p:spPr>
        <p:txBody>
          <a:bodyPr>
            <a:no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0CFDCA-984A-49CD-9ECB-CD1CAA1CFBB4}" type="slidenum">
              <a:rPr kumimoji="0" lang="en-US" sz="1000" b="0" i="0" u="none" strike="noStrike" kern="1200" cap="none" spc="0" normalizeH="0" baseline="0" noProof="0" smtClean="0">
                <a:ln>
                  <a:noFill/>
                </a:ln>
                <a:solidFill>
                  <a:srgbClr val="000099"/>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000" b="0" i="0" u="none" strike="noStrike" kern="1200" cap="none" spc="0" normalizeH="0" baseline="0" noProof="0">
              <a:ln>
                <a:noFill/>
              </a:ln>
              <a:solidFill>
                <a:srgbClr val="000099"/>
              </a:solidFill>
              <a:effectLst/>
              <a:uLnTx/>
              <a:uFillTx/>
              <a:latin typeface="Arial" charset="0"/>
              <a:ea typeface="+mn-ea"/>
              <a:cs typeface="Arial" charset="0"/>
            </a:endParaRPr>
          </a:p>
        </p:txBody>
      </p:sp>
      <p:pic>
        <p:nvPicPr>
          <p:cNvPr id="9" name="Picture 8" descr="A green and blue logo&#10;&#10;AI-generated content may be incorrect.">
            <a:extLst>
              <a:ext uri="{FF2B5EF4-FFF2-40B4-BE49-F238E27FC236}">
                <a16:creationId xmlns:a16="http://schemas.microsoft.com/office/drawing/2014/main" id="{CDDF62F1-5513-4E90-2162-B2AFAE22CB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918" y="102212"/>
            <a:ext cx="508850" cy="520753"/>
          </a:xfrm>
          <a:prstGeom prst="rect">
            <a:avLst/>
          </a:prstGeom>
        </p:spPr>
      </p:pic>
      <p:sp>
        <p:nvSpPr>
          <p:cNvPr id="2" name="Content Placeholder 2">
            <a:extLst>
              <a:ext uri="{FF2B5EF4-FFF2-40B4-BE49-F238E27FC236}">
                <a16:creationId xmlns:a16="http://schemas.microsoft.com/office/drawing/2014/main" id="{079F3F16-C6BB-C9EE-EC1F-A2D4FC4D6E87}"/>
              </a:ext>
            </a:extLst>
          </p:cNvPr>
          <p:cNvSpPr txBox="1">
            <a:spLocks/>
          </p:cNvSpPr>
          <p:nvPr/>
        </p:nvSpPr>
        <p:spPr>
          <a:xfrm>
            <a:off x="72736" y="858474"/>
            <a:ext cx="12046527" cy="581278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Qúy 1 (Tháng 1–3) Mục tiêu: Củng cố nền tảng &amp; Xác định hướng nghiên cứu</a:t>
            </a:r>
            <a:r>
              <a:rPr lang="en-US" sz="1800" b="1" dirty="0">
                <a:solidFill>
                  <a:srgbClr val="000000"/>
                </a:solidFill>
                <a:latin typeface="Times New Roman" panose="02020603050405020304" pitchFamily="18" charset="0"/>
                <a:cs typeface="Times New Roman" panose="02020603050405020304" pitchFamily="18" charset="0"/>
              </a:rPr>
              <a:t>:</a:t>
            </a:r>
            <a:endParaRPr lang="vi-VN" sz="1800" b="1" dirty="0">
              <a:solidFill>
                <a:srgbClr val="000000"/>
              </a:solidFill>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1. Chuyên môn kỹ thuật:</a:t>
            </a:r>
          </a:p>
          <a:p>
            <a:pPr algn="just">
              <a:lnSpc>
                <a:spcPct val="100000"/>
              </a:lnSpc>
            </a:pPr>
            <a:r>
              <a:rPr lang="vi-VN" sz="1800" dirty="0">
                <a:solidFill>
                  <a:srgbClr val="000000"/>
                </a:solidFill>
                <a:latin typeface="Times New Roman" panose="02020603050405020304" pitchFamily="18" charset="0"/>
                <a:cs typeface="Times New Roman" panose="02020603050405020304" pitchFamily="18" charset="0"/>
              </a:rPr>
              <a:t>Tham gia khóa học nâng cao năng lực chuyên môn đã đăng ký;</a:t>
            </a:r>
          </a:p>
          <a:p>
            <a:pPr algn="just">
              <a:lnSpc>
                <a:spcPct val="100000"/>
              </a:lnSpc>
            </a:pPr>
            <a:r>
              <a:rPr lang="vi-VN" sz="1800" dirty="0">
                <a:solidFill>
                  <a:srgbClr val="000000"/>
                </a:solidFill>
                <a:latin typeface="Times New Roman" panose="02020603050405020304" pitchFamily="18" charset="0"/>
                <a:cs typeface="Times New Roman" panose="02020603050405020304" pitchFamily="18" charset="0"/>
              </a:rPr>
              <a:t>Tham gia các nhiệm vụ của đơn vị và áp dụng trực tiếp các chuyên môn sau:</a:t>
            </a:r>
            <a:endParaRPr lang="en-US" sz="1800" dirty="0">
              <a:solidFill>
                <a:srgbClr val="000000"/>
              </a:solidFill>
              <a:latin typeface="Times New Roman" panose="02020603050405020304" pitchFamily="18" charset="0"/>
              <a:cs typeface="Times New Roman" panose="02020603050405020304" pitchFamily="18" charset="0"/>
            </a:endParaRPr>
          </a:p>
          <a:p>
            <a:pPr marL="0" indent="0" algn="just">
              <a:lnSpc>
                <a:spcPct val="100000"/>
              </a:lnSpc>
              <a:buNone/>
            </a:pP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Nghiên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cứu</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các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phương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pháp</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nâng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cao</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chất</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lượng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tài</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liệu</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chấn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để</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thể</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hiện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rõ</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các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đặc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điểm</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chấn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tầng</a:t>
            </a:r>
            <a:r>
              <a:rPr lang="en-US" sz="1800" dirty="0">
                <a:solidFill>
                  <a:srgbClr val="000000"/>
                </a:solidFill>
                <a:latin typeface="Times New Roman" panose="02020603050405020304" pitchFamily="18" charset="0"/>
                <a:cs typeface="Times New Roman" panose="02020603050405020304" pitchFamily="18" charset="0"/>
              </a:rPr>
              <a:t>;</a:t>
            </a:r>
            <a:endParaRPr lang="vi-VN" sz="1800" dirty="0">
              <a:solidFill>
                <a:srgbClr val="000000"/>
              </a:solidFill>
              <a:latin typeface="Times New Roman" panose="02020603050405020304" pitchFamily="18" charset="0"/>
              <a:cs typeface="Times New Roman" panose="02020603050405020304" pitchFamily="18" charset="0"/>
            </a:endParaRPr>
          </a:p>
          <a:p>
            <a:pPr marL="0" indent="0" algn="just">
              <a:lnSpc>
                <a:spcPct val="100000"/>
              </a:lnSpc>
              <a:buNone/>
            </a:pPr>
            <a:r>
              <a:rPr lang="vi-VN" sz="1800" dirty="0">
                <a:solidFill>
                  <a:srgbClr val="000000"/>
                </a:solidFill>
                <a:latin typeface="Times New Roman" panose="02020603050405020304" pitchFamily="18" charset="0"/>
                <a:cs typeface="Times New Roman" panose="02020603050405020304" pitchFamily="18" charset="0"/>
              </a:rPr>
              <a:t>- Nhận dạng và Minh giải thành thạo các dạng kết thúc địa tầng (stratal termination) trên mặt cắt địa chấn;</a:t>
            </a:r>
          </a:p>
          <a:p>
            <a:pPr marL="0" indent="0" algn="just">
              <a:lnSpc>
                <a:spcPct val="100000"/>
              </a:lnSpc>
              <a:buNone/>
            </a:pPr>
            <a:r>
              <a:rPr lang="vi-VN" sz="1800" dirty="0">
                <a:solidFill>
                  <a:srgbClr val="000000"/>
                </a:solidFill>
                <a:latin typeface="Times New Roman" panose="02020603050405020304" pitchFamily="18" charset="0"/>
                <a:cs typeface="Times New Roman" panose="02020603050405020304" pitchFamily="18" charset="0"/>
              </a:rPr>
              <a:t>- Xác định các mặt ranh giới SB, TS, MFS từ các tài liệu giếng khoan, địa chất, địa chấn;</a:t>
            </a:r>
          </a:p>
          <a:p>
            <a:pPr marL="0" indent="0" algn="just">
              <a:lnSpc>
                <a:spcPct val="100000"/>
              </a:lnSpc>
              <a:buNone/>
            </a:pPr>
            <a:r>
              <a:rPr lang="vi-VN" sz="1800" dirty="0">
                <a:solidFill>
                  <a:srgbClr val="000000"/>
                </a:solidFill>
                <a:latin typeface="Times New Roman" panose="02020603050405020304" pitchFamily="18" charset="0"/>
                <a:cs typeface="Times New Roman" panose="02020603050405020304" pitchFamily="18" charset="0"/>
              </a:rPr>
              <a:t>- Xây dựng bản đồ </a:t>
            </a:r>
            <a:r>
              <a:rPr lang="en-US" sz="1800" dirty="0" err="1">
                <a:solidFill>
                  <a:srgbClr val="000000"/>
                </a:solidFill>
                <a:latin typeface="Times New Roman" panose="02020603050405020304" pitchFamily="18" charset="0"/>
                <a:cs typeface="Times New Roman" panose="02020603050405020304" pitchFamily="18" charset="0"/>
              </a:rPr>
              <a:t>tướng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chấn</a:t>
            </a:r>
            <a:r>
              <a:rPr lang="en-US" sz="1800" dirty="0">
                <a:solidFill>
                  <a:srgbClr val="000000"/>
                </a:solidFill>
                <a:latin typeface="Times New Roman" panose="02020603050405020304" pitchFamily="18" charset="0"/>
                <a:cs typeface="Times New Roman" panose="02020603050405020304" pitchFamily="18" charset="0"/>
              </a:rPr>
              <a:t> </a:t>
            </a:r>
            <a:r>
              <a:rPr lang="vi-VN" sz="1800" dirty="0">
                <a:solidFill>
                  <a:srgbClr val="000000"/>
                </a:solidFill>
                <a:latin typeface="Times New Roman" panose="02020603050405020304" pitchFamily="18" charset="0"/>
                <a:cs typeface="Times New Roman" panose="02020603050405020304" pitchFamily="18" charset="0"/>
              </a:rPr>
              <a:t>2D theo phương pháp ABCD.</a:t>
            </a:r>
          </a:p>
          <a:p>
            <a:pPr marL="0" indent="0" algn="just">
              <a:lnSpc>
                <a:spcPct val="10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2. Tiếng Anh:</a:t>
            </a:r>
          </a:p>
          <a:p>
            <a:pPr algn="just">
              <a:lnSpc>
                <a:spcPct val="100000"/>
              </a:lnSpc>
            </a:pPr>
            <a:r>
              <a:rPr lang="vi-VN" sz="1800" dirty="0">
                <a:solidFill>
                  <a:srgbClr val="000000"/>
                </a:solidFill>
                <a:latin typeface="Times New Roman" panose="02020603050405020304" pitchFamily="18" charset="0"/>
                <a:cs typeface="Times New Roman" panose="02020603050405020304" pitchFamily="18" charset="0"/>
              </a:rPr>
              <a:t>Ôn tập Toeic listening và Reading để đạt mức nền tảng 700 điểm</a:t>
            </a:r>
          </a:p>
          <a:p>
            <a:pPr algn="just">
              <a:lnSpc>
                <a:spcPct val="100000"/>
              </a:lnSpc>
            </a:pPr>
            <a:r>
              <a:rPr lang="vi-VN" sz="1800" dirty="0">
                <a:solidFill>
                  <a:srgbClr val="000000"/>
                </a:solidFill>
                <a:latin typeface="Times New Roman" panose="02020603050405020304" pitchFamily="18" charset="0"/>
                <a:cs typeface="Times New Roman" panose="02020603050405020304" pitchFamily="18" charset="0"/>
              </a:rPr>
              <a:t>Xây dựng bộ từ vựng chuyên đề: seismic attributes, well log, sedimentology (≥150 từ).</a:t>
            </a:r>
          </a:p>
          <a:p>
            <a:pPr marL="0" indent="0" algn="just">
              <a:lnSpc>
                <a:spcPct val="10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3. Kỹ năng mềm &amp; nội bộ</a:t>
            </a:r>
            <a:r>
              <a:rPr lang="en-US" sz="1800" b="1" dirty="0">
                <a:solidFill>
                  <a:srgbClr val="000000"/>
                </a:solidFill>
                <a:latin typeface="Times New Roman" panose="02020603050405020304" pitchFamily="18" charset="0"/>
                <a:cs typeface="Times New Roman" panose="02020603050405020304" pitchFamily="18" charset="0"/>
              </a:rPr>
              <a:t>:</a:t>
            </a:r>
            <a:endParaRPr lang="vi-VN" sz="1800" b="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vi-VN" sz="1800" dirty="0">
                <a:solidFill>
                  <a:srgbClr val="000000"/>
                </a:solidFill>
                <a:latin typeface="Times New Roman" panose="02020603050405020304" pitchFamily="18" charset="0"/>
                <a:cs typeface="Times New Roman" panose="02020603050405020304" pitchFamily="18" charset="0"/>
              </a:rPr>
              <a:t>Trình bày </a:t>
            </a:r>
            <a:r>
              <a:rPr lang="vi-VN" sz="1800" b="1" dirty="0">
                <a:solidFill>
                  <a:srgbClr val="000000"/>
                </a:solidFill>
                <a:latin typeface="Times New Roman" panose="02020603050405020304" pitchFamily="18" charset="0"/>
                <a:cs typeface="Times New Roman" panose="02020603050405020304" pitchFamily="18" charset="0"/>
              </a:rPr>
              <a:t>1 bài chia sẻ nội bộ </a:t>
            </a:r>
            <a:r>
              <a:rPr lang="vi-VN" sz="1800" dirty="0">
                <a:solidFill>
                  <a:srgbClr val="000000"/>
                </a:solidFill>
                <a:latin typeface="Times New Roman" panose="02020603050405020304" pitchFamily="18" charset="0"/>
                <a:cs typeface="Times New Roman" panose="02020603050405020304" pitchFamily="18" charset="0"/>
              </a:rPr>
              <a:t>ngắn về “Các dạng bẫy địa tầng”.</a:t>
            </a:r>
          </a:p>
          <a:p>
            <a:pPr algn="just">
              <a:lnSpc>
                <a:spcPct val="100000"/>
              </a:lnSpc>
            </a:pPr>
            <a:r>
              <a:rPr lang="vi-VN" sz="1800" dirty="0">
                <a:solidFill>
                  <a:srgbClr val="000000"/>
                </a:solidFill>
                <a:latin typeface="Times New Roman" panose="02020603050405020304" pitchFamily="18" charset="0"/>
                <a:cs typeface="Times New Roman" panose="02020603050405020304" pitchFamily="18" charset="0"/>
              </a:rPr>
              <a:t>Nhận feedback từ lãnh đạo/mentor để điều chỉnh năng lực, ghi nhận các điểm mạnh, điểm yếu cần cải thiện.</a:t>
            </a:r>
          </a:p>
          <a:p>
            <a:pPr marL="0" indent="0" algn="just">
              <a:lnSpc>
                <a:spcPct val="100000"/>
              </a:lnSpc>
              <a:buFont typeface="Arial" panose="020B0604020202020204" pitchFamily="34" charset="0"/>
              <a:buNone/>
            </a:pPr>
            <a:endParaRPr lang="en-V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4927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77B1F217-3FD4-2F18-8443-9560CF2AF1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16" name="think-cell data - do not delete" hidden="1">
                        <a:extLst>
                          <a:ext uri="{FF2B5EF4-FFF2-40B4-BE49-F238E27FC236}">
                            <a16:creationId xmlns:a16="http://schemas.microsoft.com/office/drawing/2014/main" id="{77B1F217-3FD4-2F18-8443-9560CF2AF11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TextBox 21"/>
          <p:cNvSpPr txBox="1"/>
          <p:nvPr/>
        </p:nvSpPr>
        <p:spPr>
          <a:xfrm>
            <a:off x="-152400" y="-71767"/>
            <a:ext cx="4869991" cy="503567"/>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AutoShape 1">
            <a:extLst>
              <a:ext uri="{FF2B5EF4-FFF2-40B4-BE49-F238E27FC236}">
                <a16:creationId xmlns:a16="http://schemas.microsoft.com/office/drawing/2014/main" id="{FD8AF0CA-CDEA-899B-5820-CC8F32E200C3}"/>
              </a:ext>
            </a:extLst>
          </p:cNvPr>
          <p:cNvSpPr>
            <a:spLocks/>
          </p:cNvSpPr>
          <p:nvPr/>
        </p:nvSpPr>
        <p:spPr bwMode="auto">
          <a:xfrm>
            <a:off x="826294" y="16410"/>
            <a:ext cx="11365706" cy="5935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r>
              <a:rPr lang="en-VN" sz="3600" dirty="0">
                <a:latin typeface="Times New Roman" panose="02020603050405020304" pitchFamily="18" charset="0"/>
                <a:cs typeface="Times New Roman" panose="02020603050405020304" pitchFamily="18" charset="0"/>
              </a:rPr>
              <a:t>CHECKPOINT</a:t>
            </a:r>
            <a:endParaRPr kumimoji="0" lang="es-ES" sz="1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4" name="Slide Number Placeholder 5">
            <a:extLst>
              <a:ext uri="{FF2B5EF4-FFF2-40B4-BE49-F238E27FC236}">
                <a16:creationId xmlns:a16="http://schemas.microsoft.com/office/drawing/2014/main" id="{8021663B-8D7D-E2FB-7D56-4487F5D0961A}"/>
              </a:ext>
            </a:extLst>
          </p:cNvPr>
          <p:cNvSpPr txBox="1">
            <a:spLocks/>
          </p:cNvSpPr>
          <p:nvPr/>
        </p:nvSpPr>
        <p:spPr>
          <a:xfrm>
            <a:off x="11582400" y="6611187"/>
            <a:ext cx="609600" cy="213360"/>
          </a:xfrm>
          <a:prstGeom prst="rect">
            <a:avLst/>
          </a:prstGeom>
        </p:spPr>
        <p:txBody>
          <a:bodyPr>
            <a:no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0CFDCA-984A-49CD-9ECB-CD1CAA1CFBB4}" type="slidenum">
              <a:rPr kumimoji="0" lang="en-US" sz="1000" b="0" i="0" u="none" strike="noStrike" kern="1200" cap="none" spc="0" normalizeH="0" baseline="0" noProof="0" smtClean="0">
                <a:ln>
                  <a:noFill/>
                </a:ln>
                <a:solidFill>
                  <a:srgbClr val="000099"/>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1000" b="0" i="0" u="none" strike="noStrike" kern="1200" cap="none" spc="0" normalizeH="0" baseline="0" noProof="0">
              <a:ln>
                <a:noFill/>
              </a:ln>
              <a:solidFill>
                <a:srgbClr val="000099"/>
              </a:solidFill>
              <a:effectLst/>
              <a:uLnTx/>
              <a:uFillTx/>
              <a:latin typeface="Arial" charset="0"/>
              <a:ea typeface="+mn-ea"/>
              <a:cs typeface="Arial" charset="0"/>
            </a:endParaRPr>
          </a:p>
        </p:txBody>
      </p:sp>
      <p:pic>
        <p:nvPicPr>
          <p:cNvPr id="9" name="Picture 8" descr="A green and blue logo&#10;&#10;AI-generated content may be incorrect.">
            <a:extLst>
              <a:ext uri="{FF2B5EF4-FFF2-40B4-BE49-F238E27FC236}">
                <a16:creationId xmlns:a16="http://schemas.microsoft.com/office/drawing/2014/main" id="{CDDF62F1-5513-4E90-2162-B2AFAE22CB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918" y="102212"/>
            <a:ext cx="508850" cy="520753"/>
          </a:xfrm>
          <a:prstGeom prst="rect">
            <a:avLst/>
          </a:prstGeom>
        </p:spPr>
      </p:pic>
      <p:sp>
        <p:nvSpPr>
          <p:cNvPr id="2" name="Content Placeholder 2">
            <a:extLst>
              <a:ext uri="{FF2B5EF4-FFF2-40B4-BE49-F238E27FC236}">
                <a16:creationId xmlns:a16="http://schemas.microsoft.com/office/drawing/2014/main" id="{F4111261-2745-051C-0769-2815F5FDD519}"/>
              </a:ext>
            </a:extLst>
          </p:cNvPr>
          <p:cNvSpPr txBox="1">
            <a:spLocks/>
          </p:cNvSpPr>
          <p:nvPr/>
        </p:nvSpPr>
        <p:spPr>
          <a:xfrm>
            <a:off x="193965" y="807374"/>
            <a:ext cx="11998035" cy="59236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Qúy 2 (Tháng 4–6): Nâng cao năng lực chuyên môn sâu:</a:t>
            </a:r>
          </a:p>
          <a:p>
            <a:pPr marL="0" indent="0" algn="just">
              <a:lnSpc>
                <a:spcPct val="11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1. Chuyên môn:</a:t>
            </a:r>
          </a:p>
          <a:p>
            <a:pPr algn="just">
              <a:lnSpc>
                <a:spcPct val="110000"/>
              </a:lnSpc>
            </a:pPr>
            <a:r>
              <a:rPr lang="vi-VN" sz="1800" dirty="0">
                <a:solidFill>
                  <a:srgbClr val="000000"/>
                </a:solidFill>
                <a:latin typeface="Times New Roman" panose="02020603050405020304" pitchFamily="18" charset="0"/>
                <a:cs typeface="Times New Roman" panose="02020603050405020304" pitchFamily="18" charset="0"/>
              </a:rPr>
              <a:t>Tham gia khóa Seismic Inversion/AVO cơ bản (phục vụ nghiên cứa địa tầng)</a:t>
            </a:r>
            <a:r>
              <a:rPr lang="en-US" sz="1800" dirty="0">
                <a:solidFill>
                  <a:srgbClr val="000000"/>
                </a:solidFill>
                <a:latin typeface="Times New Roman" panose="02020603050405020304" pitchFamily="18" charset="0"/>
                <a:cs typeface="Times New Roman" panose="02020603050405020304" pitchFamily="18" charset="0"/>
              </a:rPr>
              <a:t>;</a:t>
            </a:r>
            <a:endParaRPr lang="vi-VN" sz="1800" dirty="0">
              <a:solidFill>
                <a:srgbClr val="000000"/>
              </a:solidFill>
              <a:latin typeface="Times New Roman" panose="02020603050405020304" pitchFamily="18" charset="0"/>
              <a:cs typeface="Times New Roman" panose="02020603050405020304" pitchFamily="18" charset="0"/>
            </a:endParaRPr>
          </a:p>
          <a:p>
            <a:pPr algn="just">
              <a:lnSpc>
                <a:spcPct val="110000"/>
              </a:lnSpc>
            </a:pPr>
            <a:r>
              <a:rPr lang="en-US" sz="1800" dirty="0" err="1">
                <a:solidFill>
                  <a:srgbClr val="000000"/>
                </a:solidFill>
                <a:latin typeface="Times New Roman" panose="02020603050405020304" pitchFamily="18" charset="0"/>
                <a:cs typeface="Times New Roman" panose="02020603050405020304" pitchFamily="18" charset="0"/>
              </a:rPr>
              <a:t>Liên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kết</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chấn</a:t>
            </a:r>
            <a:r>
              <a:rPr lang="en-US" sz="1800" dirty="0">
                <a:solidFill>
                  <a:srgbClr val="000000"/>
                </a:solidFill>
                <a:latin typeface="Times New Roman" panose="02020603050405020304" pitchFamily="18" charset="0"/>
                <a:cs typeface="Times New Roman" panose="02020603050405020304" pitchFamily="18" charset="0"/>
              </a:rPr>
              <a:t> → </a:t>
            </a:r>
            <a:r>
              <a:rPr lang="en-US" sz="1800" dirty="0" err="1">
                <a:solidFill>
                  <a:srgbClr val="000000"/>
                </a:solidFill>
                <a:latin typeface="Times New Roman" panose="02020603050405020304" pitchFamily="18" charset="0"/>
                <a:cs typeface="Times New Roman" panose="02020603050405020304" pitchFamily="18" charset="0"/>
              </a:rPr>
              <a:t>Hệ</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thống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trầm</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tích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Hình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thái</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tầng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chứa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Bẫy</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tầng</a:t>
            </a:r>
            <a:r>
              <a:rPr lang="en-US" sz="1800" dirty="0">
                <a:solidFill>
                  <a:srgbClr val="000000"/>
                </a:solidFill>
                <a:latin typeface="Times New Roman" panose="02020603050405020304" pitchFamily="18" charset="0"/>
                <a:cs typeface="Times New Roman" panose="02020603050405020304" pitchFamily="18" charset="0"/>
              </a:rPr>
              <a:t>:</a:t>
            </a:r>
          </a:p>
          <a:p>
            <a:pPr marL="0" indent="0" algn="just">
              <a:lnSpc>
                <a:spcPct val="110000"/>
              </a:lnSpc>
              <a:buFont typeface="Arial" panose="020B0604020202020204" pitchFamily="34" charset="0"/>
              <a:buNone/>
            </a:pPr>
            <a:r>
              <a:rPr lang="en-US" sz="1800" dirty="0">
                <a:solidFill>
                  <a:srgbClr val="000000"/>
                </a:solidFill>
                <a:latin typeface="Times New Roman" panose="02020603050405020304" pitchFamily="18" charset="0"/>
                <a:cs typeface="Times New Roman" panose="02020603050405020304" pitchFamily="18" charset="0"/>
              </a:rPr>
              <a:t>        - </a:t>
            </a:r>
            <a:r>
              <a:rPr lang="en-US" sz="1800" dirty="0" err="1">
                <a:solidFill>
                  <a:srgbClr val="000000"/>
                </a:solidFill>
                <a:latin typeface="Times New Roman" panose="02020603050405020304" pitchFamily="18" charset="0"/>
                <a:cs typeface="Times New Roman" panose="02020603050405020304" pitchFamily="18" charset="0"/>
              </a:rPr>
              <a:t>Nhận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diện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các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môi</a:t>
            </a:r>
            <a:r>
              <a:rPr lang="en-US" sz="1800" dirty="0">
                <a:solidFill>
                  <a:srgbClr val="000000"/>
                </a:solidFill>
                <a:latin typeface="Times New Roman" panose="02020603050405020304" pitchFamily="18" charset="0"/>
                <a:cs typeface="Times New Roman" panose="02020603050405020304" pitchFamily="18" charset="0"/>
              </a:rPr>
              <a:t> tr</a:t>
            </a:r>
            <a:r>
              <a:rPr lang="vi-VN" sz="1800" dirty="0">
                <a:solidFill>
                  <a:srgbClr val="000000"/>
                </a:solidFill>
                <a:latin typeface="Times New Roman" panose="02020603050405020304" pitchFamily="18" charset="0"/>
                <a:cs typeface="Times New Roman" panose="02020603050405020304" pitchFamily="18" charset="0"/>
              </a:rPr>
              <a:t>ường trầm tích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và</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các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tướng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trầm</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tích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tương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ứng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Môi</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trường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lục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ven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biển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biển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nông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biển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sâu</a:t>
            </a:r>
            <a:r>
              <a:rPr lang="en-US" sz="1800" dirty="0">
                <a:solidFill>
                  <a:srgbClr val="000000"/>
                </a:solidFill>
                <a:latin typeface="Times New Roman" panose="02020603050405020304" pitchFamily="18" charset="0"/>
                <a:cs typeface="Times New Roman" panose="02020603050405020304" pitchFamily="18" charset="0"/>
              </a:rPr>
              <a:t>).</a:t>
            </a:r>
          </a:p>
          <a:p>
            <a:pPr marL="0" indent="0" algn="just">
              <a:lnSpc>
                <a:spcPct val="110000"/>
              </a:lnSpc>
              <a:buFont typeface="Arial" panose="020B0604020202020204" pitchFamily="34" charset="0"/>
              <a:buNone/>
            </a:pPr>
            <a:r>
              <a:rPr lang="en-US" sz="1800" dirty="0">
                <a:solidFill>
                  <a:srgbClr val="000000"/>
                </a:solidFill>
                <a:latin typeface="Times New Roman" panose="02020603050405020304" pitchFamily="18" charset="0"/>
                <a:cs typeface="Times New Roman" panose="02020603050405020304" pitchFamily="18" charset="0"/>
              </a:rPr>
              <a:t>        - </a:t>
            </a:r>
            <a:r>
              <a:rPr lang="en-US" sz="1800" dirty="0" err="1">
                <a:solidFill>
                  <a:srgbClr val="000000"/>
                </a:solidFill>
                <a:latin typeface="Times New Roman" panose="02020603050405020304" pitchFamily="18" charset="0"/>
                <a:cs typeface="Times New Roman" panose="02020603050405020304" pitchFamily="18" charset="0"/>
              </a:rPr>
              <a:t>Sử</a:t>
            </a:r>
            <a:r>
              <a:rPr lang="vi-VN" sz="1800" dirty="0">
                <a:solidFill>
                  <a:srgbClr val="000000"/>
                </a:solidFill>
                <a:latin typeface="Times New Roman" panose="02020603050405020304" pitchFamily="18" charset="0"/>
                <a:cs typeface="Times New Roman" panose="02020603050405020304" pitchFamily="18" charset="0"/>
              </a:rPr>
              <a:t> dụng thành thạo các attribute analysis: </a:t>
            </a:r>
            <a:r>
              <a:rPr lang="en-US" sz="1800" dirty="0">
                <a:solidFill>
                  <a:srgbClr val="000000"/>
                </a:solidFill>
                <a:latin typeface="Times New Roman" panose="02020603050405020304" pitchFamily="18" charset="0"/>
                <a:cs typeface="Times New Roman" panose="02020603050405020304" pitchFamily="18" charset="0"/>
              </a:rPr>
              <a:t>RMS, Instantaneous Phase, Sweetness, Variance, Spectral Decomposition… </a:t>
            </a:r>
            <a:r>
              <a:rPr lang="en-US" sz="1800" dirty="0" err="1">
                <a:solidFill>
                  <a:srgbClr val="000000"/>
                </a:solidFill>
                <a:latin typeface="Times New Roman" panose="02020603050405020304" pitchFamily="18" charset="0"/>
                <a:cs typeface="Times New Roman" panose="02020603050405020304" pitchFamily="18" charset="0"/>
              </a:rPr>
              <a:t>để</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xác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định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các</a:t>
            </a:r>
            <a:r>
              <a:rPr lang="en-US" sz="1800" dirty="0">
                <a:solidFill>
                  <a:srgbClr val="000000"/>
                </a:solidFill>
                <a:latin typeface="Times New Roman" panose="02020603050405020304" pitchFamily="18" charset="0"/>
                <a:cs typeface="Times New Roman" panose="02020603050405020304" pitchFamily="18" charset="0"/>
              </a:rPr>
              <a:t> channel / lobe / </a:t>
            </a:r>
            <a:r>
              <a:rPr lang="en-US" sz="1800" dirty="0" err="1">
                <a:solidFill>
                  <a:srgbClr val="000000"/>
                </a:solidFill>
                <a:latin typeface="Times New Roman" panose="02020603050405020304" pitchFamily="18" charset="0"/>
                <a:cs typeface="Times New Roman" panose="02020603050405020304" pitchFamily="18" charset="0"/>
              </a:rPr>
              <a:t>barform</a:t>
            </a:r>
            <a:r>
              <a:rPr lang="en-US" sz="1800" dirty="0">
                <a:solidFill>
                  <a:srgbClr val="000000"/>
                </a:solidFill>
                <a:latin typeface="Times New Roman" panose="02020603050405020304" pitchFamily="18" charset="0"/>
                <a:cs typeface="Times New Roman" panose="02020603050405020304" pitchFamily="18" charset="0"/>
              </a:rPr>
              <a:t> / carbonate edge </a:t>
            </a:r>
            <a:r>
              <a:rPr lang="en-US" sz="1800" dirty="0" err="1">
                <a:solidFill>
                  <a:srgbClr val="000000"/>
                </a:solidFill>
                <a:latin typeface="Times New Roman" panose="02020603050405020304" pitchFamily="18" charset="0"/>
                <a:cs typeface="Times New Roman" panose="02020603050405020304" pitchFamily="18" charset="0"/>
              </a:rPr>
              <a:t>và</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đánh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giá</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các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yếu</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tố</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chứa</a:t>
            </a:r>
            <a:r>
              <a:rPr lang="vi-VN" sz="1800" dirty="0">
                <a:solidFill>
                  <a:srgbClr val="000000"/>
                </a:solidFill>
                <a:latin typeface="Times New Roman" panose="02020603050405020304" pitchFamily="18" charset="0"/>
                <a:cs typeface="Times New Roman" panose="02020603050405020304" pitchFamily="18" charset="0"/>
              </a:rPr>
              <a:t>, chắn</a:t>
            </a:r>
            <a:r>
              <a:rPr lang="en-US" sz="1800" dirty="0">
                <a:solidFill>
                  <a:srgbClr val="000000"/>
                </a:solidFill>
                <a:latin typeface="Times New Roman" panose="02020603050405020304" pitchFamily="18" charset="0"/>
                <a:cs typeface="Times New Roman" panose="02020603050405020304" pitchFamily="18" charset="0"/>
              </a:rPr>
              <a:t>.</a:t>
            </a:r>
          </a:p>
          <a:p>
            <a:pPr marL="0" indent="0" algn="just">
              <a:lnSpc>
                <a:spcPct val="110000"/>
              </a:lnSpc>
              <a:buFont typeface="Arial" panose="020B0604020202020204" pitchFamily="34" charset="0"/>
              <a:buNone/>
            </a:pPr>
            <a:r>
              <a:rPr lang="en-US" sz="1800" dirty="0">
                <a:solidFill>
                  <a:srgbClr val="000000"/>
                </a:solidFill>
                <a:latin typeface="Times New Roman" panose="02020603050405020304" pitchFamily="18" charset="0"/>
                <a:cs typeface="Times New Roman" panose="02020603050405020304" pitchFamily="18" charset="0"/>
              </a:rPr>
              <a:t>        - Minh </a:t>
            </a:r>
            <a:r>
              <a:rPr lang="en-US" sz="1800" dirty="0" err="1">
                <a:solidFill>
                  <a:srgbClr val="000000"/>
                </a:solidFill>
                <a:latin typeface="Times New Roman" panose="02020603050405020304" pitchFamily="18" charset="0"/>
                <a:cs typeface="Times New Roman" panose="02020603050405020304" pitchFamily="18" charset="0"/>
              </a:rPr>
              <a:t>giải</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thuộc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tính</a:t>
            </a:r>
            <a:r>
              <a:rPr lang="en-US" sz="1800" dirty="0">
                <a:solidFill>
                  <a:srgbClr val="000000"/>
                </a:solidFill>
                <a:latin typeface="Times New Roman" panose="02020603050405020304" pitchFamily="18" charset="0"/>
                <a:cs typeface="Times New Roman" panose="02020603050405020304" pitchFamily="18" charset="0"/>
              </a:rPr>
              <a:t> AVO (c</a:t>
            </a:r>
            <a:r>
              <a:rPr lang="vi-VN" sz="1800" dirty="0">
                <a:solidFill>
                  <a:srgbClr val="000000"/>
                </a:solidFill>
                <a:latin typeface="Times New Roman" panose="02020603050405020304" pitchFamily="18" charset="0"/>
                <a:cs typeface="Times New Roman" panose="02020603050405020304" pitchFamily="18" charset="0"/>
              </a:rPr>
              <a:t>ơ bản)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hỗ</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trợ</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xác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định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thạch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học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và</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chất</a:t>
            </a:r>
            <a:r>
              <a:rPr lang="en-US" sz="1800" dirty="0">
                <a:solidFill>
                  <a:srgbClr val="000000"/>
                </a:solidFill>
                <a:latin typeface="Times New Roman" panose="02020603050405020304" pitchFamily="18" charset="0"/>
                <a:cs typeface="Times New Roman" panose="02020603050405020304" pitchFamily="18" charset="0"/>
              </a:rPr>
              <a:t> l</a:t>
            </a:r>
            <a:r>
              <a:rPr lang="vi-VN" sz="1800" dirty="0">
                <a:solidFill>
                  <a:srgbClr val="000000"/>
                </a:solidFill>
                <a:latin typeface="Times New Roman" panose="02020603050405020304" pitchFamily="18" charset="0"/>
                <a:cs typeface="Times New Roman" panose="02020603050405020304" pitchFamily="18" charset="0"/>
              </a:rPr>
              <a:t>ưu </a:t>
            </a:r>
            <a:r>
              <a:rPr lang="en-US" sz="1800" dirty="0" err="1">
                <a:solidFill>
                  <a:srgbClr val="000000"/>
                </a:solidFill>
                <a:latin typeface="Times New Roman" panose="02020603050405020304" pitchFamily="18" charset="0"/>
                <a:cs typeface="Times New Roman" panose="02020603050405020304" pitchFamily="18" charset="0"/>
              </a:rPr>
              <a:t>trong</a:t>
            </a:r>
            <a:r>
              <a:rPr lang="en-US" sz="1800" dirty="0">
                <a:solidFill>
                  <a:srgbClr val="000000"/>
                </a:solidFill>
                <a:latin typeface="Times New Roman" panose="02020603050405020304" pitchFamily="18" charset="0"/>
                <a:cs typeface="Times New Roman" panose="02020603050405020304" pitchFamily="18" charset="0"/>
              </a:rPr>
              <a:t> </a:t>
            </a:r>
            <a:r>
              <a:rPr lang="vi-VN" sz="1800" dirty="0">
                <a:solidFill>
                  <a:srgbClr val="000000"/>
                </a:solidFill>
                <a:latin typeface="Times New Roman" panose="02020603050405020304" pitchFamily="18" charset="0"/>
                <a:cs typeface="Times New Roman" panose="02020603050405020304" pitchFamily="18" charset="0"/>
              </a:rPr>
              <a:t>cấu </a:t>
            </a:r>
            <a:r>
              <a:rPr lang="en-US" sz="1800" dirty="0" err="1">
                <a:solidFill>
                  <a:srgbClr val="000000"/>
                </a:solidFill>
                <a:latin typeface="Times New Roman" panose="02020603050405020304" pitchFamily="18" charset="0"/>
                <a:cs typeface="Times New Roman" panose="02020603050405020304" pitchFamily="18" charset="0"/>
              </a:rPr>
              <a:t>tạo</a:t>
            </a:r>
            <a:r>
              <a:rPr lang="en-US" sz="1800" dirty="0">
                <a:solidFill>
                  <a:srgbClr val="000000"/>
                </a:solidFill>
                <a:latin typeface="Times New Roman" panose="02020603050405020304" pitchFamily="18" charset="0"/>
                <a:cs typeface="Times New Roman" panose="02020603050405020304" pitchFamily="18" charset="0"/>
              </a:rPr>
              <a:t>.</a:t>
            </a:r>
          </a:p>
          <a:p>
            <a:pPr algn="just">
              <a:lnSpc>
                <a:spcPct val="110000"/>
              </a:lnSpc>
            </a:pPr>
            <a:r>
              <a:rPr lang="en-US" sz="1800" dirty="0" err="1">
                <a:solidFill>
                  <a:srgbClr val="000000"/>
                </a:solidFill>
                <a:latin typeface="Times New Roman" panose="02020603050405020304" pitchFamily="18" charset="0"/>
                <a:cs typeface="Times New Roman" panose="02020603050405020304" pitchFamily="18" charset="0"/>
              </a:rPr>
              <a:t>Áp</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dụng</a:t>
            </a:r>
            <a:r>
              <a:rPr lang="en-US" sz="1800" dirty="0">
                <a:solidFill>
                  <a:srgbClr val="000000"/>
                </a:solidFill>
                <a:latin typeface="Times New Roman" panose="02020603050405020304" pitchFamily="18" charset="0"/>
                <a:cs typeface="Times New Roman" panose="02020603050405020304" pitchFamily="18" charset="0"/>
              </a:rPr>
              <a:t> </a:t>
            </a:r>
            <a:r>
              <a:rPr lang="vi-VN" sz="1800" dirty="0">
                <a:solidFill>
                  <a:srgbClr val="000000"/>
                </a:solidFill>
                <a:latin typeface="Times New Roman" panose="02020603050405020304" pitchFamily="18" charset="0"/>
                <a:cs typeface="Times New Roman" panose="02020603050405020304" pitchFamily="18" charset="0"/>
              </a:rPr>
              <a:t>các nội dung đã học vào trong nhiệm vụ thực tiễn của đơn vị, có báo cáo, trình bày kết quả với mentor.</a:t>
            </a:r>
          </a:p>
          <a:p>
            <a:pPr marL="0" indent="0" algn="just">
              <a:lnSpc>
                <a:spcPct val="11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2. Tiếng Anh </a:t>
            </a:r>
          </a:p>
          <a:p>
            <a:pPr algn="just">
              <a:lnSpc>
                <a:spcPct val="110000"/>
              </a:lnSpc>
            </a:pPr>
            <a:r>
              <a:rPr lang="vi-VN" sz="1800" dirty="0">
                <a:solidFill>
                  <a:srgbClr val="000000"/>
                </a:solidFill>
                <a:latin typeface="Times New Roman" panose="02020603050405020304" pitchFamily="18" charset="0"/>
                <a:cs typeface="Times New Roman" panose="02020603050405020304" pitchFamily="18" charset="0"/>
              </a:rPr>
              <a:t>Toeic listening và Reading hướng tới 750- 800 điểm, Speaking/Writing: 200</a:t>
            </a:r>
          </a:p>
          <a:p>
            <a:pPr marL="0" indent="0" algn="just">
              <a:lnSpc>
                <a:spcPct val="11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3. Kỹ năng mềm &amp; nội bộ</a:t>
            </a:r>
          </a:p>
          <a:p>
            <a:pPr algn="just">
              <a:lnSpc>
                <a:spcPct val="110000"/>
              </a:lnSpc>
            </a:pPr>
            <a:r>
              <a:rPr lang="vi-VN" sz="1800" dirty="0">
                <a:solidFill>
                  <a:srgbClr val="000000"/>
                </a:solidFill>
                <a:latin typeface="Times New Roman" panose="02020603050405020304" pitchFamily="18" charset="0"/>
                <a:cs typeface="Times New Roman" panose="02020603050405020304" pitchFamily="18" charset="0"/>
              </a:rPr>
              <a:t>Chia sẻ  nội  bộ  về chủ đề: “Minh giải thuộc tính địa chấn trong xác định các cấu tạo tiềm năng”.</a:t>
            </a:r>
          </a:p>
          <a:p>
            <a:pPr algn="just">
              <a:lnSpc>
                <a:spcPct val="110000"/>
              </a:lnSpc>
            </a:pPr>
            <a:r>
              <a:rPr lang="vi-VN" sz="1800" dirty="0">
                <a:solidFill>
                  <a:srgbClr val="000000"/>
                </a:solidFill>
                <a:latin typeface="Times New Roman" panose="02020603050405020304" pitchFamily="18" charset="0"/>
                <a:cs typeface="Times New Roman" panose="02020603050405020304" pitchFamily="18" charset="0"/>
              </a:rPr>
              <a:t>Nhận đánh giá từ lãnh đạo/mentor để điều chỉnh năng lực.</a:t>
            </a:r>
          </a:p>
          <a:p>
            <a:pPr marL="0" indent="0" algn="just">
              <a:lnSpc>
                <a:spcPct val="110000"/>
              </a:lnSpc>
              <a:buFont typeface="Arial" panose="020B0604020202020204" pitchFamily="34" charset="0"/>
              <a:buNone/>
            </a:pPr>
            <a:endParaRPr lang="vi-VN" sz="1800" b="1" dirty="0">
              <a:solidFill>
                <a:srgbClr val="000000"/>
              </a:solidFill>
              <a:latin typeface="Times New Roman" panose="02020603050405020304" pitchFamily="18" charset="0"/>
              <a:cs typeface="Times New Roman" panose="02020603050405020304" pitchFamily="18" charset="0"/>
            </a:endParaRPr>
          </a:p>
          <a:p>
            <a:pPr marL="0" indent="0" algn="just">
              <a:lnSpc>
                <a:spcPct val="110000"/>
              </a:lnSpc>
              <a:buFont typeface="Arial" panose="020B0604020202020204" pitchFamily="34" charset="0"/>
              <a:buNone/>
            </a:pPr>
            <a:endParaRPr lang="en-V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4719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77B1F217-3FD4-2F18-8443-9560CF2AF1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16" name="think-cell data - do not delete" hidden="1">
                        <a:extLst>
                          <a:ext uri="{FF2B5EF4-FFF2-40B4-BE49-F238E27FC236}">
                            <a16:creationId xmlns:a16="http://schemas.microsoft.com/office/drawing/2014/main" id="{77B1F217-3FD4-2F18-8443-9560CF2AF11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TextBox 21"/>
          <p:cNvSpPr txBox="1"/>
          <p:nvPr/>
        </p:nvSpPr>
        <p:spPr>
          <a:xfrm>
            <a:off x="-152400" y="-71767"/>
            <a:ext cx="4869991" cy="503567"/>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AutoShape 1">
            <a:extLst>
              <a:ext uri="{FF2B5EF4-FFF2-40B4-BE49-F238E27FC236}">
                <a16:creationId xmlns:a16="http://schemas.microsoft.com/office/drawing/2014/main" id="{FD8AF0CA-CDEA-899B-5820-CC8F32E200C3}"/>
              </a:ext>
            </a:extLst>
          </p:cNvPr>
          <p:cNvSpPr>
            <a:spLocks/>
          </p:cNvSpPr>
          <p:nvPr/>
        </p:nvSpPr>
        <p:spPr bwMode="auto">
          <a:xfrm>
            <a:off x="826294" y="16410"/>
            <a:ext cx="11365706" cy="5935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r>
              <a:rPr lang="en-VN" sz="3600" dirty="0">
                <a:latin typeface="Times New Roman" panose="02020603050405020304" pitchFamily="18" charset="0"/>
                <a:cs typeface="Times New Roman" panose="02020603050405020304" pitchFamily="18" charset="0"/>
              </a:rPr>
              <a:t>CHECKPOINT</a:t>
            </a:r>
            <a:endParaRPr kumimoji="0" lang="es-ES" sz="1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4" name="Slide Number Placeholder 5">
            <a:extLst>
              <a:ext uri="{FF2B5EF4-FFF2-40B4-BE49-F238E27FC236}">
                <a16:creationId xmlns:a16="http://schemas.microsoft.com/office/drawing/2014/main" id="{8021663B-8D7D-E2FB-7D56-4487F5D0961A}"/>
              </a:ext>
            </a:extLst>
          </p:cNvPr>
          <p:cNvSpPr txBox="1">
            <a:spLocks/>
          </p:cNvSpPr>
          <p:nvPr/>
        </p:nvSpPr>
        <p:spPr>
          <a:xfrm>
            <a:off x="11582400" y="6611187"/>
            <a:ext cx="609600" cy="213360"/>
          </a:xfrm>
          <a:prstGeom prst="rect">
            <a:avLst/>
          </a:prstGeom>
        </p:spPr>
        <p:txBody>
          <a:bodyPr>
            <a:no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0CFDCA-984A-49CD-9ECB-CD1CAA1CFBB4}" type="slidenum">
              <a:rPr kumimoji="0" lang="en-US" sz="1000" b="0" i="0" u="none" strike="noStrike" kern="1200" cap="none" spc="0" normalizeH="0" baseline="0" noProof="0" smtClean="0">
                <a:ln>
                  <a:noFill/>
                </a:ln>
                <a:solidFill>
                  <a:srgbClr val="000099"/>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sz="1000" b="0" i="0" u="none" strike="noStrike" kern="1200" cap="none" spc="0" normalizeH="0" baseline="0" noProof="0">
              <a:ln>
                <a:noFill/>
              </a:ln>
              <a:solidFill>
                <a:srgbClr val="000099"/>
              </a:solidFill>
              <a:effectLst/>
              <a:uLnTx/>
              <a:uFillTx/>
              <a:latin typeface="Arial" charset="0"/>
              <a:ea typeface="+mn-ea"/>
              <a:cs typeface="Arial" charset="0"/>
            </a:endParaRPr>
          </a:p>
        </p:txBody>
      </p:sp>
      <p:pic>
        <p:nvPicPr>
          <p:cNvPr id="9" name="Picture 8" descr="A green and blue logo&#10;&#10;AI-generated content may be incorrect.">
            <a:extLst>
              <a:ext uri="{FF2B5EF4-FFF2-40B4-BE49-F238E27FC236}">
                <a16:creationId xmlns:a16="http://schemas.microsoft.com/office/drawing/2014/main" id="{CDDF62F1-5513-4E90-2162-B2AFAE22CB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918" y="102212"/>
            <a:ext cx="508850" cy="520753"/>
          </a:xfrm>
          <a:prstGeom prst="rect">
            <a:avLst/>
          </a:prstGeom>
        </p:spPr>
      </p:pic>
      <p:sp>
        <p:nvSpPr>
          <p:cNvPr id="2" name="Content Placeholder 2">
            <a:extLst>
              <a:ext uri="{FF2B5EF4-FFF2-40B4-BE49-F238E27FC236}">
                <a16:creationId xmlns:a16="http://schemas.microsoft.com/office/drawing/2014/main" id="{DFBF3AB7-89BB-2E3C-187E-453591C19280}"/>
              </a:ext>
            </a:extLst>
          </p:cNvPr>
          <p:cNvSpPr txBox="1">
            <a:spLocks/>
          </p:cNvSpPr>
          <p:nvPr/>
        </p:nvSpPr>
        <p:spPr>
          <a:xfrm>
            <a:off x="345343" y="832162"/>
            <a:ext cx="11384665" cy="592362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Qúy 3 (Tháng 7–9): Tiếp tục củng cố chuyên môn &amp; mở rộng năng lực</a:t>
            </a:r>
          </a:p>
          <a:p>
            <a:pPr marL="0" indent="0" algn="just">
              <a:lnSpc>
                <a:spcPct val="11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1. Chuyên môn:</a:t>
            </a:r>
          </a:p>
          <a:p>
            <a:pPr algn="just">
              <a:lnSpc>
                <a:spcPct val="110000"/>
              </a:lnSpc>
            </a:pPr>
            <a:r>
              <a:rPr lang="vi-VN" sz="1800" dirty="0">
                <a:solidFill>
                  <a:srgbClr val="000000"/>
                </a:solidFill>
                <a:latin typeface="Times New Roman" panose="02020603050405020304" pitchFamily="18" charset="0"/>
                <a:cs typeface="Times New Roman" panose="02020603050405020304" pitchFamily="18" charset="0"/>
              </a:rPr>
              <a:t>Xây dựng bản đồ rủi ro ban đầu </a:t>
            </a:r>
            <a:r>
              <a:rPr lang="vi-VN" sz="1800" b="1" dirty="0">
                <a:solidFill>
                  <a:srgbClr val="000000"/>
                </a:solidFill>
                <a:latin typeface="Times New Roman" panose="02020603050405020304" pitchFamily="18" charset="0"/>
                <a:cs typeface="Times New Roman" panose="02020603050405020304" pitchFamily="18" charset="0"/>
              </a:rPr>
              <a:t>(</a:t>
            </a:r>
            <a:r>
              <a:rPr lang="vi-VN" sz="1800" dirty="0">
                <a:solidFill>
                  <a:srgbClr val="000000"/>
                </a:solidFill>
                <a:latin typeface="Times New Roman" panose="02020603050405020304" pitchFamily="18" charset="0"/>
                <a:cs typeface="Times New Roman" panose="02020603050405020304" pitchFamily="18" charset="0"/>
              </a:rPr>
              <a:t>reservoir- trap- seal</a:t>
            </a:r>
            <a:r>
              <a:rPr lang="en-US" sz="1800" dirty="0">
                <a:solidFill>
                  <a:srgbClr val="000000"/>
                </a:solidFill>
                <a:latin typeface="Times New Roman" panose="02020603050405020304" pitchFamily="18" charset="0"/>
                <a:cs typeface="Times New Roman" panose="02020603050405020304" pitchFamily="18" charset="0"/>
              </a:rPr>
              <a:t> </a:t>
            </a:r>
            <a:r>
              <a:rPr lang="vi-VN" sz="1800" dirty="0">
                <a:solidFill>
                  <a:srgbClr val="000000"/>
                </a:solidFill>
                <a:latin typeface="Times New Roman" panose="02020603050405020304" pitchFamily="18" charset="0"/>
                <a:cs typeface="Times New Roman" panose="02020603050405020304" pitchFamily="18" charset="0"/>
              </a:rPr>
              <a:t>risk</a:t>
            </a:r>
            <a:r>
              <a:rPr lang="vi-VN" sz="1800" b="1" dirty="0">
                <a:solidFill>
                  <a:srgbClr val="000000"/>
                </a:solidFill>
                <a:latin typeface="Times New Roman" panose="02020603050405020304" pitchFamily="18" charset="0"/>
                <a:cs typeface="Times New Roman" panose="02020603050405020304" pitchFamily="18" charset="0"/>
              </a:rPr>
              <a:t>)</a:t>
            </a:r>
            <a:r>
              <a:rPr lang="vi-VN" sz="1800" dirty="0">
                <a:solidFill>
                  <a:srgbClr val="000000"/>
                </a:solidFill>
                <a:latin typeface="Times New Roman" panose="02020603050405020304" pitchFamily="18" charset="0"/>
                <a:cs typeface="Times New Roman" panose="02020603050405020304" pitchFamily="18" charset="0"/>
              </a:rPr>
              <a:t> cho khu vực có bẫy địa tầng.</a:t>
            </a:r>
          </a:p>
          <a:p>
            <a:pPr algn="l"/>
            <a:r>
              <a:rPr lang="vi-VN" sz="1800" dirty="0">
                <a:solidFill>
                  <a:srgbClr val="000000"/>
                </a:solidFill>
                <a:latin typeface="Times New Roman" panose="02020603050405020304" pitchFamily="18" charset="0"/>
                <a:cs typeface="Times New Roman" panose="02020603050405020304" pitchFamily="18" charset="0"/>
              </a:rPr>
              <a:t>Áp dụng các nội dung đã học vào trong nhiệm vụ thực tiễn của đơn vị, có báo cáo, trình bày kết quả với mentor.</a:t>
            </a:r>
          </a:p>
          <a:p>
            <a:pPr marL="0" indent="0" algn="just">
              <a:lnSpc>
                <a:spcPct val="110000"/>
              </a:lnSpc>
              <a:buFont typeface="Arial" panose="020B0604020202020204" pitchFamily="34" charset="0"/>
              <a:buNone/>
            </a:pPr>
            <a:r>
              <a:rPr lang="vi-VN" sz="1800" dirty="0">
                <a:solidFill>
                  <a:srgbClr val="000000"/>
                </a:solidFill>
                <a:latin typeface="Times New Roman" panose="02020603050405020304" pitchFamily="18" charset="0"/>
                <a:cs typeface="Times New Roman" panose="02020603050405020304" pitchFamily="18" charset="0"/>
              </a:rPr>
              <a:t>2. Tiếng Anh:</a:t>
            </a:r>
          </a:p>
          <a:p>
            <a:pPr algn="just">
              <a:lnSpc>
                <a:spcPct val="110000"/>
              </a:lnSpc>
            </a:pPr>
            <a:r>
              <a:rPr lang="vi-VN" sz="1800" dirty="0">
                <a:solidFill>
                  <a:srgbClr val="000000"/>
                </a:solidFill>
                <a:latin typeface="Times New Roman" panose="02020603050405020304" pitchFamily="18" charset="0"/>
                <a:cs typeface="Times New Roman" panose="02020603050405020304" pitchFamily="18" charset="0"/>
              </a:rPr>
              <a:t>Củng cố Toeic listening và Reading để tăng lên 800 điểm, Speaking/Writing: 250-280</a:t>
            </a:r>
          </a:p>
          <a:p>
            <a:pPr marL="0" indent="0" algn="just">
              <a:lnSpc>
                <a:spcPct val="11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3. Kỹ năng mềm &amp; nội bộ</a:t>
            </a:r>
          </a:p>
          <a:p>
            <a:pPr algn="just">
              <a:lnSpc>
                <a:spcPct val="110000"/>
              </a:lnSpc>
            </a:pPr>
            <a:r>
              <a:rPr lang="vi-VN" sz="1800" dirty="0">
                <a:solidFill>
                  <a:srgbClr val="000000"/>
                </a:solidFill>
                <a:latin typeface="Times New Roman" panose="02020603050405020304" pitchFamily="18" charset="0"/>
                <a:cs typeface="Times New Roman" panose="02020603050405020304" pitchFamily="18" charset="0"/>
              </a:rPr>
              <a:t>Chia sẻ chủ đề: “Minh giải địa chấn địa tầng”.</a:t>
            </a:r>
          </a:p>
          <a:p>
            <a:pPr algn="just">
              <a:lnSpc>
                <a:spcPct val="110000"/>
              </a:lnSpc>
            </a:pPr>
            <a:r>
              <a:rPr lang="vi-VN" sz="1800" dirty="0">
                <a:solidFill>
                  <a:srgbClr val="000000"/>
                </a:solidFill>
                <a:latin typeface="Times New Roman" panose="02020603050405020304" pitchFamily="18" charset="0"/>
                <a:cs typeface="Times New Roman" panose="02020603050405020304" pitchFamily="18" charset="0"/>
              </a:rPr>
              <a:t>Nhận feedback từ lãnh đạo/mentor, rút kinh nghiệm cho phần tổng kết năm.</a:t>
            </a:r>
            <a:endParaRPr lang="en-V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2686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77B1F217-3FD4-2F18-8443-9560CF2AF1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16" name="think-cell data - do not delete" hidden="1">
                        <a:extLst>
                          <a:ext uri="{FF2B5EF4-FFF2-40B4-BE49-F238E27FC236}">
                            <a16:creationId xmlns:a16="http://schemas.microsoft.com/office/drawing/2014/main" id="{77B1F217-3FD4-2F18-8443-9560CF2AF11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TextBox 21"/>
          <p:cNvSpPr txBox="1"/>
          <p:nvPr/>
        </p:nvSpPr>
        <p:spPr>
          <a:xfrm>
            <a:off x="-152400" y="-71767"/>
            <a:ext cx="4869991" cy="503567"/>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AutoShape 1">
            <a:extLst>
              <a:ext uri="{FF2B5EF4-FFF2-40B4-BE49-F238E27FC236}">
                <a16:creationId xmlns:a16="http://schemas.microsoft.com/office/drawing/2014/main" id="{FD8AF0CA-CDEA-899B-5820-CC8F32E200C3}"/>
              </a:ext>
            </a:extLst>
          </p:cNvPr>
          <p:cNvSpPr>
            <a:spLocks/>
          </p:cNvSpPr>
          <p:nvPr/>
        </p:nvSpPr>
        <p:spPr bwMode="auto">
          <a:xfrm>
            <a:off x="826294" y="16410"/>
            <a:ext cx="11365706" cy="5935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r>
              <a:rPr lang="en-VN" sz="3600" dirty="0">
                <a:latin typeface="Times New Roman" panose="02020603050405020304" pitchFamily="18" charset="0"/>
                <a:cs typeface="Times New Roman" panose="02020603050405020304" pitchFamily="18" charset="0"/>
              </a:rPr>
              <a:t>CHECKPOINT</a:t>
            </a:r>
            <a:endParaRPr kumimoji="0" lang="es-ES" sz="1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4" name="Slide Number Placeholder 5">
            <a:extLst>
              <a:ext uri="{FF2B5EF4-FFF2-40B4-BE49-F238E27FC236}">
                <a16:creationId xmlns:a16="http://schemas.microsoft.com/office/drawing/2014/main" id="{8021663B-8D7D-E2FB-7D56-4487F5D0961A}"/>
              </a:ext>
            </a:extLst>
          </p:cNvPr>
          <p:cNvSpPr txBox="1">
            <a:spLocks/>
          </p:cNvSpPr>
          <p:nvPr/>
        </p:nvSpPr>
        <p:spPr>
          <a:xfrm>
            <a:off x="11582400" y="6611187"/>
            <a:ext cx="609600" cy="213360"/>
          </a:xfrm>
          <a:prstGeom prst="rect">
            <a:avLst/>
          </a:prstGeom>
        </p:spPr>
        <p:txBody>
          <a:bodyPr>
            <a:no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0CFDCA-984A-49CD-9ECB-CD1CAA1CFBB4}" type="slidenum">
              <a:rPr kumimoji="0" lang="en-US" sz="1000" b="0" i="0" u="none" strike="noStrike" kern="1200" cap="none" spc="0" normalizeH="0" baseline="0" noProof="0" smtClean="0">
                <a:ln>
                  <a:noFill/>
                </a:ln>
                <a:solidFill>
                  <a:srgbClr val="000099"/>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sz="1000" b="0" i="0" u="none" strike="noStrike" kern="1200" cap="none" spc="0" normalizeH="0" baseline="0" noProof="0">
              <a:ln>
                <a:noFill/>
              </a:ln>
              <a:solidFill>
                <a:srgbClr val="000099"/>
              </a:solidFill>
              <a:effectLst/>
              <a:uLnTx/>
              <a:uFillTx/>
              <a:latin typeface="Arial" charset="0"/>
              <a:ea typeface="+mn-ea"/>
              <a:cs typeface="Arial" charset="0"/>
            </a:endParaRPr>
          </a:p>
        </p:txBody>
      </p:sp>
      <p:pic>
        <p:nvPicPr>
          <p:cNvPr id="9" name="Picture 8" descr="A green and blue logo&#10;&#10;AI-generated content may be incorrect.">
            <a:extLst>
              <a:ext uri="{FF2B5EF4-FFF2-40B4-BE49-F238E27FC236}">
                <a16:creationId xmlns:a16="http://schemas.microsoft.com/office/drawing/2014/main" id="{CDDF62F1-5513-4E90-2162-B2AFAE22CB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918" y="102212"/>
            <a:ext cx="508850" cy="520753"/>
          </a:xfrm>
          <a:prstGeom prst="rect">
            <a:avLst/>
          </a:prstGeom>
        </p:spPr>
      </p:pic>
      <p:sp>
        <p:nvSpPr>
          <p:cNvPr id="2" name="Content Placeholder 2">
            <a:extLst>
              <a:ext uri="{FF2B5EF4-FFF2-40B4-BE49-F238E27FC236}">
                <a16:creationId xmlns:a16="http://schemas.microsoft.com/office/drawing/2014/main" id="{843535E1-F351-06CE-D490-0F2FEDD76C2E}"/>
              </a:ext>
            </a:extLst>
          </p:cNvPr>
          <p:cNvSpPr txBox="1">
            <a:spLocks/>
          </p:cNvSpPr>
          <p:nvPr/>
        </p:nvSpPr>
        <p:spPr>
          <a:xfrm>
            <a:off x="490959" y="934374"/>
            <a:ext cx="11384665" cy="574421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Qúy 4 (Tháng 10–12): Hoàn thiện năng lực &amp; Tổng kết kết quả</a:t>
            </a:r>
          </a:p>
          <a:p>
            <a:pPr marL="0" indent="0">
              <a:lnSpc>
                <a:spcPct val="10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1. Chuyên môn</a:t>
            </a:r>
          </a:p>
          <a:p>
            <a:pPr>
              <a:lnSpc>
                <a:spcPct val="100000"/>
              </a:lnSpc>
            </a:pPr>
            <a:r>
              <a:rPr lang="vi-VN" sz="1800" dirty="0">
                <a:solidFill>
                  <a:srgbClr val="000000"/>
                </a:solidFill>
                <a:latin typeface="Times New Roman" panose="02020603050405020304" pitchFamily="18" charset="0"/>
                <a:cs typeface="Times New Roman" panose="02020603050405020304" pitchFamily="18" charset="0"/>
              </a:rPr>
              <a:t>Hoàn  thiện </a:t>
            </a:r>
            <a:r>
              <a:rPr lang="en-US" sz="1800" dirty="0" err="1">
                <a:solidFill>
                  <a:srgbClr val="000000"/>
                </a:solidFill>
                <a:latin typeface="Times New Roman" panose="02020603050405020304" pitchFamily="18" charset="0"/>
                <a:cs typeface="Times New Roman" panose="02020603050405020304" pitchFamily="18" charset="0"/>
              </a:rPr>
              <a:t>quy</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trình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minh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giải</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chấn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địa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tầng</a:t>
            </a:r>
            <a:r>
              <a:rPr lang="vi-VN" sz="1800" b="1" dirty="0">
                <a:solidFill>
                  <a:srgbClr val="000000"/>
                </a:solidFill>
                <a:latin typeface="Times New Roman" panose="02020603050405020304" pitchFamily="18" charset="0"/>
                <a:cs typeface="Times New Roman" panose="02020603050405020304" pitchFamily="18" charset="0"/>
              </a:rPr>
              <a:t>:</a:t>
            </a:r>
          </a:p>
          <a:p>
            <a:pPr marL="0" indent="0">
              <a:lnSpc>
                <a:spcPct val="100000"/>
              </a:lnSpc>
              <a:buFont typeface="Arial" panose="020B0604020202020204" pitchFamily="34" charset="0"/>
              <a:buNone/>
            </a:pPr>
            <a:r>
              <a:rPr lang="en-US" sz="1800" dirty="0" err="1">
                <a:solidFill>
                  <a:srgbClr val="000000"/>
                </a:solidFill>
                <a:latin typeface="Times New Roman" panose="02020603050405020304" pitchFamily="18" charset="0"/>
                <a:cs typeface="Times New Roman" panose="02020603050405020304" pitchFamily="18" charset="0"/>
              </a:rPr>
              <a:t>Từ</a:t>
            </a:r>
            <a:r>
              <a:rPr lang="en-US" sz="1800" dirty="0">
                <a:solidFill>
                  <a:srgbClr val="000000"/>
                </a:solidFill>
                <a:latin typeface="Times New Roman" panose="02020603050405020304" pitchFamily="18" charset="0"/>
                <a:cs typeface="Times New Roman" panose="02020603050405020304" pitchFamily="18" charset="0"/>
              </a:rPr>
              <a:t> data QC → attributes/seismic facies → sequence stratigraphy → depositional model → stratigraphic traps → risk map </a:t>
            </a:r>
            <a:r>
              <a:rPr lang="en-US" sz="1800" dirty="0" err="1">
                <a:solidFill>
                  <a:srgbClr val="000000"/>
                </a:solidFill>
                <a:latin typeface="Times New Roman" panose="02020603050405020304" pitchFamily="18" charset="0"/>
                <a:cs typeface="Times New Roman" panose="02020603050405020304" pitchFamily="18" charset="0"/>
              </a:rPr>
              <a:t>cho</a:t>
            </a:r>
            <a:r>
              <a:rPr lang="en-US" sz="1800" dirty="0">
                <a:solidFill>
                  <a:srgbClr val="000000"/>
                </a:solidFill>
                <a:latin typeface="Times New Roman" panose="02020603050405020304" pitchFamily="18" charset="0"/>
                <a:cs typeface="Times New Roman" panose="02020603050405020304" pitchFamily="18" charset="0"/>
              </a:rPr>
              <a:t> 1 </a:t>
            </a:r>
            <a:r>
              <a:rPr lang="en-US" sz="1800" dirty="0" err="1">
                <a:solidFill>
                  <a:srgbClr val="000000"/>
                </a:solidFill>
                <a:latin typeface="Times New Roman" panose="02020603050405020304" pitchFamily="18" charset="0"/>
                <a:cs typeface="Times New Roman" panose="02020603050405020304" pitchFamily="18" charset="0"/>
              </a:rPr>
              <a:t>khu</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vực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cụ</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thể</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dự</a:t>
            </a:r>
            <a:r>
              <a:rPr lang="vi-VN" sz="1800" dirty="0">
                <a:solidFill>
                  <a:srgbClr val="000000"/>
                </a:solidFill>
                <a:latin typeface="Times New Roman" panose="02020603050405020304" pitchFamily="18" charset="0"/>
                <a:cs typeface="Times New Roman" panose="02020603050405020304" pitchFamily="18" charset="0"/>
              </a:rPr>
              <a:t> án lô 46/13)</a:t>
            </a:r>
            <a:endParaRPr lang="en-US" sz="1800" dirty="0">
              <a:solidFill>
                <a:srgbClr val="000000"/>
              </a:solidFill>
              <a:latin typeface="Times New Roman" panose="02020603050405020304" pitchFamily="18" charset="0"/>
              <a:cs typeface="Times New Roman" panose="02020603050405020304" pitchFamily="18" charset="0"/>
            </a:endParaRPr>
          </a:p>
          <a:p>
            <a:pPr>
              <a:lnSpc>
                <a:spcPct val="100000"/>
              </a:lnSpc>
            </a:pPr>
            <a:r>
              <a:rPr lang="en-US" sz="1800" dirty="0">
                <a:solidFill>
                  <a:srgbClr val="000000"/>
                </a:solidFill>
                <a:latin typeface="Times New Roman" panose="02020603050405020304" pitchFamily="18" charset="0"/>
                <a:cs typeface="Times New Roman" panose="02020603050405020304" pitchFamily="18" charset="0"/>
              </a:rPr>
              <a:t>Th</a:t>
            </a:r>
            <a:r>
              <a:rPr lang="vi-VN" sz="1800" dirty="0">
                <a:solidFill>
                  <a:srgbClr val="000000"/>
                </a:solidFill>
                <a:latin typeface="Times New Roman" panose="02020603050405020304" pitchFamily="18" charset="0"/>
                <a:cs typeface="Times New Roman" panose="02020603050405020304" pitchFamily="18" charset="0"/>
              </a:rPr>
              <a:t>ực hiện </a:t>
            </a:r>
            <a:r>
              <a:rPr lang="en-US" sz="1800" dirty="0">
                <a:solidFill>
                  <a:srgbClr val="000000"/>
                </a:solidFill>
                <a:latin typeface="Times New Roman" panose="02020603050405020304" pitchFamily="18" charset="0"/>
                <a:cs typeface="Times New Roman" panose="02020603050405020304" pitchFamily="18" charset="0"/>
              </a:rPr>
              <a:t>01 </a:t>
            </a:r>
            <a:r>
              <a:rPr lang="en-US" sz="1800" dirty="0" err="1">
                <a:solidFill>
                  <a:srgbClr val="000000"/>
                </a:solidFill>
                <a:latin typeface="Times New Roman" panose="02020603050405020304" pitchFamily="18" charset="0"/>
                <a:cs typeface="Times New Roman" panose="02020603050405020304" pitchFamily="18" charset="0"/>
              </a:rPr>
              <a:t>báo</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cáo</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tiếng</a:t>
            </a:r>
            <a:r>
              <a:rPr lang="en-US" sz="1800" dirty="0">
                <a:solidFill>
                  <a:srgbClr val="000000"/>
                </a:solidFill>
                <a:latin typeface="Times New Roman" panose="02020603050405020304" pitchFamily="18" charset="0"/>
                <a:cs typeface="Times New Roman" panose="02020603050405020304" pitchFamily="18" charset="0"/>
              </a:rPr>
              <a:t> Anh) </a:t>
            </a:r>
            <a:r>
              <a:rPr lang="en-US" sz="1800" dirty="0" err="1">
                <a:solidFill>
                  <a:srgbClr val="000000"/>
                </a:solidFill>
                <a:latin typeface="Times New Roman" panose="02020603050405020304" pitchFamily="18" charset="0"/>
                <a:cs typeface="Times New Roman" panose="02020603050405020304" pitchFamily="18" charset="0"/>
              </a:rPr>
              <a:t>về</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kết</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quả</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này</a:t>
            </a:r>
            <a:r>
              <a:rPr lang="en-US" sz="1800" dirty="0">
                <a:solidFill>
                  <a:srgbClr val="000000"/>
                </a:solidFill>
                <a:latin typeface="Times New Roman" panose="02020603050405020304" pitchFamily="18" charset="0"/>
                <a:cs typeface="Times New Roman" panose="02020603050405020304" pitchFamily="18" charset="0"/>
              </a:rPr>
              <a:t>.</a:t>
            </a:r>
          </a:p>
          <a:p>
            <a:pPr marL="0" indent="0">
              <a:lnSpc>
                <a:spcPct val="100000"/>
              </a:lnSpc>
              <a:buFont typeface="Arial" panose="020B0604020202020204" pitchFamily="34" charset="0"/>
              <a:buNone/>
            </a:pPr>
            <a:r>
              <a:rPr lang="vi-VN" sz="1800" dirty="0">
                <a:solidFill>
                  <a:srgbClr val="000000"/>
                </a:solidFill>
                <a:latin typeface="Times New Roman" panose="02020603050405020304" pitchFamily="18" charset="0"/>
                <a:cs typeface="Times New Roman" panose="02020603050405020304" pitchFamily="18" charset="0"/>
              </a:rPr>
              <a:t>2</a:t>
            </a:r>
            <a:r>
              <a:rPr lang="vi-VN" sz="1800" b="1" dirty="0">
                <a:solidFill>
                  <a:srgbClr val="000000"/>
                </a:solidFill>
                <a:latin typeface="Times New Roman" panose="02020603050405020304" pitchFamily="18" charset="0"/>
                <a:cs typeface="Times New Roman" panose="02020603050405020304" pitchFamily="18" charset="0"/>
              </a:rPr>
              <a:t>. Tiếng Anh</a:t>
            </a:r>
          </a:p>
          <a:p>
            <a:pPr>
              <a:lnSpc>
                <a:spcPct val="100000"/>
              </a:lnSpc>
            </a:pPr>
            <a:r>
              <a:rPr lang="vi-VN" sz="1800" dirty="0">
                <a:solidFill>
                  <a:srgbClr val="000000"/>
                </a:solidFill>
                <a:latin typeface="Times New Roman" panose="02020603050405020304" pitchFamily="18" charset="0"/>
                <a:cs typeface="Times New Roman" panose="02020603050405020304" pitchFamily="18" charset="0"/>
              </a:rPr>
              <a:t>Đạt target 800+ TOEIC Reading/Listening, 300+ Writing/Speaking</a:t>
            </a:r>
          </a:p>
          <a:p>
            <a:pPr marL="0" indent="0">
              <a:lnSpc>
                <a:spcPct val="100000"/>
              </a:lnSpc>
              <a:buFont typeface="Arial" panose="020B0604020202020204" pitchFamily="34" charset="0"/>
              <a:buNone/>
            </a:pPr>
            <a:r>
              <a:rPr lang="vi-VN" sz="1800" b="1" dirty="0">
                <a:solidFill>
                  <a:srgbClr val="000000"/>
                </a:solidFill>
                <a:latin typeface="Times New Roman" panose="02020603050405020304" pitchFamily="18" charset="0"/>
                <a:cs typeface="Times New Roman" panose="02020603050405020304" pitchFamily="18" charset="0"/>
              </a:rPr>
              <a:t>3. Đánh giá &amp; cập nhật năng lực</a:t>
            </a:r>
          </a:p>
          <a:p>
            <a:pPr>
              <a:lnSpc>
                <a:spcPct val="100000"/>
              </a:lnSpc>
            </a:pPr>
            <a:r>
              <a:rPr lang="en-US" sz="1800" dirty="0" err="1">
                <a:solidFill>
                  <a:srgbClr val="000000"/>
                </a:solidFill>
                <a:latin typeface="Times New Roman" panose="02020603050405020304" pitchFamily="18" charset="0"/>
                <a:cs typeface="Times New Roman" panose="02020603050405020304" pitchFamily="18" charset="0"/>
              </a:rPr>
              <a:t>Gặp</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lãnh</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đạo</a:t>
            </a:r>
            <a:r>
              <a:rPr lang="en-US" sz="1800" dirty="0">
                <a:solidFill>
                  <a:srgbClr val="000000"/>
                </a:solidFill>
                <a:latin typeface="Times New Roman" panose="02020603050405020304" pitchFamily="18" charset="0"/>
                <a:cs typeface="Times New Roman" panose="02020603050405020304" pitchFamily="18" charset="0"/>
              </a:rPr>
              <a:t>/mentor </a:t>
            </a:r>
            <a:r>
              <a:rPr lang="en-US" sz="1800" dirty="0" err="1">
                <a:solidFill>
                  <a:srgbClr val="000000"/>
                </a:solidFill>
                <a:latin typeface="Times New Roman" panose="02020603050405020304" pitchFamily="18" charset="0"/>
                <a:cs typeface="Times New Roman" panose="02020603050405020304" pitchFamily="18" charset="0"/>
              </a:rPr>
              <a:t>để</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ghi</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nhận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kết</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quả</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và</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cập</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nhật</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mục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tiêu</a:t>
            </a:r>
            <a:r>
              <a:rPr lang="en-US" sz="1800" dirty="0">
                <a:solidFill>
                  <a:srgbClr val="000000"/>
                </a:solidFill>
                <a:latin typeface="Times New Roman" panose="02020603050405020304" pitchFamily="18" charset="0"/>
                <a:cs typeface="Times New Roman" panose="02020603050405020304" pitchFamily="18" charset="0"/>
              </a:rPr>
              <a:t>/</a:t>
            </a:r>
            <a:r>
              <a:rPr lang="en-US" sz="1800" dirty="0" err="1">
                <a:solidFill>
                  <a:srgbClr val="000000"/>
                </a:solidFill>
                <a:latin typeface="Times New Roman" panose="02020603050405020304" pitchFamily="18" charset="0"/>
                <a:cs typeface="Times New Roman" panose="02020603050405020304" pitchFamily="18" charset="0"/>
              </a:rPr>
              <a:t>năng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lực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cho</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những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năm</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tiếp</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theo</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tiếp</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tục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đào</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sâu</a:t>
            </a:r>
            <a:r>
              <a:rPr lang="en-US" sz="1800" dirty="0">
                <a:solidFill>
                  <a:srgbClr val="000000"/>
                </a:solidFill>
                <a:latin typeface="Times New Roman" panose="02020603050405020304" pitchFamily="18" charset="0"/>
                <a:cs typeface="Times New Roman" panose="02020603050405020304" pitchFamily="18" charset="0"/>
              </a:rPr>
              <a:t> AVO/QI, 3D stratigraphic–sedimentary modeling, </a:t>
            </a:r>
            <a:r>
              <a:rPr lang="en-US" sz="1800" dirty="0" err="1">
                <a:solidFill>
                  <a:srgbClr val="000000"/>
                </a:solidFill>
                <a:latin typeface="Times New Roman" panose="02020603050405020304" pitchFamily="18" charset="0"/>
                <a:cs typeface="Times New Roman" panose="02020603050405020304" pitchFamily="18" charset="0"/>
              </a:rPr>
              <a:t>dẫn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dắt</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kỹ</a:t>
            </a:r>
            <a:r>
              <a:rPr lang="en-US" sz="1800" dirty="0">
                <a:solidFill>
                  <a:srgbClr val="000000"/>
                </a:solidFill>
                <a:latin typeface="Times New Roman" panose="02020603050405020304" pitchFamily="18" charset="0"/>
                <a:cs typeface="Times New Roman" panose="02020603050405020304" pitchFamily="18" charset="0"/>
              </a:rPr>
              <a:t> s</a:t>
            </a:r>
            <a:r>
              <a:rPr lang="vi-VN" sz="1800" dirty="0">
                <a:solidFill>
                  <a:srgbClr val="000000"/>
                </a:solidFill>
                <a:latin typeface="Times New Roman" panose="02020603050405020304" pitchFamily="18" charset="0"/>
                <a:cs typeface="Times New Roman" panose="02020603050405020304" pitchFamily="18" charset="0"/>
              </a:rPr>
              <a:t>ư trẻ</a:t>
            </a:r>
            <a:r>
              <a:rPr lang="en-US" sz="1800" dirty="0">
                <a:solidFill>
                  <a:srgbClr val="000000"/>
                </a:solidFill>
                <a:latin typeface="Times New Roman" panose="02020603050405020304" pitchFamily="18" charset="0"/>
                <a:cs typeface="Times New Roman" panose="02020603050405020304" pitchFamily="18" charset="0"/>
              </a:rPr>
              <a:t>).</a:t>
            </a:r>
            <a:endParaRPr lang="en-VN" sz="1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17123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7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4&quot;&gt;&lt;elem m_fUsage=&quot;1.18754100000000017978E+00&quot;&gt;&lt;m_msothmcolidx val=&quot;0&quot;/&gt;&lt;m_rgb r=&quot;87&quot; g=&quot;F9&quot; b=&quot;27&quot;/&gt;&lt;/elem&gt;&lt;elem m_fUsage=&quot;1.00000000000000000000E+00&quot;&gt;&lt;m_msothmcolidx val=&quot;0&quot;/&gt;&lt;m_rgb r=&quot;4C&quot; g=&quot;F8&quot; b=&quot;BF&quot;/&gt;&lt;/elem&gt;&lt;elem m_fUsage=&quot;9.00000000000000022204E-01&quot;&gt;&lt;m_msothmcolidx val=&quot;0&quot;/&gt;&lt;m_rgb r=&quot;8F&quot; g=&quot;FA&quot; b=&quot;BA&quot;/&gt;&lt;/elem&gt;&lt;elem m_fUsage=&quot;8.79094635296999160623E-01&quot;&gt;&lt;m_msothmcolidx val=&quot;0&quot;/&gt;&lt;m_rgb r=&quot;54&quot; g=&quot;B1&quot; b=&quot;E5&quot;/&gt;&lt;/elem&gt;&lt;elem m_fUsage=&quot;8.10000000000000053291E-01&quot;&gt;&lt;m_msothmcolidx val=&quot;0&quot;/&gt;&lt;m_rgb r=&quot;15&quot; g=&quot;6E&quot; b=&quot;7E&quot;/&gt;&lt;/elem&gt;&lt;elem m_fUsage=&quot;5.90490000000000181402E-01&quot;&gt;&lt;m_msothmcolidx val=&quot;0&quot;/&gt;&lt;m_rgb r=&quot;19&quot; g=&quot;BC&quot; b=&quot;9F&quot;/&gt;&lt;/elem&gt;&lt;elem m_fUsage=&quot;4.78296900000000135833E-01&quot;&gt;&lt;m_msothmcolidx val=&quot;0&quot;/&gt;&lt;m_rgb r=&quot;8D&quot; g=&quot;EB&quot; b=&quot;48&quot;/&gt;&lt;/elem&gt;&lt;elem m_fUsage=&quot;4.30467210000000155556E-01&quot;&gt;&lt;m_msothmcolidx val=&quot;0&quot;/&gt;&lt;m_rgb r=&quot;8F&quot; g=&quot;DE&quot; b=&quot;5F&quot;/&gt;&lt;/elem&gt;&lt;elem m_fUsage=&quot;3.87420489000000145552E-01&quot;&gt;&lt;m_msothmcolidx val=&quot;0&quot;/&gt;&lt;m_rgb r=&quot;88&quot; g=&quot;D3&quot; b=&quot;71&quot;/&gt;&lt;/elem&gt;&lt;elem m_fUsage=&quot;3.48678440100000153201E-01&quot;&gt;&lt;m_msothmcolidx val=&quot;0&quot;/&gt;&lt;m_rgb r=&quot;63&quot; g=&quot;DC&quot; b=&quot;6F&quot;/&gt;&lt;/elem&gt;&lt;elem m_fUsage=&quot;3.13810596090000171188E-01&quot;&gt;&lt;m_msothmcolidx val=&quot;0&quot;/&gt;&lt;m_rgb r=&quot;53&quot; g=&quot;F2&quot; b=&quot;37&quot;/&gt;&lt;/elem&gt;&lt;elem m_fUsage=&quot;2.82429536481000165171E-01&quot;&gt;&lt;m_msothmcolidx val=&quot;0&quot;/&gt;&lt;m_rgb r=&quot;45&quot; g=&quot;EC&quot; b=&quot;6C&quot;/&gt;&lt;/elem&gt;&lt;elem m_fUsage=&quot;2.54186582832900132001E-01&quot;&gt;&lt;m_msothmcolidx val=&quot;0&quot;/&gt;&lt;m_rgb r=&quot;6E&quot; g=&quot;D5&quot; b=&quot;A5&quot;/&gt;&lt;/elem&gt;&lt;elem m_fUsage=&quot;2.28767924549610118801E-01&quot;&gt;&lt;m_msothmcolidx val=&quot;0&quot;/&gt;&lt;m_rgb r=&quot;94&quot; g=&quot;B8&quot; b=&quot;AC&quot;/&gt;&lt;/elem&gt;&lt;elem m_fUsage=&quot;2.05891132094649098594E-01&quot;&gt;&lt;m_msothmcolidx val=&quot;0&quot;/&gt;&lt;m_rgb r=&quot;7E&quot; g=&quot;C9&quot; b=&quot;94&quot;/&gt;&lt;/elem&gt;&lt;elem m_fUsage=&quot;1.85302018885184188735E-01&quot;&gt;&lt;m_msothmcolidx val=&quot;0&quot;/&gt;&lt;m_rgb r=&quot;64&quot; g=&quot;DB&quot; b=&quot;7A&quot;/&gt;&lt;/elem&gt;&lt;elem m_fUsage=&quot;1.66771816996665767086E-01&quot;&gt;&lt;m_msothmcolidx val=&quot;0&quot;/&gt;&lt;m_rgb r=&quot;53&quot; g=&quot;E5&quot; b=&quot;B9&quot;/&gt;&lt;/elem&gt;&lt;elem m_fUsage=&quot;1.35085171767299283552E-01&quot;&gt;&lt;m_msothmcolidx val=&quot;0&quot;/&gt;&lt;m_rgb r=&quot;75&quot; g=&quot;46&quot; b=&quot;EC&quot;/&gt;&lt;/elem&gt;&lt;elem m_fUsage=&quot;1.21576654590569363523E-01&quot;&gt;&lt;m_msothmcolidx val=&quot;0&quot;/&gt;&lt;m_rgb r=&quot;6F&quot; g=&quot;D4&quot; b=&quot;C7&quot;/&gt;&lt;/elem&gt;&lt;elem m_fUsage=&quot;1.09418989131512434110E-01&quot;&gt;&lt;m_msothmcolidx val=&quot;0&quot;/&gt;&lt;m_rgb r=&quot;67&quot; g=&quot;D9&quot; b=&quot;84&quot;/&gt;&lt;/elem&gt;&lt;elem m_fUsage=&quot;9.84770902183611934744E-02&quot;&gt;&lt;m_msothmcolidx val=&quot;0&quot;/&gt;&lt;m_rgb r=&quot;53&quot; g=&quot;E5&quot; b=&quot;AC&quot;/&gt;&lt;/elem&gt;&lt;elem m_fUsage=&quot;8.86293811965250810658E-02&quot;&gt;&lt;m_msothmcolidx val=&quot;0&quot;/&gt;&lt;m_rgb r=&quot;2C&quot; g=&quot;F7&quot; b=&quot;65&quot;/&gt;&lt;/elem&gt;&lt;elem m_fUsage=&quot;7.97664430768725701837E-02&quot;&gt;&lt;m_msothmcolidx val=&quot;0&quot;/&gt;&lt;m_rgb r=&quot;43&quot; g=&quot;ED&quot; b=&quot;8F&quot;/&gt;&lt;/elem&gt;&lt;elem m_fUsage=&quot;7.17897987691853145531E-02&quot;&gt;&lt;m_msothmcolidx val=&quot;0&quot;/&gt;&lt;m_rgb r=&quot;84&quot; g=&quot;C5&quot; b=&quot;95&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2013 - 2022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2493</TotalTime>
  <Words>2071</Words>
  <Application>Microsoft Office PowerPoint</Application>
  <PresentationFormat>Widescreen</PresentationFormat>
  <Paragraphs>171</Paragraphs>
  <Slides>9</Slides>
  <Notes>8</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9</vt:i4>
      </vt:variant>
    </vt:vector>
  </HeadingPairs>
  <TitlesOfParts>
    <vt:vector size="20" baseType="lpstr">
      <vt:lpstr>Anton</vt:lpstr>
      <vt:lpstr>Aptos</vt:lpstr>
      <vt:lpstr>Aptos Display</vt:lpstr>
      <vt:lpstr>Arial</vt:lpstr>
      <vt:lpstr>Calibri</vt:lpstr>
      <vt:lpstr>Calibri Light</vt:lpstr>
      <vt:lpstr>Times New Roman</vt:lpstr>
      <vt:lpstr>Wingdings</vt:lpstr>
      <vt:lpstr>3_Office Theme</vt:lpstr>
      <vt:lpstr>Office 2013 - 2022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Thi Thanh Thuy KHDT</dc:creator>
  <cp:lastModifiedBy>Vu Thi Dung TTKT</cp:lastModifiedBy>
  <cp:revision>57</cp:revision>
  <cp:lastPrinted>2025-10-08T06:20:27Z</cp:lastPrinted>
  <dcterms:created xsi:type="dcterms:W3CDTF">2025-10-06T02:34:57Z</dcterms:created>
  <dcterms:modified xsi:type="dcterms:W3CDTF">2025-12-04T04:39:07Z</dcterms:modified>
</cp:coreProperties>
</file>