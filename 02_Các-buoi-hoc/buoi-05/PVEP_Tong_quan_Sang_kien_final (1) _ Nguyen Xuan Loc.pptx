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7" r:id="rId4"/>
    <p:sldId id="260" r:id="rId5"/>
    <p:sldId id="261" r:id="rId6"/>
    <p:sldId id="259" r:id="rId7"/>
    <p:sldId id="262" r:id="rId8"/>
    <p:sldId id="264" r:id="rId9"/>
    <p:sldId id="263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4627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EB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194560" y="4206240"/>
            <a:ext cx="4572000" cy="4572000"/>
          </a:xfrm>
          <a:prstGeom prst="ellipse">
            <a:avLst/>
          </a:prstGeom>
          <a:solidFill>
            <a:srgbClr val="EAF8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icons/pve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48640"/>
            <a:ext cx="1342543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33172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2D3A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TỔNG QUAN HOẠT ĐỘNG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2D3A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SÁNG KIẾN TẠI PVEP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22960" y="39776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Khái niệm sáng kiến - ý tưởng, phân loại và hoạt động sáng kiến,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sáng chế tại Tổng công ty Thăm dò Khai thác Dầu khí (PVEP)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4892040"/>
            <a:ext cx="1005840" cy="45720"/>
          </a:xfrm>
          <a:prstGeom prst="rect">
            <a:avLst/>
          </a:prstGeom>
          <a:solidFill>
            <a:srgbClr val="2CB0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22960" y="50474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 Công nghệ - Chuyển đổi số (CN-CĐS) | PVEP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cons/idea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" y="29260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3A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Ý TƯỞNG LÀ GÌ?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84124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kiện, quyền lợi và nghĩa vụ của tác giả ý tưởng</a:t>
            </a:r>
            <a:endParaRPr lang="en-US" sz="1500" dirty="0"/>
          </a:p>
        </p:txBody>
      </p:sp>
      <p:pic>
        <p:nvPicPr>
          <p:cNvPr id="5" name="Image 1" descr="/home/claude/icons/pve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49214" y="274320"/>
            <a:ext cx="492266" cy="5029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1417320"/>
            <a:ext cx="5669280" cy="4937760"/>
          </a:xfrm>
          <a:prstGeom prst="roundRect">
            <a:avLst>
              <a:gd name="adj" fmla="val 1481"/>
            </a:avLst>
          </a:prstGeom>
          <a:solidFill>
            <a:srgbClr val="EBEEF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685800" y="1600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17 — ĐIỀU KIỆN CỦA Ý TƯỞNG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85800" y="20116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đề xuất được xem xét là ý tưởng khi đáp ứng các điều kiện cơ bản sau: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85800" y="2441448"/>
            <a:ext cx="292608" cy="292608"/>
          </a:xfrm>
          <a:prstGeom prst="ellipse">
            <a:avLst/>
          </a:prstGeom>
          <a:solidFill>
            <a:srgbClr val="2CB0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685800" y="2441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097280" y="2404872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2D3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tính mới, sáng tạo</a:t>
            </a:r>
            <a:endParaRPr lang="en-US" sz="15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 chưa được áp dụng hoặc thể hiện cách tiếp cận mới trong Tập đoàn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85800" y="3227832"/>
            <a:ext cx="292608" cy="292608"/>
          </a:xfrm>
          <a:prstGeom prst="ellipse">
            <a:avLst/>
          </a:prstGeom>
          <a:solidFill>
            <a:srgbClr val="2CB0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685800" y="32278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097280" y="3191256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2D3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khả năng ứng dụng</a:t>
            </a:r>
            <a:endParaRPr lang="en-US" sz="15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 khả thi để triển khai trong thực tế hoạt động của Tập đoàn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685800" y="4014216"/>
            <a:ext cx="292608" cy="292608"/>
          </a:xfrm>
          <a:prstGeom prst="ellipse">
            <a:avLst/>
          </a:prstGeom>
          <a:solidFill>
            <a:srgbClr val="2CB0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85800" y="4014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1097280" y="397764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2D3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tiềm năng mang lại lợi ích</a:t>
            </a:r>
            <a:endParaRPr lang="en-US" sz="15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Hứa hẹn hiệu quả kinh tế, kỹ thuật, quản lý, an toàn hoặc lợi ích khác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685800" y="4800600"/>
            <a:ext cx="292608" cy="292608"/>
          </a:xfrm>
          <a:prstGeom prst="ellipse">
            <a:avLst/>
          </a:prstGeom>
          <a:solidFill>
            <a:srgbClr val="2CB0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685800" y="4800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1097280" y="4764024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2D3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Phù hợp định hướng phát triển</a:t>
            </a:r>
            <a:endParaRPr lang="en-US" sz="15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Phù hợp chiến lược, kế hoạch phát triển của Tập đoàn và các đơn vị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685800" y="5586984"/>
            <a:ext cx="292608" cy="292608"/>
          </a:xfrm>
          <a:prstGeom prst="ellipse">
            <a:avLst/>
          </a:prstGeom>
          <a:solidFill>
            <a:srgbClr val="2CB0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685800" y="5586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1097280" y="5550408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2D3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 khuyến khích đề xuất</a:t>
            </a:r>
            <a:endParaRPr lang="en-US" sz="15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 mối KHCN đánh giá sơ bộ để phát triển thành nhiệm vụ KHCN/ĐMST hoặc chuyển giao đơn vị áp dụng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6355080" y="1417320"/>
            <a:ext cx="5349240" cy="4937760"/>
          </a:xfrm>
          <a:prstGeom prst="roundRect">
            <a:avLst>
              <a:gd name="adj" fmla="val 1481"/>
            </a:avLst>
          </a:prstGeom>
          <a:solidFill>
            <a:srgbClr val="2D3A89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6583680" y="160020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18 — QUYỀN LỢI VÀ NGHĨA VỤ CỦA TÁC GIẢ Ý TƯỞNG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6583680" y="219456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Quyền lợi của tác giả ý tưởng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6583680" y="2514600"/>
            <a:ext cx="4892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9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 ghi nhận, khen thưởng khi ý tưởng được đánh giá có tiềm năng</a:t>
            </a:r>
            <a:endParaRPr lang="en-US" sz="1500" dirty="0"/>
          </a:p>
          <a:p>
            <a:pPr marL="342900" indent="-342900">
              <a:lnSpc>
                <a:spcPct val="9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tiên tham gia phát triển ý tưởng thành nhiệm vụ KHCN, ĐMST hoặc sáng kiến</a:t>
            </a:r>
            <a:endParaRPr lang="en-US" sz="1500" dirty="0"/>
          </a:p>
          <a:p>
            <a:pPr marL="342900" indent="-342900">
              <a:lnSpc>
                <a:spcPct val="9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nhận là tác giả/đồng tác giả, hưởng quyền lợi nếu ý tưởng phát triển thành SK, GP bảo hộ SHTT hoặc thương mại hóa</a:t>
            </a:r>
            <a:endParaRPr lang="en-US" sz="1500" dirty="0"/>
          </a:p>
          <a:p>
            <a:pPr marL="342900" indent="-342900">
              <a:lnSpc>
                <a:spcPct val="9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tiên xét nâng lương, đào tạo, phúc lợi, khen thưởng, danh hiệu vinh dự</a:t>
            </a:r>
            <a:endParaRPr lang="en-US" sz="1500" dirty="0"/>
          </a:p>
          <a:p>
            <a:pPr marL="342900" indent="-342900">
              <a:lnSpc>
                <a:spcPct val="9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Thưởng ý tưởng tiềm năng theo mức do TGĐ quyết định</a:t>
            </a:r>
            <a:endParaRPr lang="en-US" sz="1500" dirty="0"/>
          </a:p>
        </p:txBody>
      </p:sp>
      <p:sp>
        <p:nvSpPr>
          <p:cNvPr id="28" name="Text 24"/>
          <p:cNvSpPr/>
          <p:nvPr/>
        </p:nvSpPr>
        <p:spPr>
          <a:xfrm>
            <a:off x="6583680" y="493776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Nghĩa vụ của tác giả ý tưởng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6583680" y="5276088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9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 bày, làm rõ, cung cấp thông tin cần thiết về ý tưởng khi được yêu cầu</a:t>
            </a:r>
            <a:endParaRPr lang="en-US" sz="1500" dirty="0"/>
          </a:p>
          <a:p>
            <a:pPr marL="342900" indent="-342900">
              <a:lnSpc>
                <a:spcPct val="9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Hợp tác trong quá trình đánh giá và phát triển ý tưởng</a:t>
            </a:r>
            <a:endParaRPr lang="en-US" sz="1500" dirty="0"/>
          </a:p>
          <a:p>
            <a:pPr marL="342900" indent="-342900">
              <a:lnSpc>
                <a:spcPct val="9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Tuân thủ quy định về bảo mật thông tin của Tập đoàn và pháp luật</a:t>
            </a:r>
            <a:endParaRPr lang="en-US" sz="1500" dirty="0"/>
          </a:p>
        </p:txBody>
      </p:sp>
      <p:sp>
        <p:nvSpPr>
          <p:cNvPr id="30" name="Text 26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cons/lightbulb_navy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" y="29260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3A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SÁNG KIẾN LÀ GÌ?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84124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nghĩa, các loại giải pháp và phân cấp công nhận sáng kiến</a:t>
            </a:r>
            <a:endParaRPr lang="en-US" sz="1500" dirty="0"/>
          </a:p>
        </p:txBody>
      </p:sp>
      <p:pic>
        <p:nvPicPr>
          <p:cNvPr id="5" name="Image 1" descr="/home/claude/icons/pve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49214" y="274320"/>
            <a:ext cx="492266" cy="5029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1371600"/>
            <a:ext cx="11247120" cy="1051560"/>
          </a:xfrm>
          <a:prstGeom prst="roundRect">
            <a:avLst>
              <a:gd name="adj" fmla="val 6087"/>
            </a:avLst>
          </a:prstGeom>
          <a:solidFill>
            <a:srgbClr val="EB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685800" y="1444752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Sáng kiến là </a:t>
            </a:r>
            <a:r>
              <a:rPr lang="en-US" sz="1500" b="1" dirty="0">
                <a:solidFill>
                  <a:srgbClr val="2D3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 kỹ thuật, quản lý, tác nghiệp hoặc ứng dụng tiến bộ kỹ thuật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được cơ sở công nhận khi có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mới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đã/áp dụng thử 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 mang lại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lợi ích thiết thực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không thuộc đối tượng không được công nhận (trái pháp luật, đạo đức xã hội; đang được bảo hộ SHTT).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457200" y="2606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LOẠI GIẢI PHÁP SÁNG KIẾN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457200" y="2953512"/>
            <a:ext cx="2606040" cy="1234440"/>
          </a:xfrm>
          <a:prstGeom prst="roundRect">
            <a:avLst>
              <a:gd name="adj" fmla="val 4444"/>
            </a:avLst>
          </a:prstGeom>
          <a:solidFill>
            <a:srgbClr val="F7F9FC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457200" y="2953512"/>
            <a:ext cx="2606040" cy="457200"/>
          </a:xfrm>
          <a:prstGeom prst="rect">
            <a:avLst/>
          </a:prstGeom>
          <a:solidFill>
            <a:srgbClr val="2D3A8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457200" y="295351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 kỹ thuật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94360" y="3465576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Cải tiến cơ cấu, quy trình công nghệ, thiết kế, lắp đặt, thi công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337560" y="2953512"/>
            <a:ext cx="2606040" cy="1234440"/>
          </a:xfrm>
          <a:prstGeom prst="roundRect">
            <a:avLst>
              <a:gd name="adj" fmla="val 4444"/>
            </a:avLst>
          </a:prstGeom>
          <a:solidFill>
            <a:srgbClr val="F7F9FC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3337560" y="2953512"/>
            <a:ext cx="2606040" cy="457200"/>
          </a:xfrm>
          <a:prstGeom prst="rect">
            <a:avLst/>
          </a:prstGeom>
          <a:solidFill>
            <a:srgbClr val="2D3A8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3337560" y="295351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 quản lý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474720" y="3465576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 chức sản xuất, nhân lực, điều hành, kiểm tra, giám sát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6217920" y="2953512"/>
            <a:ext cx="2606040" cy="1234440"/>
          </a:xfrm>
          <a:prstGeom prst="roundRect">
            <a:avLst>
              <a:gd name="adj" fmla="val 4444"/>
            </a:avLst>
          </a:prstGeom>
          <a:solidFill>
            <a:srgbClr val="F7F9FC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217920" y="2953512"/>
            <a:ext cx="2606040" cy="457200"/>
          </a:xfrm>
          <a:prstGeom prst="rect">
            <a:avLst/>
          </a:prstGeom>
          <a:solidFill>
            <a:srgbClr val="2D3A8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6217920" y="295351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 tác nghiệp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355080" y="3465576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Thao tác nghiệp vụ KD, dịch vụ, hành chính, sự nghiệp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9098280" y="2953512"/>
            <a:ext cx="2606040" cy="1234440"/>
          </a:xfrm>
          <a:prstGeom prst="roundRect">
            <a:avLst>
              <a:gd name="adj" fmla="val 4444"/>
            </a:avLst>
          </a:prstGeom>
          <a:solidFill>
            <a:srgbClr val="F7F9FC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9098280" y="2953512"/>
            <a:ext cx="2606040" cy="457200"/>
          </a:xfrm>
          <a:prstGeom prst="rect">
            <a:avLst/>
          </a:prstGeom>
          <a:solidFill>
            <a:srgbClr val="2D3A8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9098280" y="295351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 ứng dụng TBKT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9235440" y="3465576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Áp dụng giải pháp kỹ thuật đã biết vào thực tế TCT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457200" y="466020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CẤP CÔNG NHẬN SÁNG KIẾN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457200" y="5125212"/>
            <a:ext cx="3566160" cy="960120"/>
          </a:xfrm>
          <a:prstGeom prst="roundRect">
            <a:avLst>
              <a:gd name="adj" fmla="val 5714"/>
            </a:avLst>
          </a:prstGeom>
          <a:solidFill>
            <a:srgbClr val="EBEE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2" descr="/home/claude/icons/landmark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5289804"/>
            <a:ext cx="384048" cy="38404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143000" y="5180076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2D3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Sáng kiến cấp Tập đoàn</a:t>
            </a:r>
            <a:endParaRPr lang="en-US" sz="1500" dirty="0"/>
          </a:p>
          <a:p>
            <a:pPr>
              <a:lnSpc>
                <a:spcPct val="90000"/>
              </a:lnSpc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HĐSK  </a:t>
            </a:r>
            <a:r>
              <a:rPr lang="en-US" sz="15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Petrovietnam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xem xét, TGĐ </a:t>
            </a:r>
            <a:r>
              <a:rPr lang="en-US" sz="15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Petrovietnam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công nhận</a:t>
            </a:r>
            <a:endParaRPr lang="en-US" sz="1500" dirty="0"/>
          </a:p>
        </p:txBody>
      </p:sp>
      <p:sp>
        <p:nvSpPr>
          <p:cNvPr id="29" name="Shape 24"/>
          <p:cNvSpPr/>
          <p:nvPr/>
        </p:nvSpPr>
        <p:spPr>
          <a:xfrm>
            <a:off x="4297680" y="5125212"/>
            <a:ext cx="3566160" cy="960120"/>
          </a:xfrm>
          <a:prstGeom prst="roundRect">
            <a:avLst>
              <a:gd name="adj" fmla="val 5714"/>
            </a:avLst>
          </a:prstGeom>
          <a:solidFill>
            <a:srgbClr val="EBEE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3" descr="/home/claude/icons/building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2272" y="5289804"/>
            <a:ext cx="384048" cy="38404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983480" y="5180076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2D3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Sáng kiến cấp PVEP</a:t>
            </a:r>
            <a:endParaRPr lang="en-US" sz="15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HĐSK PVEP xem xét, TGĐ PVEP công nhận</a:t>
            </a:r>
            <a:endParaRPr lang="en-US" sz="1500" dirty="0"/>
          </a:p>
        </p:txBody>
      </p:sp>
      <p:sp>
        <p:nvSpPr>
          <p:cNvPr id="32" name="Shape 26"/>
          <p:cNvSpPr/>
          <p:nvPr/>
        </p:nvSpPr>
        <p:spPr>
          <a:xfrm>
            <a:off x="8138160" y="5125212"/>
            <a:ext cx="3566160" cy="960120"/>
          </a:xfrm>
          <a:prstGeom prst="roundRect">
            <a:avLst>
              <a:gd name="adj" fmla="val 5714"/>
            </a:avLst>
          </a:prstGeom>
          <a:solidFill>
            <a:srgbClr val="EBEE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4" descr="/home/claude/icons/industry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2752" y="5289804"/>
            <a:ext cx="384048" cy="38404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8823960" y="5180076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2D3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Sáng kiến cấp cơ sở</a:t>
            </a:r>
            <a:endParaRPr lang="en-US" sz="15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Đơn vị/Dự án xem xét, công nhận/ xác nhận</a:t>
            </a:r>
            <a:endParaRPr lang="en-US" sz="1500" dirty="0"/>
          </a:p>
        </p:txBody>
      </p:sp>
      <p:sp>
        <p:nvSpPr>
          <p:cNvPr id="44" name="Text 34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cons/users_navy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" y="29260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3A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HỘI ĐỒNG SÁNG KIẾN PVEP (HĐSK)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84124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Tổng giám đốc quyết định thành lập — thành phần và nhiệm vụ chính</a:t>
            </a:r>
            <a:endParaRPr lang="en-US" sz="1500" dirty="0"/>
          </a:p>
        </p:txBody>
      </p:sp>
      <p:pic>
        <p:nvPicPr>
          <p:cNvPr id="5" name="Image 1" descr="/home/claude/icons/pve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49214" y="274320"/>
            <a:ext cx="492266" cy="5029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1417320"/>
            <a:ext cx="6035040" cy="4937760"/>
          </a:xfrm>
          <a:prstGeom prst="roundRect">
            <a:avLst>
              <a:gd name="adj" fmla="val 1481"/>
            </a:avLst>
          </a:prstGeom>
          <a:solidFill>
            <a:srgbClr val="EBEEF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685800" y="1581912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3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 PHẦN HỘI ĐỒNG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85800" y="201168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 phần cố định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868680" y="2350008"/>
            <a:ext cx="5212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Chủ tịch: 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Phó TGĐ</a:t>
            </a:r>
            <a:endParaRPr lang="en-US" sz="1500" dirty="0"/>
          </a:p>
          <a:p>
            <a:pPr marL="0" indent="0">
              <a:lnSpc>
                <a:spcPct val="9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Phó Chủ tịch: 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Thành viên HĐTV</a:t>
            </a:r>
            <a:endParaRPr lang="en-US" sz="1500" dirty="0"/>
          </a:p>
          <a:p>
            <a:pPr marL="0" indent="0">
              <a:lnSpc>
                <a:spcPct val="9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Ủy viên thường trực: 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Lãnh đạo Ban chủ trì</a:t>
            </a:r>
            <a:endParaRPr lang="en-US" sz="1500" dirty="0"/>
          </a:p>
          <a:p>
            <a:pPr marL="0" indent="0">
              <a:lnSpc>
                <a:spcPct val="9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 ký: 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Chuyên viên - Ban chủ trì</a:t>
            </a:r>
            <a:endParaRPr lang="en-US" sz="1500" dirty="0"/>
          </a:p>
          <a:p>
            <a:pPr marL="0" indent="0">
              <a:lnSpc>
                <a:spcPct val="9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Ủy viên: 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Phó TGĐ, Kế toán trưởng, Chủ tịch CĐ PVEP, Lãnh đạo Ban QTNNL và UV khác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85800" y="416052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 phần không cố định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68680" y="4526280"/>
            <a:ext cx="5212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Ủy viên Phản biện: 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 người/giải pháp, độc lập, ≥ 5 năm kinh nghiệm; lập phiếu phản biện, tham gia họp, chấm điểm.</a:t>
            </a:r>
            <a:endParaRPr lang="en-US" sz="1500" dirty="0"/>
          </a:p>
          <a:p>
            <a:pPr marL="0" indent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Ủy viên mời: 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Lãnh đạo PVEP/Ban/Đơn vị/Dự án/Chuyên gia liên quan; tham gia họp, chấm điểm toàn bộ giải pháp.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85800" y="585216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Xét duyệt qua họp, thống nhất dựa trên tổng hợp kết quả đánh giá bằng phiếu của các thành viên.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720840" y="1417320"/>
            <a:ext cx="4983480" cy="4937760"/>
          </a:xfrm>
          <a:prstGeom prst="roundRect">
            <a:avLst>
              <a:gd name="adj" fmla="val 1481"/>
            </a:avLst>
          </a:prstGeom>
          <a:solidFill>
            <a:srgbClr val="2D3A89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6949440" y="158191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NHIỆM VỤ CỦA HĐSK PVEP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949440" y="2011680"/>
            <a:ext cx="45262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9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 vấn định hướng phát triển hoạt động sáng kiến, sáng chế của PVEP</a:t>
            </a:r>
            <a:endParaRPr lang="en-US" sz="1500" dirty="0"/>
          </a:p>
          <a:p>
            <a:pPr marL="342900" indent="-342900">
              <a:lnSpc>
                <a:spcPct val="9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 khách quan Đơn yêu cầu công nhận SK/GPHI theo thang điểm, trình TGĐ kết quả</a:t>
            </a:r>
            <a:endParaRPr lang="en-US" sz="1500" dirty="0"/>
          </a:p>
          <a:p>
            <a:pPr marL="342900" indent="-342900">
              <a:lnSpc>
                <a:spcPct val="9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Thẩm định, đánh giá lợi ích thu được khi áp dụng sáng kiến/GPHI</a:t>
            </a:r>
            <a:endParaRPr lang="en-US" sz="1500" dirty="0"/>
          </a:p>
          <a:p>
            <a:pPr marL="342900" indent="-342900">
              <a:lnSpc>
                <a:spcPct val="9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xuất TGĐ ra quyết định công nhận SK/GPHI cấp PVEP</a:t>
            </a:r>
            <a:endParaRPr lang="en-US" sz="1500" dirty="0"/>
          </a:p>
          <a:p>
            <a:pPr marL="342900" indent="-342900">
              <a:lnSpc>
                <a:spcPct val="9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quyết khiếu nại liên quan đến xét công nhận SK/GPHI</a:t>
            </a:r>
            <a:endParaRPr lang="en-US" sz="1500" dirty="0"/>
          </a:p>
          <a:p>
            <a:pPr marL="342900" indent="-342900">
              <a:lnSpc>
                <a:spcPct val="9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định quyền lợi, mức khen thưởng cho tác giả/đồng tác giả</a:t>
            </a:r>
            <a:endParaRPr lang="en-US" sz="1500" dirty="0"/>
          </a:p>
          <a:p>
            <a:pPr marL="342900" indent="-342900">
              <a:lnSpc>
                <a:spcPct val="9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nghị TGĐ trong việc đăng ký sáng kiến cấp PVN</a:t>
            </a:r>
            <a:endParaRPr lang="en-US" sz="1500" dirty="0"/>
          </a:p>
          <a:p>
            <a:pPr marL="342900" indent="-342900">
              <a:lnSpc>
                <a:spcPct val="9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 vấn sửa đổi, bổ sung quy chế quản lý hoạt động sáng kiến, sáng chế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cons/money_navy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" y="29260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D3A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THANG ĐIỂM ĐÁNH GIÁ, THÙ LAO, KHEN THƯỞNG</a:t>
            </a:r>
            <a:endParaRPr lang="en-US" sz="1900" dirty="0"/>
          </a:p>
        </p:txBody>
      </p:sp>
      <p:sp>
        <p:nvSpPr>
          <p:cNvPr id="4" name="Text 1"/>
          <p:cNvSpPr/>
          <p:nvPr/>
        </p:nvSpPr>
        <p:spPr>
          <a:xfrm>
            <a:off x="457200" y="84124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Tiêu chí đánh giá (tối đa 100 điểm), mức chi trả thù lao và mức thưởng theo loại</a:t>
            </a:r>
            <a:endParaRPr lang="en-US" sz="1500" dirty="0"/>
          </a:p>
        </p:txBody>
      </p:sp>
      <p:pic>
        <p:nvPicPr>
          <p:cNvPr id="5" name="Image 1" descr="/home/claude/icons/pve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49214" y="274320"/>
            <a:ext cx="492266" cy="5029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1417320"/>
            <a:ext cx="5120640" cy="4937760"/>
          </a:xfrm>
          <a:prstGeom prst="roundRect">
            <a:avLst>
              <a:gd name="adj" fmla="val 1481"/>
            </a:avLst>
          </a:prstGeom>
          <a:solidFill>
            <a:srgbClr val="EBEEF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685800" y="15819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TIÊU CHÍ ĐÁNH GIÁ (TỐI ĐA 100 ĐIỂM)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85800" y="20116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Tính mới — tối đa 30 điểm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685800" y="233172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Hoàn toàn mới, áp dụng đầu tiên trong Ngành (30); </a:t>
            </a:r>
          </a:p>
          <a:p>
            <a:pPr marL="0" indent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mới trong PVEP (20); </a:t>
            </a:r>
          </a:p>
          <a:p>
            <a:pPr marL="0" indent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mới trong Ban/Đơn vị/Dự án (10); </a:t>
            </a:r>
          </a:p>
          <a:p>
            <a:pPr marL="0" indent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không mới (0).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85800" y="342900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Khả năng áp dụng — tối đa 30 điểm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85800" y="374904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Thành công, nhân rộng toàn Ngành (30);</a:t>
            </a:r>
          </a:p>
          <a:p>
            <a:pPr marL="0" indent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Thành công, nhân rộng trong PVEP (20); </a:t>
            </a:r>
          </a:p>
          <a:p>
            <a:pPr marL="0" indent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Thành công, khó nhân rộng (10); </a:t>
            </a:r>
          </a:p>
          <a:p>
            <a:pPr marL="0" indent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không được áp dụng (0).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85800" y="48463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Lợi ích thiết thực — tối đa 40 điểm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85800" y="516636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Hiệu quả KT theo mức làm lợi (&gt;5 tỷ: 30; 1-5 tỷ: 20; &lt;1 tỷ: 10; không: 0) + hiệu quả XH (có: 10; không: 0).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40080" y="6031045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chú: với mỗi tiêu chuẩn, chỉ chấm một trong các tiêu chí.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806440" y="1417320"/>
            <a:ext cx="5897880" cy="2331720"/>
          </a:xfrm>
          <a:prstGeom prst="roundRect">
            <a:avLst>
              <a:gd name="adj" fmla="val 3137"/>
            </a:avLst>
          </a:prstGeom>
          <a:solidFill>
            <a:srgbClr val="EAF8EE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035040" y="155448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MỨC CHI TRẢ THÙ LAO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035040" y="192024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theo thỏa thuận với Chủ đầu tư hoặc theo quy định PVEP:</a:t>
            </a:r>
            <a:endParaRPr lang="en-US" sz="1500" dirty="0"/>
          </a:p>
          <a:p>
            <a:pPr marL="0" indent="0">
              <a:lnSpc>
                <a:spcPct val="9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định được tiền làm lợi: 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5%/năm, tối đa 500 triệu đồng (3 năm)</a:t>
            </a:r>
            <a:endParaRPr lang="en-US" sz="1500" dirty="0"/>
          </a:p>
          <a:p>
            <a:pPr marL="0" indent="0">
              <a:lnSpc>
                <a:spcPct val="9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xác định được: 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lần lương tối thiểu vùng (áp dụng đối với PVEP), tối đa 300 triệu đồng (3 tháng)</a:t>
            </a:r>
            <a:endParaRPr lang="en-US" sz="1500" dirty="0"/>
          </a:p>
          <a:p>
            <a:pPr marL="0" indent="0">
              <a:lnSpc>
                <a:spcPct val="9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 giả/đồng tác giả: 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 đa 80% mức thù lao</a:t>
            </a:r>
            <a:endParaRPr lang="en-US" sz="1500" dirty="0"/>
          </a:p>
          <a:p>
            <a:pPr marL="0" indent="0">
              <a:lnSpc>
                <a:spcPct val="9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áp dụng lần đầu: 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 đa 20% mức thù lao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5806440" y="3931920"/>
            <a:ext cx="5897880" cy="2606040"/>
          </a:xfrm>
          <a:prstGeom prst="roundRect">
            <a:avLst>
              <a:gd name="adj" fmla="val 2807"/>
            </a:avLst>
          </a:prstGeom>
          <a:solidFill>
            <a:srgbClr val="EBEEF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6035040" y="402336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MỨC THƯỞNG SÁNG KIẾN / GPHI CẤP PVEP</a:t>
            </a:r>
            <a:endParaRPr lang="en-US" sz="15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4315968"/>
          <a:ext cx="2606041" cy="1706880"/>
        </p:xfrm>
        <a:graphic>
          <a:graphicData uri="http://schemas.openxmlformats.org/drawingml/2006/table">
            <a:tbl>
              <a:tblPr/>
              <a:tblGrid>
                <a:gridCol w="8339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60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23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Điểm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Loại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Thưởng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50-59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triệu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60-69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triệu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70-79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 triệu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80-89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triệu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90-99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triệu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Đặc biệt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triệu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" name="Text 16"/>
          <p:cNvSpPr/>
          <p:nvPr/>
        </p:nvSpPr>
        <p:spPr>
          <a:xfrm>
            <a:off x="6035040" y="608533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Sáng kiến cấp PVEP (6 mức)</a:t>
            </a:r>
            <a:endParaRPr lang="en-US" sz="1150" dirty="0"/>
          </a:p>
        </p:txBody>
      </p:sp>
      <p:graphicFrame>
        <p:nvGraphicFramePr>
          <p:cNvPr id="2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869680" y="4315968"/>
          <a:ext cx="2606041" cy="975360"/>
        </p:xfrm>
        <a:graphic>
          <a:graphicData uri="http://schemas.openxmlformats.org/drawingml/2006/table">
            <a:tbl>
              <a:tblPr/>
              <a:tblGrid>
                <a:gridCol w="886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39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60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23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Điểm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B0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Loại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B0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Thưởng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B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30-39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triệu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40-49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triệu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trở lên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triệu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Text 17"/>
          <p:cNvSpPr/>
          <p:nvPr/>
        </p:nvSpPr>
        <p:spPr>
          <a:xfrm>
            <a:off x="8869680" y="535838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 hữu ích (3 mức)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8869680" y="5650992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hộ SHTT: 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thưởng bổ sung 50.000.000 đồng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cons/balanc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" y="29260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D3A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LOẠI: SÁNG KIẾN &amp; GIẢI PHÁP HỮU ÍCH CẤP PVEP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457200" y="84124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kiện công nhận Sáng kiến/GPHI cấp PVEP</a:t>
            </a:r>
            <a:endParaRPr lang="en-US" sz="1500" dirty="0"/>
          </a:p>
        </p:txBody>
      </p:sp>
      <p:pic>
        <p:nvPicPr>
          <p:cNvPr id="5" name="Image 1" descr="/home/claude/icons/pve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49214" y="274320"/>
            <a:ext cx="492266" cy="5029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141732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EBEEF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457200" y="1417320"/>
            <a:ext cx="5486400" cy="502920"/>
          </a:xfrm>
          <a:prstGeom prst="rect">
            <a:avLst/>
          </a:prstGeom>
          <a:solidFill>
            <a:srgbClr val="2D3A8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457200" y="14173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SÁNG KIẾN CẤP PVEP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685800" y="210312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Đáp ứng đầy đủ các quy định chung (tính mới, khả năng áp dụng, lợi ích thiết thực)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 ≥ 2/3 số phiếu đồng ý công nhận của Thành viên HĐSK, Ủy viên Phản biện, Ủy viên mời (nếu có) tham dự họp xét duyệt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 HĐSK đề xuất Tổng giám đốc ra quyết định công nhận sáng kiến cấp PVEP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 trả thù lao theo quy định (nếu có)</a:t>
            </a: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cs typeface="Calibri" pitchFamily="34" charset="-120"/>
              </a:rPr>
              <a:t>Được thưởng theo các mức thưởng Sáng kiến cấp PVEP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phần mềm máy tính đã biết hoặc phần mềm mới không thuộc đối tượng công nhận sáng kiến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217920" y="141732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EAF8EE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6217920" y="1417320"/>
            <a:ext cx="5486400" cy="502920"/>
          </a:xfrm>
          <a:prstGeom prst="rect">
            <a:avLst/>
          </a:prstGeom>
          <a:solidFill>
            <a:srgbClr val="2CB0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6217920" y="14173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 HỮU ÍCH (GPHI) CẤP PVEP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46520" y="210312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 lại lợi ích thiết thực cho PVEP</a:t>
            </a:r>
            <a:endParaRPr lang="en-US" sz="15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 ≥ 2/3 số phiếu đồng ý công nhận Giải pháp hữu ích của Thành viên HĐSK, Ủy viên Phản biện, Ủy viên mời (nếu có) tham dự họp xét duyệt</a:t>
            </a:r>
            <a:endParaRPr lang="en-US" sz="15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 HĐSK đề xuất Tổng giám đốc công nhận Giải pháp hữu ích cấp PVEP</a:t>
            </a:r>
            <a:endParaRPr lang="en-US" sz="15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được trả thù lao theo quy định</a:t>
            </a:r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cs typeface="Calibri" pitchFamily="34" charset="-120"/>
              </a:rPr>
              <a:t>Được thưởng theo các mức thưởng GPHI cấp PVEP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cons/fileSign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" y="29260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3A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SÁNG KIẾN / Ý TƯỞNG CẤP CƠ SỞ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84124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Văn bản xác nhận Sáng kiến/Ý tưởng và quy trình xác nhận tại đơn vị</a:t>
            </a:r>
            <a:endParaRPr lang="en-US" sz="1500" dirty="0"/>
          </a:p>
        </p:txBody>
      </p:sp>
      <p:pic>
        <p:nvPicPr>
          <p:cNvPr id="5" name="Image 1" descr="/home/claude/icons/pve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49214" y="274320"/>
            <a:ext cx="492266" cy="5029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1417320"/>
            <a:ext cx="6766560" cy="4937760"/>
          </a:xfrm>
          <a:prstGeom prst="roundRect">
            <a:avLst>
              <a:gd name="adj" fmla="val 1481"/>
            </a:avLst>
          </a:prstGeom>
          <a:solidFill>
            <a:srgbClr val="EBEEF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685800" y="1581912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VĂN BẢN XÁC NHẬN SK/Ý TƯỞNG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85800" y="2075688"/>
            <a:ext cx="219456" cy="219456"/>
          </a:xfrm>
          <a:prstGeom prst="ellipse">
            <a:avLst/>
          </a:prstGeom>
          <a:solidFill>
            <a:srgbClr val="2CB0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1024128" y="2011680"/>
            <a:ext cx="5989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2D3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Tên SK/Ý tưởng &amp; lĩnh vực</a:t>
            </a:r>
            <a:endParaRPr lang="en-US" sz="15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Tên đề xuất, lĩnh vực áp dụng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85800" y="2770632"/>
            <a:ext cx="219456" cy="219456"/>
          </a:xfrm>
          <a:prstGeom prst="ellipse">
            <a:avLst/>
          </a:prstGeom>
          <a:solidFill>
            <a:srgbClr val="2CB0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1024128" y="2706624"/>
            <a:ext cx="5989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2D3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trạng, vấn đề</a:t>
            </a:r>
            <a:endParaRPr lang="en-US" sz="15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Tồn tại, thách thức, biện pháp đã thực hiện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85800" y="3465576"/>
            <a:ext cx="219456" cy="219456"/>
          </a:xfrm>
          <a:prstGeom prst="ellipse">
            <a:avLst/>
          </a:prstGeom>
          <a:solidFill>
            <a:srgbClr val="2CB0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1024128" y="3401568"/>
            <a:ext cx="5989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2D3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Tóm tắt nội dung (≤ 2.000 ký tự)</a:t>
            </a:r>
            <a:endParaRPr lang="en-US" sz="15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SK: cách triển khai, tính mới. YT: phương án triển khai, tính mới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85800" y="4160520"/>
            <a:ext cx="219456" cy="219456"/>
          </a:xfrm>
          <a:prstGeom prst="ellipse">
            <a:avLst/>
          </a:prstGeom>
          <a:solidFill>
            <a:srgbClr val="2CB0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1024128" y="4096512"/>
            <a:ext cx="5989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2D3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Áp dụng tại</a:t>
            </a:r>
            <a:endParaRPr lang="en-US" sz="15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SK: đã áp dụng ở đâu. YT: đề xuất áp dụng ở đâu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85800" y="4855464"/>
            <a:ext cx="219456" cy="219456"/>
          </a:xfrm>
          <a:prstGeom prst="ellipse">
            <a:avLst/>
          </a:prstGeom>
          <a:solidFill>
            <a:srgbClr val="2CB0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1024128" y="4791456"/>
            <a:ext cx="5989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2D3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Hiệu quả</a:t>
            </a:r>
            <a:endParaRPr lang="en-US" sz="15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Kinh tế, kỹ thuật, xã hội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685800" y="5550408"/>
            <a:ext cx="219456" cy="219456"/>
          </a:xfrm>
          <a:prstGeom prst="ellipse">
            <a:avLst/>
          </a:prstGeom>
          <a:solidFill>
            <a:srgbClr val="2CB0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1024128" y="5486400"/>
            <a:ext cx="5989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2D3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sách tác giả/đồng tác giả</a:t>
            </a:r>
            <a:endParaRPr lang="en-US" sz="15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 tên, đơn vị, tỷ lệ đóng góp (%), ký tên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7452360" y="1417320"/>
            <a:ext cx="4251960" cy="4937760"/>
          </a:xfrm>
          <a:prstGeom prst="roundRect">
            <a:avLst>
              <a:gd name="adj" fmla="val 1720"/>
            </a:avLst>
          </a:prstGeom>
          <a:solidFill>
            <a:srgbClr val="2D3A89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7680960" y="158191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XÁC NHẬN TẠI ĐƠN VỊ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7680960" y="2075688"/>
            <a:ext cx="329184" cy="329184"/>
          </a:xfrm>
          <a:prstGeom prst="ellipse">
            <a:avLst/>
          </a:prstGeom>
          <a:solidFill>
            <a:srgbClr val="2CB0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7680960" y="2075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8138160" y="201168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2C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 giả / Đại diện tác giả</a:t>
            </a:r>
            <a:endParaRPr lang="en-US" sz="15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 Văn bản xác nhận SK/Ý tưởng, gửi Trưởng bộ phận áp dụng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7836408" y="2423160"/>
            <a:ext cx="18288" cy="457200"/>
          </a:xfrm>
          <a:prstGeom prst="rect">
            <a:avLst/>
          </a:prstGeom>
          <a:solidFill>
            <a:srgbClr val="2CB0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7680960" y="2944368"/>
            <a:ext cx="329184" cy="329184"/>
          </a:xfrm>
          <a:prstGeom prst="ellipse">
            <a:avLst/>
          </a:prstGeom>
          <a:solidFill>
            <a:srgbClr val="2CB0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7680960" y="2944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8" name="Text 24"/>
          <p:cNvSpPr/>
          <p:nvPr/>
        </p:nvSpPr>
        <p:spPr>
          <a:xfrm>
            <a:off x="8138160" y="288036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2C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Trưởng bộ phận áp dụng (1)</a:t>
            </a:r>
            <a:endParaRPr lang="en-US" sz="15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SK: xác nhận đã áp dụng. YT: xác nhận tính khả thi</a:t>
            </a:r>
            <a:endParaRPr lang="en-US" sz="1500" dirty="0"/>
          </a:p>
        </p:txBody>
      </p:sp>
      <p:sp>
        <p:nvSpPr>
          <p:cNvPr id="29" name="Shape 25"/>
          <p:cNvSpPr/>
          <p:nvPr/>
        </p:nvSpPr>
        <p:spPr>
          <a:xfrm>
            <a:off x="7836408" y="3291840"/>
            <a:ext cx="18288" cy="457200"/>
          </a:xfrm>
          <a:prstGeom prst="rect">
            <a:avLst/>
          </a:prstGeom>
          <a:solidFill>
            <a:srgbClr val="2CB0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7680960" y="3813048"/>
            <a:ext cx="329184" cy="329184"/>
          </a:xfrm>
          <a:prstGeom prst="ellipse">
            <a:avLst/>
          </a:prstGeom>
          <a:solidFill>
            <a:srgbClr val="2CB0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7680960" y="3813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2" name="Text 28"/>
          <p:cNvSpPr/>
          <p:nvPr/>
        </p:nvSpPr>
        <p:spPr>
          <a:xfrm>
            <a:off x="8138160" y="374904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2C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đoàn cơ sở</a:t>
            </a:r>
            <a:endParaRPr lang="en-US" sz="15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nhận (ký tên, đóng dấu)</a:t>
            </a:r>
            <a:endParaRPr lang="en-US" sz="1500" dirty="0"/>
          </a:p>
        </p:txBody>
      </p:sp>
      <p:sp>
        <p:nvSpPr>
          <p:cNvPr id="33" name="Shape 29"/>
          <p:cNvSpPr/>
          <p:nvPr/>
        </p:nvSpPr>
        <p:spPr>
          <a:xfrm>
            <a:off x="7836408" y="4160520"/>
            <a:ext cx="18288" cy="457200"/>
          </a:xfrm>
          <a:prstGeom prst="rect">
            <a:avLst/>
          </a:prstGeom>
          <a:solidFill>
            <a:srgbClr val="2CB0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0"/>
          <p:cNvSpPr/>
          <p:nvPr/>
        </p:nvSpPr>
        <p:spPr>
          <a:xfrm>
            <a:off x="7680960" y="4681728"/>
            <a:ext cx="329184" cy="329184"/>
          </a:xfrm>
          <a:prstGeom prst="ellipse">
            <a:avLst/>
          </a:prstGeom>
          <a:solidFill>
            <a:srgbClr val="2CB0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/>
          <p:nvPr/>
        </p:nvSpPr>
        <p:spPr>
          <a:xfrm>
            <a:off x="7680960" y="4681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6" name="Text 32"/>
          <p:cNvSpPr/>
          <p:nvPr/>
        </p:nvSpPr>
        <p:spPr>
          <a:xfrm>
            <a:off x="8138160" y="461772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2C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Thủ trưởng đơn vị (2)</a:t>
            </a:r>
            <a:endParaRPr lang="en-US" sz="15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SK: ký xác nhận. YT: ký phê duyệt triển khai</a:t>
            </a:r>
            <a:endParaRPr lang="en-US" sz="1500" dirty="0"/>
          </a:p>
        </p:txBody>
      </p:sp>
      <p:sp>
        <p:nvSpPr>
          <p:cNvPr id="37" name="Shape 33"/>
          <p:cNvSpPr/>
          <p:nvPr/>
        </p:nvSpPr>
        <p:spPr>
          <a:xfrm>
            <a:off x="7836408" y="5029200"/>
            <a:ext cx="18288" cy="457200"/>
          </a:xfrm>
          <a:prstGeom prst="rect">
            <a:avLst/>
          </a:prstGeom>
          <a:solidFill>
            <a:srgbClr val="2CB0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4"/>
          <p:cNvSpPr/>
          <p:nvPr/>
        </p:nvSpPr>
        <p:spPr>
          <a:xfrm>
            <a:off x="7680960" y="5550408"/>
            <a:ext cx="329184" cy="329184"/>
          </a:xfrm>
          <a:prstGeom prst="ellipse">
            <a:avLst/>
          </a:prstGeom>
          <a:solidFill>
            <a:srgbClr val="2CB0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7680960" y="5550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40" name="Text 36"/>
          <p:cNvSpPr/>
          <p:nvPr/>
        </p:nvSpPr>
        <p:spPr>
          <a:xfrm>
            <a:off x="8138160" y="548640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2C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Gửi Ban CN-CĐS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Nơi nhận: Ban CN-CĐS; LĐB/ĐV/DA (e-copy); Lưu VT</a:t>
            </a:r>
            <a:endParaRPr lang="en-US" sz="1500" dirty="0"/>
          </a:p>
        </p:txBody>
      </p:sp>
      <p:sp>
        <p:nvSpPr>
          <p:cNvPr id="41" name="Text 37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cons/medal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" y="29260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3A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SÁNG KIẾN CẤP TẬP ĐOÀN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84124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kiện, Quyền lợi &amp; nghĩa vụ của tác giả sáng kiến cấp Tập đoàn</a:t>
            </a:r>
            <a:endParaRPr lang="en-US" sz="1500" dirty="0"/>
          </a:p>
        </p:txBody>
      </p:sp>
      <p:pic>
        <p:nvPicPr>
          <p:cNvPr id="5" name="Image 1" descr="/home/claude/icons/pve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49214" y="274320"/>
            <a:ext cx="492266" cy="5029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1362456"/>
            <a:ext cx="6400800" cy="4937760"/>
          </a:xfrm>
          <a:prstGeom prst="roundRect">
            <a:avLst>
              <a:gd name="adj" fmla="val 1481"/>
            </a:avLst>
          </a:prstGeom>
          <a:solidFill>
            <a:srgbClr val="EBEEF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685800" y="158191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19 — ĐIỀU KIỆN CÔNG NHẬN SK CẤP TẬP ĐOÀN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85800" y="199339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giải pháp được công nhận là sáng kiến cấp Tập đoàn khi đáp ứng đầy đủ các điều kiện sau: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85800" y="2441448"/>
            <a:ext cx="292608" cy="292608"/>
          </a:xfrm>
          <a:prstGeom prst="ellipse">
            <a:avLst/>
          </a:prstGeom>
          <a:solidFill>
            <a:srgbClr val="2D3A8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685800" y="2441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097280" y="2344459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tính mới so với trình độ công nghệ, kỹ thuật, quản lý của Tập đoàn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85800" y="3063240"/>
            <a:ext cx="292608" cy="292608"/>
          </a:xfrm>
          <a:prstGeom prst="ellipse">
            <a:avLst/>
          </a:prstGeom>
          <a:solidFill>
            <a:srgbClr val="2D3A8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685800" y="3063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115568" y="290779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được áp dụng hoặc áp dụng thử tại Petrovietnam hoặc các đơn vị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685800" y="3685032"/>
            <a:ext cx="292608" cy="292608"/>
          </a:xfrm>
          <a:prstGeom prst="ellipse">
            <a:avLst/>
          </a:prstGeom>
          <a:solidFill>
            <a:srgbClr val="2D3A8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85800" y="3685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115568" y="3503129"/>
            <a:ext cx="5486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 lại lợi ích kinh tế từ 05 (năm) tỷ đồng trở lên trong năm đầu áp dụng, và/hoặc: cải thiện điều kiện làm việc, nâng cao an toàn lao động, bảo vệ môi trường; tác động tích cực đến cộng đồng; nâng cao uy tín, thương hiệu Tập đoàn; có tiềm năng áp dụng rộng toàn Tập đoàn và không gây ảnh hưởng xấu đến môi trường và xã hội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685800" y="5074920"/>
            <a:ext cx="292608" cy="292608"/>
          </a:xfrm>
          <a:prstGeom prst="ellipse">
            <a:avLst/>
          </a:prstGeom>
          <a:solidFill>
            <a:srgbClr val="2D3A8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685800" y="5074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1115568" y="4984457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phải là đối tượng đang được bảo hộ quyền SHTT tính đến thời điểm xét công nhận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685800" y="58521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D3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hiệu yêu cầu công nhận: 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năm kể từ ngày áp dụng lần đầu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7086600" y="1417320"/>
            <a:ext cx="4754880" cy="4937760"/>
          </a:xfrm>
          <a:prstGeom prst="roundRect">
            <a:avLst>
              <a:gd name="adj" fmla="val 1584"/>
            </a:avLst>
          </a:prstGeom>
          <a:solidFill>
            <a:srgbClr val="2D3A89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7315200" y="158191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20 — QUYỀN LỢI VÀ NGHĨA VỤ CỦA TÁC GIẢ</a:t>
            </a:r>
            <a:endParaRPr lang="en-US" sz="1500" dirty="0"/>
          </a:p>
        </p:txBody>
      </p:sp>
      <p:pic>
        <p:nvPicPr>
          <p:cNvPr id="24" name="Image 2" descr="/home/claude/icons/money_navy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2221992"/>
            <a:ext cx="292608" cy="29260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726679" y="2167128"/>
            <a:ext cx="397763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2C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Thù lao cho tác giả</a:t>
            </a:r>
            <a:endParaRPr lang="en-US" sz="15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vị áp dụng có nghĩa vụ trả thù lao cho tác giả/đồng tác giả; mức và quy trình chi trả cụ thể do Tổng Giám đốc quyết định</a:t>
            </a:r>
            <a:endParaRPr lang="en-US" sz="1400" dirty="0"/>
          </a:p>
        </p:txBody>
      </p:sp>
      <p:pic>
        <p:nvPicPr>
          <p:cNvPr id="26" name="Image 3" descr="/home/claude/icons/trophy_navy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3182112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726680" y="3127248"/>
            <a:ext cx="39776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2C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Thưởng SK cấp Tập đoàn</a:t>
            </a:r>
            <a:endParaRPr lang="en-US" sz="15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Ngoài thù lao, tác giả được TĐ xét thưởng theo mức do TGĐ quyết định; SK xuất sắc được đề cử xét tặng Giải thưởng KHCN&amp;ĐMST của Tập đoàn</a:t>
            </a:r>
            <a:endParaRPr lang="en-US" sz="1400" dirty="0"/>
          </a:p>
        </p:txBody>
      </p:sp>
      <p:pic>
        <p:nvPicPr>
          <p:cNvPr id="28" name="Image 4" descr="/home/claude/icons/users_navy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0" y="4142232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726679" y="4087368"/>
            <a:ext cx="39776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2C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Thù lao người áp dụng lần đầu</a:t>
            </a:r>
            <a:endParaRPr lang="en-US" sz="15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tham gia tổ chức áp dụng SK lần đầu được hưởng thù lao theo mức do Tổng Giám đốc quyết định</a:t>
            </a:r>
            <a:endParaRPr lang="en-US" sz="1400" dirty="0"/>
          </a:p>
        </p:txBody>
      </p:sp>
      <p:pic>
        <p:nvPicPr>
          <p:cNvPr id="30" name="Image 5" descr="/home/claude/icons/check_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0" y="5102352"/>
            <a:ext cx="292608" cy="29260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726680" y="5047488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2C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Quyền &amp; nghĩa vụ tác giả</a:t>
            </a:r>
            <a:endParaRPr lang="en-US" sz="15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 ghi tên trong QĐ công nhận, nhận Giấy chứng nhận và thù lao/tiền thưởng. Nghĩa vụ: cung cấp thông tin, tham gia triển khai và bảo mật theo quy định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7315200" y="606247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9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phí thưởng cho hoạt động sáng kiến, cải tiến được tính vào chi phí theo quy định của pháp luật.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EB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194560" y="4206240"/>
            <a:ext cx="4572000" cy="4572000"/>
          </a:xfrm>
          <a:prstGeom prst="ellipse">
            <a:avLst/>
          </a:prstGeom>
          <a:solidFill>
            <a:srgbClr val="EAF8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icons/pve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79118"/>
            <a:ext cx="1342543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773936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D3A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CÙNG GÓP SÁNG KIẾN,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D3A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HIẾN Ý TƯỞNG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31520" y="3300984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sáng kiến, mỗi ý tưởng đều góp phần nâng cao hiệu quả quản lý, tăng năng suất lao động, tiết kiệm chi phí và xây dựng văn hóa đổi mới sáng tạo tại PVEP.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4800600"/>
            <a:ext cx="3566160" cy="1508760"/>
          </a:xfrm>
          <a:prstGeom prst="roundRect">
            <a:avLst>
              <a:gd name="adj" fmla="val 4848"/>
            </a:avLst>
          </a:prstGeom>
          <a:solidFill>
            <a:srgbClr val="EBEE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icons/seedling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5001768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49651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xuất ý tưởng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051560" y="545896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CBCNV đều có thể đề xuất ý tưởng, sáng kiến trong công việc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663440" y="4800600"/>
            <a:ext cx="3566160" cy="1508760"/>
          </a:xfrm>
          <a:prstGeom prst="roundRect">
            <a:avLst>
              <a:gd name="adj" fmla="val 4848"/>
            </a:avLst>
          </a:prstGeom>
          <a:solidFill>
            <a:srgbClr val="EBEE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/home/claude/icons/handshake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5001768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94960" y="49651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 hành cùng Người lao động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4892040" y="545896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5000"/>
              </a:lnSpc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Trưởng bộ phận, Công đoàn, Thủ trưởng đơn vị tạo điều </a:t>
            </a:r>
            <a:r>
              <a:rPr lang="en-US" sz="15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kiện,hỗ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trợ triển khai &amp; xác nhận sáng kiến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8503920" y="4800600"/>
            <a:ext cx="3566160" cy="1508760"/>
          </a:xfrm>
          <a:prstGeom prst="roundRect">
            <a:avLst>
              <a:gd name="adj" fmla="val 4848"/>
            </a:avLst>
          </a:prstGeom>
          <a:solidFill>
            <a:srgbClr val="EBEE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/home/claude/icons/clipboard_navy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2520" y="5001768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235440" y="49651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nhận &amp; khen thưởng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8732520" y="545896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HĐSK PVEP đánh giá, công nhận và đề xuất khen thưởng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822959" y="6446520"/>
            <a:ext cx="3703773" cy="45719"/>
          </a:xfrm>
          <a:prstGeom prst="rect">
            <a:avLst/>
          </a:prstGeom>
          <a:solidFill>
            <a:srgbClr val="2CB0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8229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 Công nghệ - Chuyển đổi số (CN-CĐS) | PVEP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2304</Words>
  <Application>Microsoft Office PowerPoint</Application>
  <PresentationFormat>Widescreen</PresentationFormat>
  <Paragraphs>232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Tổng quan hoạt động sáng kiến tại PVEP</dc:title>
  <dc:subject>PptxGenJS Presentation</dc:subject>
  <dc:creator>PVEP - Ban CN-CĐS</dc:creator>
  <cp:lastModifiedBy>Duong Thu Huong</cp:lastModifiedBy>
  <cp:revision>4</cp:revision>
  <dcterms:created xsi:type="dcterms:W3CDTF">2026-06-15T13:25:18Z</dcterms:created>
  <dcterms:modified xsi:type="dcterms:W3CDTF">2026-06-17T07:10:20Z</dcterms:modified>
</cp:coreProperties>
</file>